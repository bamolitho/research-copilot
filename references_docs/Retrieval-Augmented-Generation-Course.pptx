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notesMasterIdLst>
    <p:notesMasterId r:id="rId9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notesMaster" Target="notesMasters/notesMaster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731520" y="640080"/>
            <a:ext cx="9144000" cy="365760"/>
          </a:xfrm>
          <a:prstGeom prst="rect">
            <a:avLst/>
          </a:prstGeom>
          <a:noFill/>
          <a:ln/>
        </p:spPr>
        <p:txBody>
          <a:bodyPr wrap="square" rtlCol="0" anchor="ctr"/>
          <a:lstStyle/>
          <a:p>
            <a:pPr indent="0" marL="0">
              <a:buNone/>
            </a:pPr>
            <a:r>
              <a:rPr lang="en-US" sz="1300" spc="300" kern="0" dirty="0">
                <a:solidFill>
                  <a:srgbClr val="7FBF9E"/>
                </a:solidFill>
                <a:latin typeface="Courier New" pitchFamily="34" charset="0"/>
                <a:ea typeface="Courier New" pitchFamily="34" charset="-122"/>
                <a:cs typeface="Courier New" pitchFamily="34" charset="-120"/>
              </a:rPr>
              <a:t>AI ENGINEERING — GRADUATE COURSE</a:t>
            </a:r>
            <a:endParaRPr lang="en-US" sz="1300" dirty="0"/>
          </a:p>
        </p:txBody>
      </p:sp>
      <p:sp>
        <p:nvSpPr>
          <p:cNvPr id="3" name="Text 1"/>
          <p:cNvSpPr/>
          <p:nvPr/>
        </p:nvSpPr>
        <p:spPr>
          <a:xfrm>
            <a:off x="731520" y="1143000"/>
            <a:ext cx="10241280" cy="2103120"/>
          </a:xfrm>
          <a:prstGeom prst="rect">
            <a:avLst/>
          </a:prstGeom>
          <a:noFill/>
          <a:ln/>
        </p:spPr>
        <p:txBody>
          <a:bodyPr wrap="square" rtlCol="0" anchor="ctr"/>
          <a:lstStyle/>
          <a:p>
            <a:pPr indent="0" marL="0">
              <a:buNone/>
            </a:pPr>
            <a:r>
              <a:rPr lang="en-US" sz="4600" b="1" dirty="0">
                <a:solidFill>
                  <a:srgbClr val="F5F2E7"/>
                </a:solidFill>
                <a:latin typeface="Cambria" pitchFamily="34" charset="0"/>
                <a:ea typeface="Cambria" pitchFamily="34" charset="-122"/>
                <a:cs typeface="Cambria" pitchFamily="34" charset="-120"/>
              </a:rPr>
              <a:t>Retrieval-Augmented</a:t>
            </a:r>
            <a:endParaRPr lang="en-US" sz="4600" dirty="0"/>
          </a:p>
          <a:p>
            <a:pPr indent="0" marL="0">
              <a:buNone/>
            </a:pPr>
            <a:r>
              <a:rPr lang="en-US" sz="4600" b="1" dirty="0">
                <a:solidFill>
                  <a:srgbClr val="F5F2E7"/>
                </a:solidFill>
                <a:latin typeface="Cambria" pitchFamily="34" charset="0"/>
                <a:ea typeface="Cambria" pitchFamily="34" charset="-122"/>
                <a:cs typeface="Cambria" pitchFamily="34" charset="-120"/>
              </a:rPr>
              <a:t>Generation</a:t>
            </a:r>
            <a:endParaRPr lang="en-US" sz="4600" dirty="0"/>
          </a:p>
        </p:txBody>
      </p:sp>
      <p:sp>
        <p:nvSpPr>
          <p:cNvPr id="4" name="Text 2"/>
          <p:cNvSpPr/>
          <p:nvPr/>
        </p:nvSpPr>
        <p:spPr>
          <a:xfrm>
            <a:off x="731520" y="3246120"/>
            <a:ext cx="8686800" cy="914400"/>
          </a:xfrm>
          <a:prstGeom prst="rect">
            <a:avLst/>
          </a:prstGeom>
          <a:noFill/>
          <a:ln/>
        </p:spPr>
        <p:txBody>
          <a:bodyPr wrap="square" rtlCol="0" anchor="ctr"/>
          <a:lstStyle/>
          <a:p>
            <a:pPr indent="0" marL="0">
              <a:buNone/>
            </a:pPr>
            <a:r>
              <a:rPr lang="en-US" sz="1800" dirty="0">
                <a:solidFill>
                  <a:srgbClr val="AEB8AC"/>
                </a:solidFill>
                <a:latin typeface="Calibri" pitchFamily="34" charset="0"/>
                <a:ea typeface="Calibri" pitchFamily="34" charset="-122"/>
                <a:cs typeface="Calibri" pitchFamily="34" charset="-120"/>
              </a:rPr>
              <a:t>From parametric limits to production-grade retrieval systems: architecture, mathematics, and engineering practice.</a:t>
            </a:r>
            <a:endParaRPr lang="en-US" sz="1800" dirty="0"/>
          </a:p>
        </p:txBody>
      </p:sp>
      <p:sp>
        <p:nvSpPr>
          <p:cNvPr id="5" name="Shape 3"/>
          <p:cNvSpPr/>
          <p:nvPr/>
        </p:nvSpPr>
        <p:spPr>
          <a:xfrm>
            <a:off x="731520" y="5532120"/>
            <a:ext cx="1897380" cy="457200"/>
          </a:xfrm>
          <a:prstGeom prst="roundRect">
            <a:avLst>
              <a:gd name="adj" fmla="val 16000"/>
            </a:avLst>
          </a:prstGeom>
          <a:solidFill>
            <a:srgbClr val="1F2E24"/>
          </a:solidFill>
          <a:ln w="9525">
            <a:solidFill>
              <a:srgbClr val="3C5A47"/>
            </a:solidFill>
            <a:prstDash val="solid"/>
          </a:ln>
        </p:spPr>
      </p:sp>
      <p:sp>
        <p:nvSpPr>
          <p:cNvPr id="6" name="Text 4"/>
          <p:cNvSpPr/>
          <p:nvPr/>
        </p:nvSpPr>
        <p:spPr>
          <a:xfrm>
            <a:off x="731520" y="5532120"/>
            <a:ext cx="1897380" cy="457200"/>
          </a:xfrm>
          <a:prstGeom prst="rect">
            <a:avLst/>
          </a:prstGeom>
          <a:noFill/>
          <a:ln/>
        </p:spPr>
        <p:txBody>
          <a:bodyPr wrap="square" rtlCol="0" anchor="ctr"/>
          <a:lstStyle/>
          <a:p>
            <a:pPr algn="ctr" indent="0" marL="0">
              <a:buNone/>
            </a:pPr>
            <a:r>
              <a:rPr lang="en-US" sz="1200" dirty="0">
                <a:solidFill>
                  <a:srgbClr val="7FBF9E"/>
                </a:solidFill>
                <a:latin typeface="Courier New" pitchFamily="34" charset="0"/>
                <a:ea typeface="Courier New" pitchFamily="34" charset="-122"/>
                <a:cs typeface="Courier New" pitchFamily="34" charset="-120"/>
              </a:rPr>
              <a:t>Dense retrieval</a:t>
            </a:r>
            <a:endParaRPr lang="en-US" sz="1200" dirty="0"/>
          </a:p>
        </p:txBody>
      </p:sp>
      <p:sp>
        <p:nvSpPr>
          <p:cNvPr id="7" name="Shape 5"/>
          <p:cNvSpPr/>
          <p:nvPr/>
        </p:nvSpPr>
        <p:spPr>
          <a:xfrm>
            <a:off x="2793492" y="5532120"/>
            <a:ext cx="845820" cy="457200"/>
          </a:xfrm>
          <a:prstGeom prst="roundRect">
            <a:avLst>
              <a:gd name="adj" fmla="val 16000"/>
            </a:avLst>
          </a:prstGeom>
          <a:solidFill>
            <a:srgbClr val="1F2E24"/>
          </a:solidFill>
          <a:ln w="9525">
            <a:solidFill>
              <a:srgbClr val="3C5A47"/>
            </a:solidFill>
            <a:prstDash val="solid"/>
          </a:ln>
        </p:spPr>
      </p:sp>
      <p:sp>
        <p:nvSpPr>
          <p:cNvPr id="8" name="Text 6"/>
          <p:cNvSpPr/>
          <p:nvPr/>
        </p:nvSpPr>
        <p:spPr>
          <a:xfrm>
            <a:off x="2793492" y="5532120"/>
            <a:ext cx="845820" cy="457200"/>
          </a:xfrm>
          <a:prstGeom prst="rect">
            <a:avLst/>
          </a:prstGeom>
          <a:noFill/>
          <a:ln/>
        </p:spPr>
        <p:txBody>
          <a:bodyPr wrap="square" rtlCol="0" anchor="ctr"/>
          <a:lstStyle/>
          <a:p>
            <a:pPr algn="ctr" indent="0" marL="0">
              <a:buNone/>
            </a:pPr>
            <a:r>
              <a:rPr lang="en-US" sz="1200" dirty="0">
                <a:solidFill>
                  <a:srgbClr val="7FBF9E"/>
                </a:solidFill>
                <a:latin typeface="Courier New" pitchFamily="34" charset="0"/>
                <a:ea typeface="Courier New" pitchFamily="34" charset="-122"/>
                <a:cs typeface="Courier New" pitchFamily="34" charset="-120"/>
              </a:rPr>
              <a:t>FAISS</a:t>
            </a:r>
            <a:endParaRPr lang="en-US" sz="1200" dirty="0"/>
          </a:p>
        </p:txBody>
      </p:sp>
      <p:sp>
        <p:nvSpPr>
          <p:cNvPr id="9" name="Shape 7"/>
          <p:cNvSpPr/>
          <p:nvPr/>
        </p:nvSpPr>
        <p:spPr>
          <a:xfrm>
            <a:off x="3803904" y="5532120"/>
            <a:ext cx="950976" cy="457200"/>
          </a:xfrm>
          <a:prstGeom prst="roundRect">
            <a:avLst>
              <a:gd name="adj" fmla="val 16000"/>
            </a:avLst>
          </a:prstGeom>
          <a:solidFill>
            <a:srgbClr val="1F2E24"/>
          </a:solidFill>
          <a:ln w="9525">
            <a:solidFill>
              <a:srgbClr val="3C5A47"/>
            </a:solidFill>
            <a:prstDash val="solid"/>
          </a:ln>
        </p:spPr>
      </p:sp>
      <p:sp>
        <p:nvSpPr>
          <p:cNvPr id="10" name="Text 8"/>
          <p:cNvSpPr/>
          <p:nvPr/>
        </p:nvSpPr>
        <p:spPr>
          <a:xfrm>
            <a:off x="3803904" y="5532120"/>
            <a:ext cx="950976" cy="457200"/>
          </a:xfrm>
          <a:prstGeom prst="rect">
            <a:avLst/>
          </a:prstGeom>
          <a:noFill/>
          <a:ln/>
        </p:spPr>
        <p:txBody>
          <a:bodyPr wrap="square" rtlCol="0" anchor="ctr"/>
          <a:lstStyle/>
          <a:p>
            <a:pPr algn="ctr" indent="0" marL="0">
              <a:buNone/>
            </a:pPr>
            <a:r>
              <a:rPr lang="en-US" sz="1200" dirty="0">
                <a:solidFill>
                  <a:srgbClr val="7FBF9E"/>
                </a:solidFill>
                <a:latin typeface="Courier New" pitchFamily="34" charset="0"/>
                <a:ea typeface="Courier New" pitchFamily="34" charset="-122"/>
                <a:cs typeface="Courier New" pitchFamily="34" charset="-120"/>
              </a:rPr>
              <a:t>BGE-M3</a:t>
            </a:r>
            <a:endParaRPr lang="en-US" sz="1200" dirty="0"/>
          </a:p>
        </p:txBody>
      </p:sp>
      <p:sp>
        <p:nvSpPr>
          <p:cNvPr id="11" name="Shape 9"/>
          <p:cNvSpPr/>
          <p:nvPr/>
        </p:nvSpPr>
        <p:spPr>
          <a:xfrm>
            <a:off x="4919472" y="5532120"/>
            <a:ext cx="1687068" cy="457200"/>
          </a:xfrm>
          <a:prstGeom prst="roundRect">
            <a:avLst>
              <a:gd name="adj" fmla="val 16000"/>
            </a:avLst>
          </a:prstGeom>
          <a:solidFill>
            <a:srgbClr val="1F2E24"/>
          </a:solidFill>
          <a:ln w="9525">
            <a:solidFill>
              <a:srgbClr val="3C5A47"/>
            </a:solidFill>
            <a:prstDash val="solid"/>
          </a:ln>
        </p:spPr>
      </p:sp>
      <p:sp>
        <p:nvSpPr>
          <p:cNvPr id="12" name="Text 10"/>
          <p:cNvSpPr/>
          <p:nvPr/>
        </p:nvSpPr>
        <p:spPr>
          <a:xfrm>
            <a:off x="4919472" y="5532120"/>
            <a:ext cx="1687068" cy="457200"/>
          </a:xfrm>
          <a:prstGeom prst="rect">
            <a:avLst/>
          </a:prstGeom>
          <a:noFill/>
          <a:ln/>
        </p:spPr>
        <p:txBody>
          <a:bodyPr wrap="square" rtlCol="0" anchor="ctr"/>
          <a:lstStyle/>
          <a:p>
            <a:pPr algn="ctr" indent="0" marL="0">
              <a:buNone/>
            </a:pPr>
            <a:r>
              <a:rPr lang="en-US" sz="1200" dirty="0">
                <a:solidFill>
                  <a:srgbClr val="7FBF9E"/>
                </a:solidFill>
                <a:latin typeface="Courier New" pitchFamily="34" charset="0"/>
                <a:ea typeface="Courier New" pitchFamily="34" charset="-122"/>
                <a:cs typeface="Courier New" pitchFamily="34" charset="-120"/>
              </a:rPr>
              <a:t>Hybrid search</a:t>
            </a:r>
            <a:endParaRPr lang="en-US" sz="1200" dirty="0"/>
          </a:p>
        </p:txBody>
      </p:sp>
      <p:sp>
        <p:nvSpPr>
          <p:cNvPr id="13" name="Shape 11"/>
          <p:cNvSpPr/>
          <p:nvPr/>
        </p:nvSpPr>
        <p:spPr>
          <a:xfrm>
            <a:off x="6771132" y="5532120"/>
            <a:ext cx="1371600" cy="457200"/>
          </a:xfrm>
          <a:prstGeom prst="roundRect">
            <a:avLst>
              <a:gd name="adj" fmla="val 16000"/>
            </a:avLst>
          </a:prstGeom>
          <a:solidFill>
            <a:srgbClr val="1F2E24"/>
          </a:solidFill>
          <a:ln w="9525">
            <a:solidFill>
              <a:srgbClr val="3C5A47"/>
            </a:solidFill>
            <a:prstDash val="solid"/>
          </a:ln>
        </p:spPr>
      </p:sp>
      <p:sp>
        <p:nvSpPr>
          <p:cNvPr id="14" name="Text 12"/>
          <p:cNvSpPr/>
          <p:nvPr/>
        </p:nvSpPr>
        <p:spPr>
          <a:xfrm>
            <a:off x="6771132" y="5532120"/>
            <a:ext cx="1371600" cy="457200"/>
          </a:xfrm>
          <a:prstGeom prst="rect">
            <a:avLst/>
          </a:prstGeom>
          <a:noFill/>
          <a:ln/>
        </p:spPr>
        <p:txBody>
          <a:bodyPr wrap="square" rtlCol="0" anchor="ctr"/>
          <a:lstStyle/>
          <a:p>
            <a:pPr algn="ctr" indent="0" marL="0">
              <a:buNone/>
            </a:pPr>
            <a:r>
              <a:rPr lang="en-US" sz="1200" dirty="0">
                <a:solidFill>
                  <a:srgbClr val="7FBF9E"/>
                </a:solidFill>
                <a:latin typeface="Courier New" pitchFamily="34" charset="0"/>
                <a:ea typeface="Courier New" pitchFamily="34" charset="-122"/>
                <a:cs typeface="Courier New" pitchFamily="34" charset="-120"/>
              </a:rPr>
              <a:t>Evaluation</a:t>
            </a:r>
            <a:endParaRPr lang="en-US" sz="1200" dirty="0"/>
          </a:p>
        </p:txBody>
      </p:sp>
      <p:sp>
        <p:nvSpPr>
          <p:cNvPr id="15" name="Text 1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6E847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AGENDA</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Course Roadmap</a:t>
            </a:r>
            <a:endParaRPr lang="en-US" sz="2700" dirty="0"/>
          </a:p>
        </p:txBody>
      </p:sp>
      <p:sp>
        <p:nvSpPr>
          <p:cNvPr id="5" name="Text 3"/>
          <p:cNvSpPr/>
          <p:nvPr/>
        </p:nvSpPr>
        <p:spPr>
          <a:xfrm>
            <a:off x="868680" y="1417320"/>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Part 1 — Foundations.  </a:t>
            </a:r>
            <a:pPr indent="0" marL="0">
              <a:buNone/>
            </a:pPr>
            <a:r>
              <a:rPr lang="en-US" sz="1450" dirty="0">
                <a:solidFill>
                  <a:srgbClr val="5B6660"/>
                </a:solidFill>
                <a:latin typeface="Calibri" pitchFamily="34" charset="0"/>
                <a:ea typeface="Calibri" pitchFamily="34" charset="-122"/>
                <a:cs typeface="Calibri" pitchFamily="34" charset="-120"/>
              </a:rPr>
              <a:t>Why LLMs need retrieval, hallucination, parametric vs non-parametric memory, RAG origins.</a:t>
            </a:r>
            <a:endParaRPr lang="en-US" sz="1550" dirty="0"/>
          </a:p>
        </p:txBody>
      </p:sp>
      <p:sp>
        <p:nvSpPr>
          <p:cNvPr id="6" name="Text 4"/>
          <p:cNvSpPr/>
          <p:nvPr/>
        </p:nvSpPr>
        <p:spPr>
          <a:xfrm>
            <a:off x="868680" y="2322576"/>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Part 2 — Ingestion &amp; Retrieval.  </a:t>
            </a:r>
            <a:pPr indent="0" marL="0">
              <a:buNone/>
            </a:pPr>
            <a:r>
              <a:rPr lang="en-US" sz="1450" dirty="0">
                <a:solidFill>
                  <a:srgbClr val="5B6660"/>
                </a:solidFill>
                <a:latin typeface="Calibri" pitchFamily="34" charset="0"/>
                <a:ea typeface="Calibri" pitchFamily="34" charset="-122"/>
                <a:cs typeface="Calibri" pitchFamily="34" charset="-120"/>
              </a:rPr>
              <a:t>Chunking, embeddings, similarity math, FAISS, ANN search, hybrid retrieval.</a:t>
            </a:r>
            <a:endParaRPr lang="en-US" sz="1550" dirty="0"/>
          </a:p>
        </p:txBody>
      </p:sp>
      <p:sp>
        <p:nvSpPr>
          <p:cNvPr id="7" name="Text 5"/>
          <p:cNvSpPr/>
          <p:nvPr/>
        </p:nvSpPr>
        <p:spPr>
          <a:xfrm>
            <a:off x="868680" y="3227832"/>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Part 3 — Generation &amp; Evaluation.  </a:t>
            </a:r>
            <a:pPr indent="0" marL="0">
              <a:buNone/>
            </a:pPr>
            <a:r>
              <a:rPr lang="en-US" sz="1450" dirty="0">
                <a:solidFill>
                  <a:srgbClr val="5B6660"/>
                </a:solidFill>
                <a:latin typeface="Calibri" pitchFamily="34" charset="0"/>
                <a:ea typeface="Calibri" pitchFamily="34" charset="-122"/>
                <a:cs typeface="Calibri" pitchFamily="34" charset="-120"/>
              </a:rPr>
              <a:t>Prompt construction, grounding, code walkthroughs, retrieval and generation metrics.</a:t>
            </a:r>
            <a:endParaRPr lang="en-US" sz="1550" dirty="0"/>
          </a:p>
        </p:txBody>
      </p:sp>
      <p:sp>
        <p:nvSpPr>
          <p:cNvPr id="8" name="Text 6"/>
          <p:cNvSpPr/>
          <p:nvPr/>
        </p:nvSpPr>
        <p:spPr>
          <a:xfrm>
            <a:off x="868680" y="4133088"/>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Part 4 — Advanced Techniques &amp; Production.  </a:t>
            </a:r>
            <a:pPr indent="0" marL="0">
              <a:buNone/>
            </a:pPr>
            <a:r>
              <a:rPr lang="en-US" sz="1450" dirty="0">
                <a:solidFill>
                  <a:srgbClr val="5B6660"/>
                </a:solidFill>
                <a:latin typeface="Calibri" pitchFamily="34" charset="0"/>
                <a:ea typeface="Calibri" pitchFamily="34" charset="-122"/>
                <a:cs typeface="Calibri" pitchFamily="34" charset="-120"/>
              </a:rPr>
              <a:t>Reranking, multi-query, HyDE, GraphRAG/agentic RAG, monitoring, scaling.</a:t>
            </a:r>
            <a:endParaRPr lang="en-US" sz="1550" dirty="0"/>
          </a:p>
        </p:txBody>
      </p:sp>
      <p:sp>
        <p:nvSpPr>
          <p:cNvPr id="9" name="Text 7"/>
          <p:cNvSpPr/>
          <p:nvPr/>
        </p:nvSpPr>
        <p:spPr>
          <a:xfrm>
            <a:off x="868680" y="5038344"/>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Part 5 — Synthesis &amp; Reference.  </a:t>
            </a:r>
            <a:pPr indent="0" marL="0">
              <a:buNone/>
            </a:pPr>
            <a:r>
              <a:rPr lang="en-US" sz="1450" dirty="0">
                <a:solidFill>
                  <a:srgbClr val="5B6660"/>
                </a:solidFill>
                <a:latin typeface="Calibri" pitchFamily="34" charset="0"/>
                <a:ea typeface="Calibri" pitchFamily="34" charset="-122"/>
                <a:cs typeface="Calibri" pitchFamily="34" charset="-120"/>
              </a:rPr>
              <a:t>Comparisons, limitations, future directions, glossary, references.</a:t>
            </a:r>
            <a:endParaRPr lang="en-US" sz="1550" dirty="0"/>
          </a:p>
        </p:txBody>
      </p:sp>
      <p:sp>
        <p:nvSpPr>
          <p:cNvPr id="10" name="Text 8"/>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731520" y="2651760"/>
            <a:ext cx="9144000" cy="457200"/>
          </a:xfrm>
          <a:prstGeom prst="rect">
            <a:avLst/>
          </a:prstGeom>
          <a:noFill/>
          <a:ln/>
        </p:spPr>
        <p:txBody>
          <a:bodyPr wrap="square" rtlCol="0" anchor="ctr"/>
          <a:lstStyle/>
          <a:p>
            <a:pPr indent="0" marL="0">
              <a:buNone/>
            </a:pPr>
            <a:r>
              <a:rPr lang="en-US" sz="1500" spc="300" kern="0" dirty="0">
                <a:solidFill>
                  <a:srgbClr val="7FBF9E"/>
                </a:solidFill>
                <a:latin typeface="Courier New" pitchFamily="34" charset="0"/>
                <a:ea typeface="Courier New" pitchFamily="34" charset="-122"/>
                <a:cs typeface="Courier New" pitchFamily="34" charset="-120"/>
              </a:rPr>
              <a:t>PART 1</a:t>
            </a:r>
            <a:endParaRPr lang="en-US" sz="1500" dirty="0"/>
          </a:p>
        </p:txBody>
      </p:sp>
      <p:sp>
        <p:nvSpPr>
          <p:cNvPr id="3" name="Text 1"/>
          <p:cNvSpPr/>
          <p:nvPr/>
        </p:nvSpPr>
        <p:spPr>
          <a:xfrm>
            <a:off x="731520" y="3108960"/>
            <a:ext cx="10515600" cy="1280160"/>
          </a:xfrm>
          <a:prstGeom prst="rect">
            <a:avLst/>
          </a:prstGeom>
          <a:noFill/>
          <a:ln/>
        </p:spPr>
        <p:txBody>
          <a:bodyPr wrap="square" rtlCol="0" anchor="ctr"/>
          <a:lstStyle/>
          <a:p>
            <a:pPr indent="0" marL="0">
              <a:buNone/>
            </a:pPr>
            <a:r>
              <a:rPr lang="en-US" sz="3800" b="1" dirty="0">
                <a:solidFill>
                  <a:srgbClr val="F5F2E7"/>
                </a:solidFill>
                <a:latin typeface="Cambria" pitchFamily="34" charset="0"/>
                <a:ea typeface="Cambria" pitchFamily="34" charset="-122"/>
                <a:cs typeface="Cambria" pitchFamily="34" charset="-120"/>
              </a:rPr>
              <a:t>Foundations</a:t>
            </a:r>
            <a:endParaRPr lang="en-US" sz="3800" dirty="0"/>
          </a:p>
        </p:txBody>
      </p:sp>
      <p:sp>
        <p:nvSpPr>
          <p:cNvPr id="4" name="Text 2"/>
          <p:cNvSpPr/>
          <p:nvPr/>
        </p:nvSpPr>
        <p:spPr>
          <a:xfrm>
            <a:off x="731520" y="4251960"/>
            <a:ext cx="9144000" cy="731520"/>
          </a:xfrm>
          <a:prstGeom prst="rect">
            <a:avLst/>
          </a:prstGeom>
          <a:noFill/>
          <a:ln/>
        </p:spPr>
        <p:txBody>
          <a:bodyPr wrap="square" rtlCol="0" anchor="ctr"/>
          <a:lstStyle/>
          <a:p>
            <a:pPr indent="0" marL="0">
              <a:buNone/>
            </a:pPr>
            <a:r>
              <a:rPr lang="en-US" sz="1500" dirty="0">
                <a:solidFill>
                  <a:srgbClr val="AEB8AC"/>
                </a:solidFill>
                <a:latin typeface="Calibri" pitchFamily="34" charset="0"/>
                <a:ea typeface="Calibri" pitchFamily="34" charset="-122"/>
                <a:cs typeface="Calibri" pitchFamily="34" charset="-120"/>
              </a:rPr>
              <a:t>Why generation alone is not enough, and where RAG comes from.</a:t>
            </a:r>
            <a:endParaRPr lang="en-US" sz="1500" dirty="0"/>
          </a:p>
        </p:txBody>
      </p:sp>
      <p:sp>
        <p:nvSpPr>
          <p:cNvPr id="5"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6E84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MOTIVATION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The Limits of Parametric Knowledge</a:t>
            </a:r>
            <a:endParaRPr lang="en-US" sz="2700" dirty="0"/>
          </a:p>
        </p:txBody>
      </p:sp>
      <p:sp>
        <p:nvSpPr>
          <p:cNvPr id="5" name="Text 3"/>
          <p:cNvSpPr/>
          <p:nvPr/>
        </p:nvSpPr>
        <p:spPr>
          <a:xfrm>
            <a:off x="868680" y="1417320"/>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Frozen at training time.  </a:t>
            </a:r>
            <a:pPr indent="0" marL="0">
              <a:buNone/>
            </a:pPr>
            <a:r>
              <a:rPr lang="en-US" sz="1450" dirty="0">
                <a:solidFill>
                  <a:srgbClr val="5B6660"/>
                </a:solidFill>
                <a:latin typeface="Calibri" pitchFamily="34" charset="0"/>
                <a:ea typeface="Calibri" pitchFamily="34" charset="-122"/>
                <a:cs typeface="Calibri" pitchFamily="34" charset="-120"/>
              </a:rPr>
              <a:t>A model's parametric knowledge reflects its training cutoff; it cannot know about events, documents, or facts that appeared afterward.</a:t>
            </a:r>
            <a:endParaRPr lang="en-US" sz="1550" dirty="0"/>
          </a:p>
        </p:txBody>
      </p:sp>
      <p:sp>
        <p:nvSpPr>
          <p:cNvPr id="6" name="Text 4"/>
          <p:cNvSpPr/>
          <p:nvPr/>
        </p:nvSpPr>
        <p:spPr>
          <a:xfrm>
            <a:off x="868680" y="2322576"/>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Cannot cite sources.  </a:t>
            </a:r>
            <a:pPr indent="0" marL="0">
              <a:buNone/>
            </a:pPr>
            <a:r>
              <a:rPr lang="en-US" sz="1450" dirty="0">
                <a:solidFill>
                  <a:srgbClr val="5B6660"/>
                </a:solidFill>
                <a:latin typeface="Calibri" pitchFamily="34" charset="0"/>
                <a:ea typeface="Calibri" pitchFamily="34" charset="-122"/>
                <a:cs typeface="Calibri" pitchFamily="34" charset="-120"/>
              </a:rPr>
              <a:t>Answers come from weights, not from inspectable documents, so provenance and verification are impossible.</a:t>
            </a:r>
            <a:endParaRPr lang="en-US" sz="1550" dirty="0"/>
          </a:p>
        </p:txBody>
      </p:sp>
      <p:sp>
        <p:nvSpPr>
          <p:cNvPr id="7" name="Text 5"/>
          <p:cNvSpPr/>
          <p:nvPr/>
        </p:nvSpPr>
        <p:spPr>
          <a:xfrm>
            <a:off x="868680" y="3227832"/>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Expensive to update.  </a:t>
            </a:r>
            <a:pPr indent="0" marL="0">
              <a:buNone/>
            </a:pPr>
            <a:r>
              <a:rPr lang="en-US" sz="1450" dirty="0">
                <a:solidFill>
                  <a:srgbClr val="5B6660"/>
                </a:solidFill>
                <a:latin typeface="Calibri" pitchFamily="34" charset="0"/>
                <a:ea typeface="Calibri" pitchFamily="34" charset="-122"/>
                <a:cs typeface="Calibri" pitchFamily="34" charset="-120"/>
              </a:rPr>
              <a:t>Correcting or adding a single fact normally requires further training, not a simple data edit.</a:t>
            </a:r>
            <a:endParaRPr lang="en-US" sz="1550" dirty="0"/>
          </a:p>
        </p:txBody>
      </p:sp>
      <p:sp>
        <p:nvSpPr>
          <p:cNvPr id="8" name="Text 6"/>
          <p:cNvSpPr/>
          <p:nvPr/>
        </p:nvSpPr>
        <p:spPr>
          <a:xfrm>
            <a:off x="868680" y="4133088"/>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No access to private data.  </a:t>
            </a:r>
            <a:pPr indent="0" marL="0">
              <a:buNone/>
            </a:pPr>
            <a:r>
              <a:rPr lang="en-US" sz="1450" dirty="0">
                <a:solidFill>
                  <a:srgbClr val="5B6660"/>
                </a:solidFill>
                <a:latin typeface="Calibri" pitchFamily="34" charset="0"/>
                <a:ea typeface="Calibri" pitchFamily="34" charset="-122"/>
                <a:cs typeface="Calibri" pitchFamily="34" charset="-120"/>
              </a:rPr>
              <a:t>A model cannot answer questions about a company's internal documents unless that data is given to it directly.</a:t>
            </a:r>
            <a:endParaRPr lang="en-US" sz="1550" dirty="0"/>
          </a:p>
        </p:txBody>
      </p:sp>
      <p:sp>
        <p:nvSpPr>
          <p:cNvPr id="9" name="Text 7"/>
          <p:cNvSpPr/>
          <p:nvPr/>
        </p:nvSpPr>
        <p:spPr>
          <a:xfrm>
            <a:off x="868680" y="5038344"/>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Context windows are finite.  </a:t>
            </a:r>
            <a:pPr indent="0" marL="0">
              <a:buNone/>
            </a:pPr>
            <a:r>
              <a:rPr lang="en-US" sz="1450" dirty="0">
                <a:solidFill>
                  <a:srgbClr val="5B6660"/>
                </a:solidFill>
                <a:latin typeface="Calibri" pitchFamily="34" charset="0"/>
                <a:ea typeface="Calibri" pitchFamily="34" charset="-122"/>
                <a:cs typeface="Calibri" pitchFamily="34" charset="-120"/>
              </a:rPr>
              <a:t>Even very long context models cannot fit an entire knowledge base into every prompt, and long context is not used uniformly well.</a:t>
            </a:r>
            <a:endParaRPr lang="en-US" sz="1550" dirty="0"/>
          </a:p>
        </p:txBody>
      </p:sp>
      <p:sp>
        <p:nvSpPr>
          <p:cNvPr id="10" name="Text 8"/>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DEFINITION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What Is a Hallucination?</a:t>
            </a:r>
            <a:endParaRPr lang="en-US" sz="2700" dirty="0"/>
          </a:p>
        </p:txBody>
      </p:sp>
      <p:sp>
        <p:nvSpPr>
          <p:cNvPr id="5" name="Text 3"/>
          <p:cNvSpPr/>
          <p:nvPr/>
        </p:nvSpPr>
        <p:spPr>
          <a:xfrm>
            <a:off x="868680" y="1554480"/>
            <a:ext cx="10241280" cy="1188720"/>
          </a:xfrm>
          <a:prstGeom prst="rect">
            <a:avLst/>
          </a:prstGeom>
          <a:noFill/>
          <a:ln/>
        </p:spPr>
        <p:txBody>
          <a:bodyPr wrap="square" rtlCol="0" anchor="ctr"/>
          <a:lstStyle/>
          <a:p>
            <a:pPr algn="l" indent="0" marL="0">
              <a:buNone/>
            </a:pPr>
            <a:r>
              <a:rPr lang="en-US" sz="2600" b="1" dirty="0">
                <a:solidFill>
                  <a:srgbClr val="2F6B4F"/>
                </a:solidFill>
                <a:latin typeface="Cambria" pitchFamily="34" charset="0"/>
                <a:ea typeface="Cambria" pitchFamily="34" charset="-122"/>
                <a:cs typeface="Cambria" pitchFamily="34" charset="-120"/>
              </a:rPr>
              <a:t>A hallucination is a generated statement that is fluent and confident, but not supported by any real evidence.</a:t>
            </a:r>
            <a:endParaRPr lang="en-US" sz="2600" dirty="0"/>
          </a:p>
        </p:txBody>
      </p:sp>
      <p:sp>
        <p:nvSpPr>
          <p:cNvPr id="6" name="Text 4"/>
          <p:cNvSpPr/>
          <p:nvPr/>
        </p:nvSpPr>
        <p:spPr>
          <a:xfrm>
            <a:off x="868680" y="2697480"/>
            <a:ext cx="10241280" cy="548640"/>
          </a:xfrm>
          <a:prstGeom prst="rect">
            <a:avLst/>
          </a:prstGeom>
          <a:noFill/>
          <a:ln/>
        </p:spPr>
        <p:txBody>
          <a:bodyPr wrap="square" rtlCol="0" anchor="ctr"/>
          <a:lstStyle/>
          <a:p>
            <a:pPr indent="0" marL="0">
              <a:buNone/>
            </a:pPr>
            <a:r>
              <a:rPr lang="en-US" sz="1350" i="1" dirty="0">
                <a:solidFill>
                  <a:srgbClr val="5B6660"/>
                </a:solidFill>
                <a:latin typeface="Calibri" pitchFamily="34" charset="0"/>
                <a:ea typeface="Calibri" pitchFamily="34" charset="-122"/>
                <a:cs typeface="Calibri" pitchFamily="34" charset="-120"/>
              </a:rPr>
              <a:t>Hallucinations are especially dangerous in knowledge-intensive tasks, where the user cannot easily tell a fabricated fact from a correct one.</a:t>
            </a:r>
            <a:endParaRPr lang="en-US" sz="1350" dirty="0"/>
          </a:p>
        </p:txBody>
      </p:sp>
      <p:sp>
        <p:nvSpPr>
          <p:cNvPr id="7" name="Text 5"/>
          <p:cNvSpPr/>
          <p:nvPr/>
        </p:nvSpPr>
        <p:spPr>
          <a:xfrm>
            <a:off x="868680" y="3429000"/>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Why it happens:  </a:t>
            </a:r>
            <a:pPr indent="0" marL="0">
              <a:buNone/>
            </a:pPr>
            <a:r>
              <a:rPr lang="en-US" sz="1350" dirty="0">
                <a:solidFill>
                  <a:srgbClr val="5B6660"/>
                </a:solidFill>
                <a:latin typeface="Calibri" pitchFamily="34" charset="0"/>
                <a:ea typeface="Calibri" pitchFamily="34" charset="-122"/>
                <a:cs typeface="Calibri" pitchFamily="34" charset="-120"/>
              </a:rPr>
              <a:t>language models are trained to produce plausible continuations of text, not to verify truth.</a:t>
            </a:r>
            <a:endParaRPr lang="en-US" sz="1400" dirty="0"/>
          </a:p>
        </p:txBody>
      </p:sp>
      <p:sp>
        <p:nvSpPr>
          <p:cNvPr id="8" name="Text 6"/>
          <p:cNvSpPr/>
          <p:nvPr/>
        </p:nvSpPr>
        <p:spPr>
          <a:xfrm>
            <a:off x="868680" y="3995928"/>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Why RAG helps:  </a:t>
            </a:r>
            <a:pPr indent="0" marL="0">
              <a:buNone/>
            </a:pPr>
            <a:r>
              <a:rPr lang="en-US" sz="1350" dirty="0">
                <a:solidFill>
                  <a:srgbClr val="5B6660"/>
                </a:solidFill>
                <a:latin typeface="Calibri" pitchFamily="34" charset="0"/>
                <a:ea typeface="Calibri" pitchFamily="34" charset="-122"/>
                <a:cs typeface="Calibri" pitchFamily="34" charset="-120"/>
              </a:rPr>
              <a:t>grounding generation in retrieved, inspectable passages gives the model real evidence to condition on, and gives the user a citation to check.</a:t>
            </a:r>
            <a:endParaRPr lang="en-US" sz="1400" dirty="0"/>
          </a:p>
        </p:txBody>
      </p:sp>
      <p:sp>
        <p:nvSpPr>
          <p:cNvPr id="9" name="Text 7"/>
          <p:cNvSpPr/>
          <p:nvPr/>
        </p:nvSpPr>
        <p:spPr>
          <a:xfrm>
            <a:off x="868680" y="4562856"/>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What RAG does not fix:  </a:t>
            </a:r>
            <a:pPr indent="0" marL="0">
              <a:buNone/>
            </a:pPr>
            <a:r>
              <a:rPr lang="en-US" sz="1350" dirty="0">
                <a:solidFill>
                  <a:srgbClr val="5B6660"/>
                </a:solidFill>
                <a:latin typeface="Calibri" pitchFamily="34" charset="0"/>
                <a:ea typeface="Calibri" pitchFamily="34" charset="-122"/>
                <a:cs typeface="Calibri" pitchFamily="34" charset="-120"/>
              </a:rPr>
              <a:t>a model can still misread or misuse a correct passage, so evaluation of the generation step remains necessary.</a:t>
            </a:r>
            <a:endParaRPr lang="en-US" sz="1400" dirty="0"/>
          </a:p>
        </p:txBody>
      </p:sp>
      <p:sp>
        <p:nvSpPr>
          <p:cNvPr id="10" name="Text 8"/>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TWO KINDS OF KNOWLEDGE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Parametric vs Non-Parametric Memory</a:t>
            </a:r>
            <a:endParaRPr lang="en-US" sz="2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377440"/>
                <a:gridCol w="4480560"/>
                <a:gridCol w="4480560"/>
              </a:tblGrid>
              <a:tr h="457200">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Parametric memory</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Non-parametric memory</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Knowledge encoded in model weights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External data the model can retrieve (documents, tables, chat history)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Update cost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Requires retraining or fine-tuning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Update by editing the index, no retraining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Interpretability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Opaque, cannot be inspected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Human-readable and human-writable text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Freshness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Fixed at training time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As fresh as the underlying data source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Failure mode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Hallucination with no evidence trail</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Retrieval error, but still traceable to a source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FRAMING</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Context Construction as Feature Engineering</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Instructions vs context.  </a:t>
            </a:r>
            <a:pPr indent="0" marL="0">
              <a:buNone/>
            </a:pPr>
            <a:r>
              <a:rPr lang="en-US" sz="1450" dirty="0">
                <a:solidFill>
                  <a:srgbClr val="5B6660"/>
                </a:solidFill>
                <a:latin typeface="Calibri" pitchFamily="34" charset="0"/>
                <a:ea typeface="Calibri" pitchFamily="34" charset="-122"/>
                <a:cs typeface="Calibri" pitchFamily="34" charset="-120"/>
              </a:rPr>
              <a:t>A model needs instructions on how to do a task (fixed per application) and context with the information needed for a specific query (built per query).</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RAG builds context per query.  </a:t>
            </a:r>
            <a:pPr indent="0" marL="0">
              <a:buNone/>
            </a:pPr>
            <a:r>
              <a:rPr lang="en-US" sz="1450" dirty="0">
                <a:solidFill>
                  <a:srgbClr val="5B6660"/>
                </a:solidFill>
                <a:latin typeface="Calibri" pitchFamily="34" charset="0"/>
                <a:ea typeface="Calibri" pitchFamily="34" charset="-122"/>
                <a:cs typeface="Calibri" pitchFamily="34" charset="-120"/>
              </a:rPr>
              <a:t>Rather than stuffing the same fixed context into every prompt, RAG retrieves only what is relevant to the current question.</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The classical-ML parallel.  </a:t>
            </a:r>
            <a:pPr indent="0" marL="0">
              <a:buNone/>
            </a:pPr>
            <a:r>
              <a:rPr lang="en-US" sz="1450" dirty="0">
                <a:solidFill>
                  <a:srgbClr val="5B6660"/>
                </a:solidFill>
                <a:latin typeface="Calibri" pitchFamily="34" charset="0"/>
                <a:ea typeface="Calibri" pitchFamily="34" charset="-122"/>
                <a:cs typeface="Calibri" pitchFamily="34" charset="-120"/>
              </a:rPr>
              <a:t>Constructing the right context for a foundation model plays the same role that feature engineering played for classical machine learning models.</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Long context does not replace RAG.  </a:t>
            </a:r>
            <a:pPr indent="0" marL="0">
              <a:buNone/>
            </a:pPr>
            <a:r>
              <a:rPr lang="en-US" sz="1450" dirty="0">
                <a:solidFill>
                  <a:srgbClr val="5B6660"/>
                </a:solidFill>
                <a:latin typeface="Calibri" pitchFamily="34" charset="0"/>
                <a:ea typeface="Calibri" pitchFamily="34" charset="-122"/>
                <a:cs typeface="Calibri" pitchFamily="34" charset="-120"/>
              </a:rPr>
              <a:t>Context windows keep growing, but available data grows faster, and longer contexts are used less reliably by the model, with added cost and latency.</a:t>
            </a:r>
            <a:endParaRPr lang="en-US" sz="1550" dirty="0"/>
          </a:p>
        </p:txBody>
      </p:sp>
      <p:sp>
        <p:nvSpPr>
          <p:cNvPr id="9" name="Shape 7"/>
          <p:cNvSpPr/>
          <p:nvPr/>
        </p:nvSpPr>
        <p:spPr>
          <a:xfrm>
            <a:off x="868680" y="5989320"/>
            <a:ext cx="10241280" cy="502920"/>
          </a:xfrm>
          <a:prstGeom prst="roundRect">
            <a:avLst>
              <a:gd name="adj" fmla="val 10909"/>
            </a:avLst>
          </a:prstGeom>
          <a:solidFill>
            <a:srgbClr val="E4F0E9"/>
          </a:solidFill>
          <a:ln/>
        </p:spPr>
      </p:sp>
      <p:sp>
        <p:nvSpPr>
          <p:cNvPr id="10" name="Text 8"/>
          <p:cNvSpPr/>
          <p:nvPr/>
        </p:nvSpPr>
        <p:spPr>
          <a:xfrm>
            <a:off x="1051560" y="5989320"/>
            <a:ext cx="9875520" cy="502920"/>
          </a:xfrm>
          <a:prstGeom prst="rect">
            <a:avLst/>
          </a:prstGeom>
          <a:noFill/>
          <a:ln/>
        </p:spPr>
        <p:txBody>
          <a:bodyPr wrap="square" rtlCol="0" anchor="ctr"/>
          <a:lstStyle/>
          <a:p>
            <a:pPr indent="0" marL="0">
              <a:buNone/>
            </a:pPr>
            <a:r>
              <a:rPr lang="en-US" sz="1250" i="1" dirty="0">
                <a:solidFill>
                  <a:srgbClr val="1F4D38"/>
                </a:solidFill>
                <a:latin typeface="Calibri" pitchFamily="34" charset="0"/>
                <a:ea typeface="Calibri" pitchFamily="34" charset="-122"/>
                <a:cs typeface="Calibri" pitchFamily="34" charset="-120"/>
              </a:rPr>
              <a:t>Anthropic's own guidance: if a knowledge base fits under roughly 200,000 tokens, it may be simpler to place it directly in the prompt instead of building a retrieval pipeline.</a:t>
            </a:r>
            <a:endParaRPr lang="en-US" sz="125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CORE DEFINITION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Defining Retrieval-Augmented Generation</a:t>
            </a:r>
            <a:endParaRPr lang="en-US" sz="2700" dirty="0"/>
          </a:p>
        </p:txBody>
      </p:sp>
      <p:sp>
        <p:nvSpPr>
          <p:cNvPr id="5" name="Text 3"/>
          <p:cNvSpPr/>
          <p:nvPr/>
        </p:nvSpPr>
        <p:spPr>
          <a:xfrm>
            <a:off x="868680" y="1554480"/>
            <a:ext cx="10241280" cy="1188720"/>
          </a:xfrm>
          <a:prstGeom prst="rect">
            <a:avLst/>
          </a:prstGeom>
          <a:noFill/>
          <a:ln/>
        </p:spPr>
        <p:txBody>
          <a:bodyPr wrap="square" rtlCol="0" anchor="ctr"/>
          <a:lstStyle/>
          <a:p>
            <a:pPr algn="l" indent="0" marL="0">
              <a:buNone/>
            </a:pPr>
            <a:r>
              <a:rPr lang="en-US" sz="2600" b="1" dirty="0">
                <a:solidFill>
                  <a:srgbClr val="2F6B4F"/>
                </a:solidFill>
                <a:latin typeface="Cambria" pitchFamily="34" charset="0"/>
                <a:ea typeface="Cambria" pitchFamily="34" charset="-122"/>
                <a:cs typeface="Cambria" pitchFamily="34" charset="-120"/>
              </a:rPr>
              <a:t>RAG augments a model's generation by retrieving relevant information from an external memory source before producing an answer.</a:t>
            </a:r>
            <a:endParaRPr lang="en-US" sz="2600" dirty="0"/>
          </a:p>
        </p:txBody>
      </p:sp>
      <p:sp>
        <p:nvSpPr>
          <p:cNvPr id="6" name="Text 4"/>
          <p:cNvSpPr/>
          <p:nvPr/>
        </p:nvSpPr>
        <p:spPr>
          <a:xfrm>
            <a:off x="868680" y="2697480"/>
            <a:ext cx="10241280" cy="548640"/>
          </a:xfrm>
          <a:prstGeom prst="rect">
            <a:avLst/>
          </a:prstGeom>
          <a:noFill/>
          <a:ln/>
        </p:spPr>
        <p:txBody>
          <a:bodyPr wrap="square" rtlCol="0" anchor="ctr"/>
          <a:lstStyle/>
          <a:p>
            <a:pPr indent="0" marL="0">
              <a:buNone/>
            </a:pPr>
            <a:r>
              <a:rPr lang="en-US" sz="1350" i="1" dirty="0">
                <a:solidFill>
                  <a:srgbClr val="5B6660"/>
                </a:solidFill>
                <a:latin typeface="Calibri" pitchFamily="34" charset="0"/>
                <a:ea typeface="Calibri" pitchFamily="34" charset="-122"/>
                <a:cs typeface="Calibri" pitchFamily="34" charset="-120"/>
              </a:rPr>
              <a:t>The term was coined by Lewis et al. (2020); the pattern of retrieving then reading text was already present in earlier open-domain question answering systems.</a:t>
            </a:r>
            <a:endParaRPr lang="en-US" sz="1350" dirty="0"/>
          </a:p>
        </p:txBody>
      </p:sp>
      <p:sp>
        <p:nvSpPr>
          <p:cNvPr id="7" name="Text 5"/>
          <p:cNvSpPr/>
          <p:nvPr/>
        </p:nvSpPr>
        <p:spPr>
          <a:xfrm>
            <a:off x="868680" y="3429000"/>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External memory  </a:t>
            </a:r>
            <a:pPr indent="0" marL="0">
              <a:buNone/>
            </a:pPr>
            <a:r>
              <a:rPr lang="en-US" sz="1350" dirty="0">
                <a:solidFill>
                  <a:srgbClr val="5B6660"/>
                </a:solidFill>
                <a:latin typeface="Calibri" pitchFamily="34" charset="0"/>
                <a:ea typeface="Calibri" pitchFamily="34" charset="-122"/>
                <a:cs typeface="Calibri" pitchFamily="34" charset="-120"/>
              </a:rPr>
              <a:t>can be an internal database, a user's chat history, or the open web.</a:t>
            </a:r>
            <a:endParaRPr lang="en-US" sz="1400" dirty="0"/>
          </a:p>
        </p:txBody>
      </p:sp>
      <p:sp>
        <p:nvSpPr>
          <p:cNvPr id="8" name="Text 6"/>
          <p:cNvSpPr/>
          <p:nvPr/>
        </p:nvSpPr>
        <p:spPr>
          <a:xfrm>
            <a:off x="868680" y="3995928"/>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Two moving parts:  </a:t>
            </a:r>
            <a:pPr indent="0" marL="0">
              <a:buNone/>
            </a:pPr>
            <a:r>
              <a:rPr lang="en-US" sz="1350" dirty="0">
                <a:solidFill>
                  <a:srgbClr val="5B6660"/>
                </a:solidFill>
                <a:latin typeface="Calibri" pitchFamily="34" charset="0"/>
                <a:ea typeface="Calibri" pitchFamily="34" charset="-122"/>
                <a:cs typeface="Calibri" pitchFamily="34" charset="-120"/>
              </a:rPr>
              <a:t>a retriever that finds relevant passages, and a generator that reads them to produce the answer.</a:t>
            </a:r>
            <a:endParaRPr lang="en-US" sz="1400" dirty="0"/>
          </a:p>
        </p:txBody>
      </p:sp>
      <p:sp>
        <p:nvSpPr>
          <p:cNvPr id="9" name="Text 7"/>
          <p:cNvSpPr/>
          <p:nvPr/>
        </p:nvSpPr>
        <p:spPr>
          <a:xfrm>
            <a:off x="868680" y="4562856"/>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Chunk terminology:  </a:t>
            </a:r>
            <a:pPr indent="0" marL="0">
              <a:buNone/>
            </a:pPr>
            <a:r>
              <a:rPr lang="en-US" sz="1350" dirty="0">
                <a:solidFill>
                  <a:srgbClr val="5B6660"/>
                </a:solidFill>
                <a:latin typeface="Calibri" pitchFamily="34" charset="0"/>
                <a:ea typeface="Calibri" pitchFamily="34" charset="-122"/>
                <a:cs typeface="Calibri" pitchFamily="34" charset="-120"/>
              </a:rPr>
              <a:t>a chunk of a document is itself treated as a document by the retriever, so the two terms are often used interchangeably.</a:t>
            </a:r>
            <a:endParaRPr lang="en-US" sz="1400" dirty="0"/>
          </a:p>
        </p:txBody>
      </p:sp>
      <p:sp>
        <p:nvSpPr>
          <p:cNvPr id="10" name="Text 8"/>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HISTORY — DRQA, 2017</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Origins: the Retrieve-then-Generate Pattern</a:t>
            </a:r>
            <a:endParaRPr lang="en-US" sz="2700" dirty="0"/>
          </a:p>
        </p:txBody>
      </p:sp>
      <p:sp>
        <p:nvSpPr>
          <p:cNvPr id="5" name="Shape 3"/>
          <p:cNvSpPr/>
          <p:nvPr/>
        </p:nvSpPr>
        <p:spPr>
          <a:xfrm>
            <a:off x="868680" y="2377440"/>
            <a:ext cx="2320290" cy="1371600"/>
          </a:xfrm>
          <a:prstGeom prst="roundRect">
            <a:avLst>
              <a:gd name="adj" fmla="val 5333"/>
            </a:avLst>
          </a:prstGeom>
          <a:solidFill>
            <a:srgbClr val="E4F0E9"/>
          </a:solidFill>
          <a:ln w="12700">
            <a:solidFill>
              <a:srgbClr val="2F6B4F"/>
            </a:solidFill>
            <a:prstDash val="solid"/>
          </a:ln>
        </p:spPr>
      </p:sp>
      <p:sp>
        <p:nvSpPr>
          <p:cNvPr id="6" name="Text 4"/>
          <p:cNvSpPr/>
          <p:nvPr/>
        </p:nvSpPr>
        <p:spPr>
          <a:xfrm>
            <a:off x="941832" y="2468880"/>
            <a:ext cx="217398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Question</a:t>
            </a:r>
            <a:endParaRPr lang="en-US" sz="1250" dirty="0"/>
          </a:p>
        </p:txBody>
      </p:sp>
      <p:sp>
        <p:nvSpPr>
          <p:cNvPr id="7" name="Text 5"/>
          <p:cNvSpPr/>
          <p:nvPr/>
        </p:nvSpPr>
        <p:spPr>
          <a:xfrm>
            <a:off x="318897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8" name="Shape 6"/>
          <p:cNvSpPr/>
          <p:nvPr/>
        </p:nvSpPr>
        <p:spPr>
          <a:xfrm>
            <a:off x="3509010" y="2377440"/>
            <a:ext cx="2320290" cy="1371600"/>
          </a:xfrm>
          <a:prstGeom prst="roundRect">
            <a:avLst>
              <a:gd name="adj" fmla="val 5333"/>
            </a:avLst>
          </a:prstGeom>
          <a:solidFill>
            <a:srgbClr val="E4F0E9"/>
          </a:solidFill>
          <a:ln w="12700">
            <a:solidFill>
              <a:srgbClr val="2F6B4F"/>
            </a:solidFill>
            <a:prstDash val="solid"/>
          </a:ln>
        </p:spPr>
      </p:sp>
      <p:sp>
        <p:nvSpPr>
          <p:cNvPr id="9" name="Text 7"/>
          <p:cNvSpPr/>
          <p:nvPr/>
        </p:nvSpPr>
        <p:spPr>
          <a:xfrm>
            <a:off x="3582162" y="2468880"/>
            <a:ext cx="217398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Document</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Retriever</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(TF-IDF + bigrams)</a:t>
            </a:r>
            <a:endParaRPr lang="en-US" sz="1250" dirty="0"/>
          </a:p>
        </p:txBody>
      </p:sp>
      <p:sp>
        <p:nvSpPr>
          <p:cNvPr id="10" name="Text 8"/>
          <p:cNvSpPr/>
          <p:nvPr/>
        </p:nvSpPr>
        <p:spPr>
          <a:xfrm>
            <a:off x="582930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1" name="Shape 9"/>
          <p:cNvSpPr/>
          <p:nvPr/>
        </p:nvSpPr>
        <p:spPr>
          <a:xfrm>
            <a:off x="6149340" y="2377440"/>
            <a:ext cx="2320290" cy="1371600"/>
          </a:xfrm>
          <a:prstGeom prst="roundRect">
            <a:avLst>
              <a:gd name="adj" fmla="val 5333"/>
            </a:avLst>
          </a:prstGeom>
          <a:solidFill>
            <a:srgbClr val="E4F0E9"/>
          </a:solidFill>
          <a:ln w="12700">
            <a:solidFill>
              <a:srgbClr val="2F6B4F"/>
            </a:solidFill>
            <a:prstDash val="solid"/>
          </a:ln>
        </p:spPr>
      </p:sp>
      <p:sp>
        <p:nvSpPr>
          <p:cNvPr id="12" name="Text 10"/>
          <p:cNvSpPr/>
          <p:nvPr/>
        </p:nvSpPr>
        <p:spPr>
          <a:xfrm>
            <a:off x="6222492" y="2468880"/>
            <a:ext cx="217398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Document</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Reader</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(RNN)</a:t>
            </a:r>
            <a:endParaRPr lang="en-US" sz="1250" dirty="0"/>
          </a:p>
        </p:txBody>
      </p:sp>
      <p:sp>
        <p:nvSpPr>
          <p:cNvPr id="13" name="Text 11"/>
          <p:cNvSpPr/>
          <p:nvPr/>
        </p:nvSpPr>
        <p:spPr>
          <a:xfrm>
            <a:off x="846963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8789670" y="2377440"/>
            <a:ext cx="2320290" cy="1371600"/>
          </a:xfrm>
          <a:prstGeom prst="roundRect">
            <a:avLst>
              <a:gd name="adj" fmla="val 5333"/>
            </a:avLst>
          </a:prstGeom>
          <a:solidFill>
            <a:srgbClr val="E4F0E9"/>
          </a:solidFill>
          <a:ln w="12700">
            <a:solidFill>
              <a:srgbClr val="2F6B4F"/>
            </a:solidFill>
            <a:prstDash val="solid"/>
          </a:ln>
        </p:spPr>
      </p:sp>
      <p:sp>
        <p:nvSpPr>
          <p:cNvPr id="15" name="Text 13"/>
          <p:cNvSpPr/>
          <p:nvPr/>
        </p:nvSpPr>
        <p:spPr>
          <a:xfrm>
            <a:off x="8862822" y="2468880"/>
            <a:ext cx="217398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Answer span</a:t>
            </a:r>
            <a:endParaRPr lang="en-US" sz="1250" dirty="0"/>
          </a:p>
        </p:txBody>
      </p:sp>
      <p:sp>
        <p:nvSpPr>
          <p:cNvPr id="16" name="Text 14"/>
          <p:cNvSpPr/>
          <p:nvPr/>
        </p:nvSpPr>
        <p:spPr>
          <a:xfrm>
            <a:off x="868680" y="4114800"/>
            <a:ext cx="10241280" cy="1371600"/>
          </a:xfrm>
          <a:prstGeom prst="rect">
            <a:avLst/>
          </a:prstGeom>
          <a:noFill/>
          <a:ln/>
        </p:spPr>
        <p:txBody>
          <a:bodyPr wrap="square" rtlCol="0" anchor="ctr"/>
          <a:lstStyle/>
          <a:p>
            <a:pPr indent="0" marL="0">
              <a:buNone/>
            </a:pPr>
            <a:r>
              <a:rPr lang="en-US" sz="1350" dirty="0">
                <a:solidFill>
                  <a:srgbClr val="5B6660"/>
                </a:solidFill>
                <a:latin typeface="Calibri" pitchFamily="34" charset="0"/>
                <a:ea typeface="Calibri" pitchFamily="34" charset="-122"/>
                <a:cs typeface="Calibri" pitchFamily="34" charset="-120"/>
              </a:rPr>
              <a:t>Chen et al. (2017), "Reading Wikipedia to Answer Open-Domain Questions," introduced DrQA: a Document Retriever narrows millions of Wikipedia articles down to a handful of candidates using TF-IDF and bigram hashing, and a Document Reader neural network locates the answer span inside them. This retrieve-then-read structure is the direct ancestor of modern RAG.</a:t>
            </a:r>
            <a:endParaRPr lang="en-US" sz="1350" dirty="0"/>
          </a:p>
        </p:txBody>
      </p:sp>
      <p:sp>
        <p:nvSpPr>
          <p:cNvPr id="17" name="Text 15"/>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HISTORY</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Origins: the RAG Paper (Lewis et al., 2020)</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The contribution.  </a:t>
            </a:r>
            <a:pPr indent="0" marL="0">
              <a:buNone/>
            </a:pPr>
            <a:r>
              <a:rPr lang="en-US" sz="1450" dirty="0">
                <a:solidFill>
                  <a:srgbClr val="5B6660"/>
                </a:solidFill>
                <a:latin typeface="Calibri" pitchFamily="34" charset="0"/>
                <a:ea typeface="Calibri" pitchFamily="34" charset="-122"/>
                <a:cs typeface="Calibri" pitchFamily="34" charset="-120"/>
              </a:rPr>
              <a:t>A general fine-tuning recipe combining a pre-trained parametric generator (BART) with a non-parametric dense index of Wikipedia, accessed through a neural retriever (DPR).</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End-to-end training.  </a:t>
            </a:r>
            <a:pPr indent="0" marL="0">
              <a:buNone/>
            </a:pPr>
            <a:r>
              <a:rPr lang="en-US" sz="1450" dirty="0">
                <a:solidFill>
                  <a:srgbClr val="5B6660"/>
                </a:solidFill>
                <a:latin typeface="Calibri" pitchFamily="34" charset="0"/>
                <a:ea typeface="Calibri" pitchFamily="34" charset="-122"/>
                <a:cs typeface="Calibri" pitchFamily="34" charset="-120"/>
              </a:rPr>
              <a:t>The retriever and generator are trained jointly, back-propagating through the retrieval step using Maximum Inner Product Search (MIPS) over the document index.</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Result.  </a:t>
            </a:r>
            <a:pPr indent="0" marL="0">
              <a:buNone/>
            </a:pPr>
            <a:r>
              <a:rPr lang="en-US" sz="1450" dirty="0">
                <a:solidFill>
                  <a:srgbClr val="5B6660"/>
                </a:solidFill>
                <a:latin typeface="Calibri" pitchFamily="34" charset="0"/>
                <a:ea typeface="Calibri" pitchFamily="34" charset="-122"/>
                <a:cs typeface="Calibri" pitchFamily="34" charset="-120"/>
              </a:rPr>
              <a:t>State-of-the-art on open-domain QA benchmarks (Natural Questions, WebQuestions, CuratedTrec), and more factual, specific, and diverse generation than a parametric-only baseline on knowledge-intensive generation tasks.</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Update without retraining.  </a:t>
            </a:r>
            <a:pPr indent="0" marL="0">
              <a:buNone/>
            </a:pPr>
            <a:r>
              <a:rPr lang="en-US" sz="1450" dirty="0">
                <a:solidFill>
                  <a:srgbClr val="5B6660"/>
                </a:solidFill>
                <a:latin typeface="Calibri" pitchFamily="34" charset="0"/>
                <a:ea typeface="Calibri" pitchFamily="34" charset="-122"/>
                <a:cs typeface="Calibri" pitchFamily="34" charset="-120"/>
              </a:rPr>
              <a:t>Swapping the document index (2016 vs 2018 Wikipedia dumps) changes what the model 'knows' without touching its weights.</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TWO MARGINALIZATIONS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RAG-Sequence vs RAG-Token</a:t>
            </a:r>
            <a:endParaRPr lang="en-US" sz="2700" dirty="0"/>
          </a:p>
        </p:txBody>
      </p:sp>
      <p:sp>
        <p:nvSpPr>
          <p:cNvPr id="5" name="Shape 3"/>
          <p:cNvSpPr/>
          <p:nvPr/>
        </p:nvSpPr>
        <p:spPr>
          <a:xfrm>
            <a:off x="868680" y="1417320"/>
            <a:ext cx="10241280" cy="1234440"/>
          </a:xfrm>
          <a:prstGeom prst="roundRect">
            <a:avLst>
              <a:gd name="adj" fmla="val 5926"/>
            </a:avLst>
          </a:prstGeom>
          <a:solidFill>
            <a:srgbClr val="FFFFFF"/>
          </a:solidFill>
          <a:ln w="12700">
            <a:solidFill>
              <a:srgbClr val="D8D3C2"/>
            </a:solidFill>
            <a:prstDash val="solid"/>
          </a:ln>
        </p:spPr>
      </p:sp>
      <p:sp>
        <p:nvSpPr>
          <p:cNvPr id="6" name="Text 4"/>
          <p:cNvSpPr/>
          <p:nvPr/>
        </p:nvSpPr>
        <p:spPr>
          <a:xfrm>
            <a:off x="1051560" y="1417320"/>
            <a:ext cx="9875520" cy="1234440"/>
          </a:xfrm>
          <a:prstGeom prst="rect">
            <a:avLst/>
          </a:prstGeom>
          <a:noFill/>
          <a:ln/>
        </p:spPr>
        <p:txBody>
          <a:bodyPr wrap="square" rtlCol="0" anchor="ctr"/>
          <a:lstStyle/>
          <a:p>
            <a:pPr algn="ctr" indent="0" marL="0">
              <a:buNone/>
            </a:pPr>
            <a:r>
              <a:rPr lang="en-US" sz="2200" i="1" dirty="0">
                <a:solidFill>
                  <a:srgbClr val="2F6B4F"/>
                </a:solidFill>
                <a:latin typeface="Cambria Math" pitchFamily="34" charset="0"/>
                <a:ea typeface="Cambria Math" pitchFamily="34" charset="-122"/>
                <a:cs typeface="Cambria Math" pitchFamily="34" charset="-120"/>
              </a:rPr>
              <a:t>p(y|x) ≈ Σz∈top-k pη(z|x) · pθ(y|x,z)</a:t>
            </a:r>
            <a:endParaRPr lang="en-US" sz="2200" dirty="0"/>
          </a:p>
        </p:txBody>
      </p:sp>
      <p:sp>
        <p:nvSpPr>
          <p:cNvPr id="7" name="Text 5"/>
          <p:cNvSpPr/>
          <p:nvPr/>
        </p:nvSpPr>
        <p:spPr>
          <a:xfrm>
            <a:off x="868680" y="288036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z  </a:t>
            </a:r>
            <a:pPr indent="0" marL="0">
              <a:buNone/>
            </a:pPr>
            <a:r>
              <a:rPr lang="en-US" sz="1400" dirty="0">
                <a:solidFill>
                  <a:srgbClr val="5B6660"/>
                </a:solidFill>
                <a:latin typeface="Calibri" pitchFamily="34" charset="0"/>
                <a:ea typeface="Calibri" pitchFamily="34" charset="-122"/>
                <a:cs typeface="Calibri" pitchFamily="34" charset="-120"/>
              </a:rPr>
              <a:t>is a retrieved document (or chunk), treated as a latent variable the model marginalizes over.</a:t>
            </a:r>
            <a:endParaRPr lang="en-US" sz="1450" dirty="0"/>
          </a:p>
        </p:txBody>
      </p:sp>
      <p:sp>
        <p:nvSpPr>
          <p:cNvPr id="8" name="Text 6"/>
          <p:cNvSpPr/>
          <p:nvPr/>
        </p:nvSpPr>
        <p:spPr>
          <a:xfrm>
            <a:off x="868680" y="342900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pη(z|x)  </a:t>
            </a:r>
            <a:pPr indent="0" marL="0">
              <a:buNone/>
            </a:pPr>
            <a:r>
              <a:rPr lang="en-US" sz="1400" dirty="0">
                <a:solidFill>
                  <a:srgbClr val="5B6660"/>
                </a:solidFill>
                <a:latin typeface="Calibri" pitchFamily="34" charset="0"/>
                <a:ea typeface="Calibri" pitchFamily="34" charset="-122"/>
                <a:cs typeface="Calibri" pitchFamily="34" charset="-120"/>
              </a:rPr>
              <a:t>the retriever's probability of document z given the query x (from the bi-encoder retrieval score).</a:t>
            </a:r>
            <a:endParaRPr lang="en-US" sz="1450" dirty="0"/>
          </a:p>
        </p:txBody>
      </p:sp>
      <p:sp>
        <p:nvSpPr>
          <p:cNvPr id="9" name="Text 7"/>
          <p:cNvSpPr/>
          <p:nvPr/>
        </p:nvSpPr>
        <p:spPr>
          <a:xfrm>
            <a:off x="868680" y="397764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pθ(y|x,z)  </a:t>
            </a:r>
            <a:pPr indent="0" marL="0">
              <a:buNone/>
            </a:pPr>
            <a:r>
              <a:rPr lang="en-US" sz="1400" dirty="0">
                <a:solidFill>
                  <a:srgbClr val="5B6660"/>
                </a:solidFill>
                <a:latin typeface="Calibri" pitchFamily="34" charset="0"/>
                <a:ea typeface="Calibri" pitchFamily="34" charset="-122"/>
                <a:cs typeface="Calibri" pitchFamily="34" charset="-120"/>
              </a:rPr>
              <a:t>the generator's probability of the output y given the query and that one document.</a:t>
            </a:r>
            <a:endParaRPr lang="en-US" sz="1450" dirty="0"/>
          </a:p>
        </p:txBody>
      </p:sp>
      <p:sp>
        <p:nvSpPr>
          <p:cNvPr id="10" name="Text 8"/>
          <p:cNvSpPr/>
          <p:nvPr/>
        </p:nvSpPr>
        <p:spPr>
          <a:xfrm>
            <a:off x="868680" y="452628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RAG-Sequence  </a:t>
            </a:r>
            <a:pPr indent="0" marL="0">
              <a:buNone/>
            </a:pPr>
            <a:r>
              <a:rPr lang="en-US" sz="1400" dirty="0">
                <a:solidFill>
                  <a:srgbClr val="5B6660"/>
                </a:solidFill>
                <a:latin typeface="Calibri" pitchFamily="34" charset="0"/>
                <a:ea typeface="Calibri" pitchFamily="34" charset="-122"/>
                <a:cs typeface="Calibri" pitchFamily="34" charset="-120"/>
              </a:rPr>
              <a:t>uses the same retrieved document for the whole output sequence.</a:t>
            </a:r>
            <a:endParaRPr lang="en-US" sz="1450" dirty="0"/>
          </a:p>
        </p:txBody>
      </p:sp>
      <p:sp>
        <p:nvSpPr>
          <p:cNvPr id="11" name="Text 9"/>
          <p:cNvSpPr/>
          <p:nvPr/>
        </p:nvSpPr>
        <p:spPr>
          <a:xfrm>
            <a:off x="868680" y="507492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RAG-Token  </a:t>
            </a:r>
            <a:pPr indent="0" marL="0">
              <a:buNone/>
            </a:pPr>
            <a:r>
              <a:rPr lang="en-US" sz="1400" dirty="0">
                <a:solidFill>
                  <a:srgbClr val="5B6660"/>
                </a:solidFill>
                <a:latin typeface="Calibri" pitchFamily="34" charset="0"/>
                <a:ea typeface="Calibri" pitchFamily="34" charset="-122"/>
                <a:cs typeface="Calibri" pitchFamily="34" charset="-120"/>
              </a:rPr>
              <a:t>can draw a different document for every generated token, letting the answer combine facts from several sources.</a:t>
            </a:r>
            <a:endParaRPr lang="en-US" sz="1450" dirty="0"/>
          </a:p>
        </p:txBody>
      </p:sp>
      <p:sp>
        <p:nvSpPr>
          <p:cNvPr id="12" name="Text 10"/>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TWO COMPONENTS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A Basic RAG Architecture</a:t>
            </a:r>
            <a:endParaRPr lang="en-US" sz="2700" dirty="0"/>
          </a:p>
        </p:txBody>
      </p:sp>
      <p:sp>
        <p:nvSpPr>
          <p:cNvPr id="5" name="Shape 3"/>
          <p:cNvSpPr/>
          <p:nvPr/>
        </p:nvSpPr>
        <p:spPr>
          <a:xfrm>
            <a:off x="868680" y="2377440"/>
            <a:ext cx="2320290" cy="1371600"/>
          </a:xfrm>
          <a:prstGeom prst="roundRect">
            <a:avLst>
              <a:gd name="adj" fmla="val 5333"/>
            </a:avLst>
          </a:prstGeom>
          <a:solidFill>
            <a:srgbClr val="E4F0E9"/>
          </a:solidFill>
          <a:ln w="12700">
            <a:solidFill>
              <a:srgbClr val="2F6B4F"/>
            </a:solidFill>
            <a:prstDash val="solid"/>
          </a:ln>
        </p:spPr>
      </p:sp>
      <p:sp>
        <p:nvSpPr>
          <p:cNvPr id="6" name="Text 4"/>
          <p:cNvSpPr/>
          <p:nvPr/>
        </p:nvSpPr>
        <p:spPr>
          <a:xfrm>
            <a:off x="941832" y="2468880"/>
            <a:ext cx="217398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External</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Memory</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(docs, tables, chat)</a:t>
            </a:r>
            <a:endParaRPr lang="en-US" sz="1250" dirty="0"/>
          </a:p>
        </p:txBody>
      </p:sp>
      <p:sp>
        <p:nvSpPr>
          <p:cNvPr id="7" name="Text 5"/>
          <p:cNvSpPr/>
          <p:nvPr/>
        </p:nvSpPr>
        <p:spPr>
          <a:xfrm>
            <a:off x="318897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8" name="Shape 6"/>
          <p:cNvSpPr/>
          <p:nvPr/>
        </p:nvSpPr>
        <p:spPr>
          <a:xfrm>
            <a:off x="3509010" y="2377440"/>
            <a:ext cx="2320290" cy="1371600"/>
          </a:xfrm>
          <a:prstGeom prst="roundRect">
            <a:avLst>
              <a:gd name="adj" fmla="val 5333"/>
            </a:avLst>
          </a:prstGeom>
          <a:solidFill>
            <a:srgbClr val="E4F0E9"/>
          </a:solidFill>
          <a:ln w="12700">
            <a:solidFill>
              <a:srgbClr val="2F6B4F"/>
            </a:solidFill>
            <a:prstDash val="solid"/>
          </a:ln>
        </p:spPr>
      </p:sp>
      <p:sp>
        <p:nvSpPr>
          <p:cNvPr id="9" name="Text 7"/>
          <p:cNvSpPr/>
          <p:nvPr/>
        </p:nvSpPr>
        <p:spPr>
          <a:xfrm>
            <a:off x="3582162" y="2468880"/>
            <a:ext cx="217398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Retriever</a:t>
            </a:r>
            <a:endParaRPr lang="en-US" sz="1250" dirty="0"/>
          </a:p>
        </p:txBody>
      </p:sp>
      <p:sp>
        <p:nvSpPr>
          <p:cNvPr id="10" name="Text 8"/>
          <p:cNvSpPr/>
          <p:nvPr/>
        </p:nvSpPr>
        <p:spPr>
          <a:xfrm>
            <a:off x="582930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1" name="Shape 9"/>
          <p:cNvSpPr/>
          <p:nvPr/>
        </p:nvSpPr>
        <p:spPr>
          <a:xfrm>
            <a:off x="6149340" y="2377440"/>
            <a:ext cx="2320290" cy="1371600"/>
          </a:xfrm>
          <a:prstGeom prst="roundRect">
            <a:avLst>
              <a:gd name="adj" fmla="val 5333"/>
            </a:avLst>
          </a:prstGeom>
          <a:solidFill>
            <a:srgbClr val="E4F0E9"/>
          </a:solidFill>
          <a:ln w="12700">
            <a:solidFill>
              <a:srgbClr val="2F6B4F"/>
            </a:solidFill>
            <a:prstDash val="solid"/>
          </a:ln>
        </p:spPr>
      </p:sp>
      <p:sp>
        <p:nvSpPr>
          <p:cNvPr id="12" name="Text 10"/>
          <p:cNvSpPr/>
          <p:nvPr/>
        </p:nvSpPr>
        <p:spPr>
          <a:xfrm>
            <a:off x="6222492" y="2468880"/>
            <a:ext cx="217398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Generative</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Model</a:t>
            </a:r>
            <a:endParaRPr lang="en-US" sz="1250" dirty="0"/>
          </a:p>
        </p:txBody>
      </p:sp>
      <p:sp>
        <p:nvSpPr>
          <p:cNvPr id="13" name="Text 11"/>
          <p:cNvSpPr/>
          <p:nvPr/>
        </p:nvSpPr>
        <p:spPr>
          <a:xfrm>
            <a:off x="846963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8789670" y="2377440"/>
            <a:ext cx="2320290" cy="1371600"/>
          </a:xfrm>
          <a:prstGeom prst="roundRect">
            <a:avLst>
              <a:gd name="adj" fmla="val 5333"/>
            </a:avLst>
          </a:prstGeom>
          <a:solidFill>
            <a:srgbClr val="E4F0E9"/>
          </a:solidFill>
          <a:ln w="12700">
            <a:solidFill>
              <a:srgbClr val="2F6B4F"/>
            </a:solidFill>
            <a:prstDash val="solid"/>
          </a:ln>
        </p:spPr>
      </p:sp>
      <p:sp>
        <p:nvSpPr>
          <p:cNvPr id="15" name="Text 13"/>
          <p:cNvSpPr/>
          <p:nvPr/>
        </p:nvSpPr>
        <p:spPr>
          <a:xfrm>
            <a:off x="8862822" y="2468880"/>
            <a:ext cx="217398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Response</a:t>
            </a:r>
            <a:endParaRPr lang="en-US" sz="1250" dirty="0"/>
          </a:p>
        </p:txBody>
      </p:sp>
      <p:sp>
        <p:nvSpPr>
          <p:cNvPr id="16" name="Text 14"/>
          <p:cNvSpPr/>
          <p:nvPr/>
        </p:nvSpPr>
        <p:spPr>
          <a:xfrm>
            <a:off x="868680" y="4114800"/>
            <a:ext cx="10241280" cy="1371600"/>
          </a:xfrm>
          <a:prstGeom prst="rect">
            <a:avLst/>
          </a:prstGeom>
          <a:noFill/>
          <a:ln/>
        </p:spPr>
        <p:txBody>
          <a:bodyPr wrap="square" rtlCol="0" anchor="ctr"/>
          <a:lstStyle/>
          <a:p>
            <a:pPr indent="0" marL="0">
              <a:buNone/>
            </a:pPr>
            <a:r>
              <a:rPr lang="en-US" sz="1350" dirty="0">
                <a:solidFill>
                  <a:srgbClr val="5B6660"/>
                </a:solidFill>
                <a:latin typeface="Calibri" pitchFamily="34" charset="0"/>
                <a:ea typeface="Calibri" pitchFamily="34" charset="-122"/>
                <a:cs typeface="Calibri" pitchFamily="34" charset="-120"/>
              </a:rPr>
              <a:t>The prompt goes to both the retriever and the generator. The retriever pulls context relevant to the query from external memory; the generator conditions on the original prompt plus that retrieved context to produce the final response.</a:t>
            </a:r>
            <a:endParaRPr lang="en-US" sz="1350" dirty="0"/>
          </a:p>
        </p:txBody>
      </p:sp>
      <p:sp>
        <p:nvSpPr>
          <p:cNvPr id="17" name="Text 15"/>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731520" y="2651760"/>
            <a:ext cx="9144000" cy="457200"/>
          </a:xfrm>
          <a:prstGeom prst="rect">
            <a:avLst/>
          </a:prstGeom>
          <a:noFill/>
          <a:ln/>
        </p:spPr>
        <p:txBody>
          <a:bodyPr wrap="square" rtlCol="0" anchor="ctr"/>
          <a:lstStyle/>
          <a:p>
            <a:pPr indent="0" marL="0">
              <a:buNone/>
            </a:pPr>
            <a:r>
              <a:rPr lang="en-US" sz="1500" spc="300" kern="0" dirty="0">
                <a:solidFill>
                  <a:srgbClr val="7FBF9E"/>
                </a:solidFill>
                <a:latin typeface="Courier New" pitchFamily="34" charset="0"/>
                <a:ea typeface="Courier New" pitchFamily="34" charset="-122"/>
                <a:cs typeface="Courier New" pitchFamily="34" charset="-120"/>
              </a:rPr>
              <a:t>PART 2</a:t>
            </a:r>
            <a:endParaRPr lang="en-US" sz="1500" dirty="0"/>
          </a:p>
        </p:txBody>
      </p:sp>
      <p:sp>
        <p:nvSpPr>
          <p:cNvPr id="3" name="Text 1"/>
          <p:cNvSpPr/>
          <p:nvPr/>
        </p:nvSpPr>
        <p:spPr>
          <a:xfrm>
            <a:off x="731520" y="3108960"/>
            <a:ext cx="10515600" cy="1280160"/>
          </a:xfrm>
          <a:prstGeom prst="rect">
            <a:avLst/>
          </a:prstGeom>
          <a:noFill/>
          <a:ln/>
        </p:spPr>
        <p:txBody>
          <a:bodyPr wrap="square" rtlCol="0" anchor="ctr"/>
          <a:lstStyle/>
          <a:p>
            <a:pPr indent="0" marL="0">
              <a:buNone/>
            </a:pPr>
            <a:r>
              <a:rPr lang="en-US" sz="3800" b="1" dirty="0">
                <a:solidFill>
                  <a:srgbClr val="F5F2E7"/>
                </a:solidFill>
                <a:latin typeface="Cambria" pitchFamily="34" charset="0"/>
                <a:ea typeface="Cambria" pitchFamily="34" charset="-122"/>
                <a:cs typeface="Cambria" pitchFamily="34" charset="-120"/>
              </a:rPr>
              <a:t>Ingestion &amp; Retrieval</a:t>
            </a:r>
            <a:endParaRPr lang="en-US" sz="3800" dirty="0"/>
          </a:p>
        </p:txBody>
      </p:sp>
      <p:sp>
        <p:nvSpPr>
          <p:cNvPr id="4" name="Text 2"/>
          <p:cNvSpPr/>
          <p:nvPr/>
        </p:nvSpPr>
        <p:spPr>
          <a:xfrm>
            <a:off x="731520" y="4251960"/>
            <a:ext cx="9144000" cy="731520"/>
          </a:xfrm>
          <a:prstGeom prst="rect">
            <a:avLst/>
          </a:prstGeom>
          <a:noFill/>
          <a:ln/>
        </p:spPr>
        <p:txBody>
          <a:bodyPr wrap="square" rtlCol="0" anchor="ctr"/>
          <a:lstStyle/>
          <a:p>
            <a:pPr indent="0" marL="0">
              <a:buNone/>
            </a:pPr>
            <a:r>
              <a:rPr lang="en-US" sz="1500" dirty="0">
                <a:solidFill>
                  <a:srgbClr val="AEB8AC"/>
                </a:solidFill>
                <a:latin typeface="Calibri" pitchFamily="34" charset="0"/>
                <a:ea typeface="Calibri" pitchFamily="34" charset="-122"/>
                <a:cs typeface="Calibri" pitchFamily="34" charset="-120"/>
              </a:rPr>
              <a:t>Turning raw documents into a searchable index, and searching it well.</a:t>
            </a:r>
            <a:endParaRPr lang="en-US" sz="1500" dirty="0"/>
          </a:p>
        </p:txBody>
      </p:sp>
      <p:sp>
        <p:nvSpPr>
          <p:cNvPr id="5"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6E84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OVERVIEW</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The Data Ingestion Pipeline</a:t>
            </a:r>
            <a:endParaRPr lang="en-US" sz="2700" dirty="0"/>
          </a:p>
        </p:txBody>
      </p:sp>
      <p:sp>
        <p:nvSpPr>
          <p:cNvPr id="5" name="Shape 3"/>
          <p:cNvSpPr/>
          <p:nvPr/>
        </p:nvSpPr>
        <p:spPr>
          <a:xfrm>
            <a:off x="868680" y="2377440"/>
            <a:ext cx="1440180" cy="1371600"/>
          </a:xfrm>
          <a:prstGeom prst="roundRect">
            <a:avLst>
              <a:gd name="adj" fmla="val 5333"/>
            </a:avLst>
          </a:prstGeom>
          <a:solidFill>
            <a:srgbClr val="E4F0E9"/>
          </a:solidFill>
          <a:ln w="12700">
            <a:solidFill>
              <a:srgbClr val="2F6B4F"/>
            </a:solidFill>
            <a:prstDash val="solid"/>
          </a:ln>
        </p:spPr>
      </p:sp>
      <p:sp>
        <p:nvSpPr>
          <p:cNvPr id="6" name="Text 4"/>
          <p:cNvSpPr/>
          <p:nvPr/>
        </p:nvSpPr>
        <p:spPr>
          <a:xfrm>
            <a:off x="94183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Raw</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documents</a:t>
            </a:r>
            <a:endParaRPr lang="en-US" sz="1250" dirty="0"/>
          </a:p>
        </p:txBody>
      </p:sp>
      <p:sp>
        <p:nvSpPr>
          <p:cNvPr id="7" name="Text 5"/>
          <p:cNvSpPr/>
          <p:nvPr/>
        </p:nvSpPr>
        <p:spPr>
          <a:xfrm>
            <a:off x="230886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8" name="Shape 6"/>
          <p:cNvSpPr/>
          <p:nvPr/>
        </p:nvSpPr>
        <p:spPr>
          <a:xfrm>
            <a:off x="2628900" y="2377440"/>
            <a:ext cx="1440180" cy="1371600"/>
          </a:xfrm>
          <a:prstGeom prst="roundRect">
            <a:avLst>
              <a:gd name="adj" fmla="val 5333"/>
            </a:avLst>
          </a:prstGeom>
          <a:solidFill>
            <a:srgbClr val="E4F0E9"/>
          </a:solidFill>
          <a:ln w="12700">
            <a:solidFill>
              <a:srgbClr val="2F6B4F"/>
            </a:solidFill>
            <a:prstDash val="solid"/>
          </a:ln>
        </p:spPr>
      </p:sp>
      <p:sp>
        <p:nvSpPr>
          <p:cNvPr id="9" name="Text 7"/>
          <p:cNvSpPr/>
          <p:nvPr/>
        </p:nvSpPr>
        <p:spPr>
          <a:xfrm>
            <a:off x="270205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Parsing /</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OCR</a:t>
            </a:r>
            <a:endParaRPr lang="en-US" sz="1250" dirty="0"/>
          </a:p>
        </p:txBody>
      </p:sp>
      <p:sp>
        <p:nvSpPr>
          <p:cNvPr id="10" name="Text 8"/>
          <p:cNvSpPr/>
          <p:nvPr/>
        </p:nvSpPr>
        <p:spPr>
          <a:xfrm>
            <a:off x="406908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1" name="Shape 9"/>
          <p:cNvSpPr/>
          <p:nvPr/>
        </p:nvSpPr>
        <p:spPr>
          <a:xfrm>
            <a:off x="4389120" y="2377440"/>
            <a:ext cx="1440180" cy="1371600"/>
          </a:xfrm>
          <a:prstGeom prst="roundRect">
            <a:avLst>
              <a:gd name="adj" fmla="val 5333"/>
            </a:avLst>
          </a:prstGeom>
          <a:solidFill>
            <a:srgbClr val="E4F0E9"/>
          </a:solidFill>
          <a:ln w="12700">
            <a:solidFill>
              <a:srgbClr val="2F6B4F"/>
            </a:solidFill>
            <a:prstDash val="solid"/>
          </a:ln>
        </p:spPr>
      </p:sp>
      <p:sp>
        <p:nvSpPr>
          <p:cNvPr id="12" name="Text 10"/>
          <p:cNvSpPr/>
          <p:nvPr/>
        </p:nvSpPr>
        <p:spPr>
          <a:xfrm>
            <a:off x="446227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Text</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cleaning</a:t>
            </a:r>
            <a:endParaRPr lang="en-US" sz="1250" dirty="0"/>
          </a:p>
        </p:txBody>
      </p:sp>
      <p:sp>
        <p:nvSpPr>
          <p:cNvPr id="13" name="Text 11"/>
          <p:cNvSpPr/>
          <p:nvPr/>
        </p:nvSpPr>
        <p:spPr>
          <a:xfrm>
            <a:off x="582930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6149340" y="2377440"/>
            <a:ext cx="1440180" cy="1371600"/>
          </a:xfrm>
          <a:prstGeom prst="roundRect">
            <a:avLst>
              <a:gd name="adj" fmla="val 5333"/>
            </a:avLst>
          </a:prstGeom>
          <a:solidFill>
            <a:srgbClr val="E4F0E9"/>
          </a:solidFill>
          <a:ln w="12700">
            <a:solidFill>
              <a:srgbClr val="2F6B4F"/>
            </a:solidFill>
            <a:prstDash val="solid"/>
          </a:ln>
        </p:spPr>
      </p:sp>
      <p:sp>
        <p:nvSpPr>
          <p:cNvPr id="15" name="Text 13"/>
          <p:cNvSpPr/>
          <p:nvPr/>
        </p:nvSpPr>
        <p:spPr>
          <a:xfrm>
            <a:off x="622249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Chunking</a:t>
            </a:r>
            <a:endParaRPr lang="en-US" sz="1250" dirty="0"/>
          </a:p>
        </p:txBody>
      </p:sp>
      <p:sp>
        <p:nvSpPr>
          <p:cNvPr id="16" name="Text 14"/>
          <p:cNvSpPr/>
          <p:nvPr/>
        </p:nvSpPr>
        <p:spPr>
          <a:xfrm>
            <a:off x="758952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7" name="Shape 15"/>
          <p:cNvSpPr/>
          <p:nvPr/>
        </p:nvSpPr>
        <p:spPr>
          <a:xfrm>
            <a:off x="7909560" y="2377440"/>
            <a:ext cx="1440180" cy="1371600"/>
          </a:xfrm>
          <a:prstGeom prst="roundRect">
            <a:avLst>
              <a:gd name="adj" fmla="val 5333"/>
            </a:avLst>
          </a:prstGeom>
          <a:solidFill>
            <a:srgbClr val="E4F0E9"/>
          </a:solidFill>
          <a:ln w="12700">
            <a:solidFill>
              <a:srgbClr val="2F6B4F"/>
            </a:solidFill>
            <a:prstDash val="solid"/>
          </a:ln>
        </p:spPr>
      </p:sp>
      <p:sp>
        <p:nvSpPr>
          <p:cNvPr id="18" name="Text 16"/>
          <p:cNvSpPr/>
          <p:nvPr/>
        </p:nvSpPr>
        <p:spPr>
          <a:xfrm>
            <a:off x="798271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Embedding</a:t>
            </a:r>
            <a:endParaRPr lang="en-US" sz="1250" dirty="0"/>
          </a:p>
        </p:txBody>
      </p:sp>
      <p:sp>
        <p:nvSpPr>
          <p:cNvPr id="19" name="Text 17"/>
          <p:cNvSpPr/>
          <p:nvPr/>
        </p:nvSpPr>
        <p:spPr>
          <a:xfrm>
            <a:off x="934974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20" name="Shape 18"/>
          <p:cNvSpPr/>
          <p:nvPr/>
        </p:nvSpPr>
        <p:spPr>
          <a:xfrm>
            <a:off x="9669780" y="2377440"/>
            <a:ext cx="1440180" cy="1371600"/>
          </a:xfrm>
          <a:prstGeom prst="roundRect">
            <a:avLst>
              <a:gd name="adj" fmla="val 5333"/>
            </a:avLst>
          </a:prstGeom>
          <a:solidFill>
            <a:srgbClr val="E4F0E9"/>
          </a:solidFill>
          <a:ln w="12700">
            <a:solidFill>
              <a:srgbClr val="2F6B4F"/>
            </a:solidFill>
            <a:prstDash val="solid"/>
          </a:ln>
        </p:spPr>
      </p:sp>
      <p:sp>
        <p:nvSpPr>
          <p:cNvPr id="21" name="Text 19"/>
          <p:cNvSpPr/>
          <p:nvPr/>
        </p:nvSpPr>
        <p:spPr>
          <a:xfrm>
            <a:off x="974293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Index</a:t>
            </a:r>
            <a:endParaRPr lang="en-US" sz="1250" dirty="0"/>
          </a:p>
        </p:txBody>
      </p:sp>
      <p:sp>
        <p:nvSpPr>
          <p:cNvPr id="22" name="Text 20"/>
          <p:cNvSpPr/>
          <p:nvPr/>
        </p:nvSpPr>
        <p:spPr>
          <a:xfrm>
            <a:off x="868680" y="4114800"/>
            <a:ext cx="10241280" cy="1371600"/>
          </a:xfrm>
          <a:prstGeom prst="rect">
            <a:avLst/>
          </a:prstGeom>
          <a:noFill/>
          <a:ln/>
        </p:spPr>
        <p:txBody>
          <a:bodyPr wrap="square" rtlCol="0" anchor="ctr"/>
          <a:lstStyle/>
          <a:p>
            <a:pPr indent="0" marL="0">
              <a:buNone/>
            </a:pPr>
            <a:r>
              <a:rPr lang="en-US" sz="1350" dirty="0">
                <a:solidFill>
                  <a:srgbClr val="5B6660"/>
                </a:solidFill>
                <a:latin typeface="Calibri" pitchFamily="34" charset="0"/>
                <a:ea typeface="Calibri" pitchFamily="34" charset="-122"/>
                <a:cs typeface="Calibri" pitchFamily="34" charset="-120"/>
              </a:rPr>
              <a:t>Ingestion happens once per document (or whenever documents are added or updated). Each stage can silently degrade retrieval quality if done poorly, so it deserves as much engineering attention as the model choice itself.</a:t>
            </a:r>
            <a:endParaRPr lang="en-US" sz="1350" dirty="0"/>
          </a:p>
        </p:txBody>
      </p:sp>
      <p:sp>
        <p:nvSpPr>
          <p:cNvPr id="23" name="Text 21"/>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INGESTION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Document Parsing &amp; OCR</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Structured sources.  </a:t>
            </a:r>
            <a:pPr indent="0" marL="0">
              <a:buNone/>
            </a:pPr>
            <a:r>
              <a:rPr lang="en-US" sz="1450" dirty="0">
                <a:solidFill>
                  <a:srgbClr val="5B6660"/>
                </a:solidFill>
                <a:latin typeface="Calibri" pitchFamily="34" charset="0"/>
                <a:ea typeface="Calibri" pitchFamily="34" charset="-122"/>
                <a:cs typeface="Calibri" pitchFamily="34" charset="-120"/>
              </a:rPr>
              <a:t>PDFs, Word documents, HTML, and Markdown each need a dedicated parser to recover clean text, tables, and headings.</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Scanned documents need OCR.  </a:t>
            </a:r>
            <a:pPr indent="0" marL="0">
              <a:buNone/>
            </a:pPr>
            <a:r>
              <a:rPr lang="en-US" sz="1450" dirty="0">
                <a:solidFill>
                  <a:srgbClr val="5B6660"/>
                </a:solidFill>
                <a:latin typeface="Calibri" pitchFamily="34" charset="0"/>
                <a:ea typeface="Calibri" pitchFamily="34" charset="-122"/>
                <a:cs typeface="Calibri" pitchFamily="34" charset="-120"/>
              </a:rPr>
              <a:t>Optical character recognition converts an image of text into machine-readable characters before any chunking or embedding is possible.</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Preserve structure where it matters.  </a:t>
            </a:r>
            <a:pPr indent="0" marL="0">
              <a:buNone/>
            </a:pPr>
            <a:r>
              <a:rPr lang="en-US" sz="1450" dirty="0">
                <a:solidFill>
                  <a:srgbClr val="5B6660"/>
                </a:solidFill>
                <a:latin typeface="Calibri" pitchFamily="34" charset="0"/>
                <a:ea typeface="Calibri" pitchFamily="34" charset="-122"/>
                <a:cs typeface="Calibri" pitchFamily="34" charset="-120"/>
              </a:rPr>
              <a:t>Titles, section headers, and tables carry retrieval-relevant signal; flattening everything into a single blob of text discards it.</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Multimodal content.  </a:t>
            </a:r>
            <a:pPr indent="0" marL="0">
              <a:buNone/>
            </a:pPr>
            <a:r>
              <a:rPr lang="en-US" sz="1450" dirty="0">
                <a:solidFill>
                  <a:srgbClr val="5B6660"/>
                </a:solidFill>
                <a:latin typeface="Calibri" pitchFamily="34" charset="0"/>
                <a:ea typeface="Calibri" pitchFamily="34" charset="-122"/>
                <a:cs typeface="Calibri" pitchFamily="34" charset="-120"/>
              </a:rPr>
              <a:t>Figures, charts, and images may need separate extraction pipelines (e.g., image captioning) if they should be retrievable.</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INGESTION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Text Cleaning</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Remove boilerplate.  </a:t>
            </a:r>
            <a:pPr indent="0" marL="0">
              <a:buNone/>
            </a:pPr>
            <a:r>
              <a:rPr lang="en-US" sz="1450" dirty="0">
                <a:solidFill>
                  <a:srgbClr val="5B6660"/>
                </a:solidFill>
                <a:latin typeface="Calibri" pitchFamily="34" charset="0"/>
                <a:ea typeface="Calibri" pitchFamily="34" charset="-122"/>
                <a:cs typeface="Calibri" pitchFamily="34" charset="-120"/>
              </a:rPr>
              <a:t>Headers, footers, navigation menus, and repeated legal text add noise without adding retrievable signal.</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Normalize whitespace and encoding.  </a:t>
            </a:r>
            <a:pPr indent="0" marL="0">
              <a:buNone/>
            </a:pPr>
            <a:r>
              <a:rPr lang="en-US" sz="1450" dirty="0">
                <a:solidFill>
                  <a:srgbClr val="5B6660"/>
                </a:solidFill>
                <a:latin typeface="Calibri" pitchFamily="34" charset="0"/>
                <a:ea typeface="Calibri" pitchFamily="34" charset="-122"/>
                <a:cs typeface="Calibri" pitchFamily="34" charset="-120"/>
              </a:rPr>
              <a:t>Inconsistent line breaks and character encodings can silently break downstream tokenization.</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Deduplicate near-identical passages.  </a:t>
            </a:r>
            <a:pPr indent="0" marL="0">
              <a:buNone/>
            </a:pPr>
            <a:r>
              <a:rPr lang="en-US" sz="1450" dirty="0">
                <a:solidFill>
                  <a:srgbClr val="5B6660"/>
                </a:solidFill>
                <a:latin typeface="Calibri" pitchFamily="34" charset="0"/>
                <a:ea typeface="Calibri" pitchFamily="34" charset="-122"/>
                <a:cs typeface="Calibri" pitchFamily="34" charset="-120"/>
              </a:rPr>
              <a:t>Duplicated chunks waste index space and can cause the same passage to dominate the top-k results.</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Keep it lossless where possible.  </a:t>
            </a:r>
            <a:pPr indent="0" marL="0">
              <a:buNone/>
            </a:pPr>
            <a:r>
              <a:rPr lang="en-US" sz="1450" dirty="0">
                <a:solidFill>
                  <a:srgbClr val="5B6660"/>
                </a:solidFill>
                <a:latin typeface="Calibri" pitchFamily="34" charset="0"/>
                <a:ea typeface="Calibri" pitchFamily="34" charset="-122"/>
                <a:cs typeface="Calibri" pitchFamily="34" charset="-120"/>
              </a:rPr>
              <a:t>Aggressive cleaning can remove the very details (codes, names, numbers) a query might be searching for.</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SPLITTING DOCUMENTS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Chunking Strategies</a:t>
            </a:r>
            <a:endParaRPr lang="en-US" sz="2700" dirty="0"/>
          </a:p>
        </p:txBody>
      </p:sp>
      <p:sp>
        <p:nvSpPr>
          <p:cNvPr id="5" name="Shape 3"/>
          <p:cNvSpPr/>
          <p:nvPr/>
        </p:nvSpPr>
        <p:spPr>
          <a:xfrm>
            <a:off x="868680" y="1463040"/>
            <a:ext cx="2354580" cy="4800600"/>
          </a:xfrm>
          <a:prstGeom prst="roundRect">
            <a:avLst>
              <a:gd name="adj" fmla="val 2330"/>
            </a:avLst>
          </a:prstGeom>
          <a:solidFill>
            <a:srgbClr val="FFFFFF"/>
          </a:solidFill>
          <a:ln w="12700">
            <a:solidFill>
              <a:srgbClr val="2F6B4F"/>
            </a:solidFill>
            <a:prstDash val="solid"/>
          </a:ln>
        </p:spPr>
      </p:sp>
      <p:sp>
        <p:nvSpPr>
          <p:cNvPr id="6" name="Text 4"/>
          <p:cNvSpPr/>
          <p:nvPr/>
        </p:nvSpPr>
        <p:spPr>
          <a:xfrm>
            <a:off x="1033272" y="1600200"/>
            <a:ext cx="2025396" cy="365760"/>
          </a:xfrm>
          <a:prstGeom prst="rect">
            <a:avLst/>
          </a:prstGeom>
          <a:noFill/>
          <a:ln/>
        </p:spPr>
        <p:txBody>
          <a:bodyPr wrap="square" rtlCol="0" anchor="ctr"/>
          <a:lstStyle/>
          <a:p>
            <a:pPr indent="0" marL="0">
              <a:buNone/>
            </a:pPr>
            <a:r>
              <a:rPr lang="en-US" sz="1350" b="1" dirty="0">
                <a:solidFill>
                  <a:srgbClr val="2F6B4F"/>
                </a:solidFill>
                <a:latin typeface="Calibri" pitchFamily="34" charset="0"/>
                <a:ea typeface="Calibri" pitchFamily="34" charset="-122"/>
                <a:cs typeface="Calibri" pitchFamily="34" charset="-120"/>
              </a:rPr>
              <a:t>Fixed-size</a:t>
            </a:r>
            <a:endParaRPr lang="en-US" sz="1350" dirty="0"/>
          </a:p>
        </p:txBody>
      </p:sp>
      <p:sp>
        <p:nvSpPr>
          <p:cNvPr id="7" name="Text 5"/>
          <p:cNvSpPr/>
          <p:nvPr/>
        </p:nvSpPr>
        <p:spPr>
          <a:xfrm>
            <a:off x="1033272" y="2011680"/>
            <a:ext cx="2025396" cy="4114800"/>
          </a:xfrm>
          <a:prstGeom prst="rect">
            <a:avLst/>
          </a:prstGeom>
          <a:noFill/>
          <a:ln/>
        </p:spPr>
        <p:txBody>
          <a:bodyPr wrap="square" rtlCol="0" anchor="ctr"/>
          <a:lstStyle/>
          <a:p>
            <a:pPr indent="0" marL="0">
              <a:buNone/>
            </a:pPr>
            <a:r>
              <a:rPr lang="en-US" sz="1150" dirty="0">
                <a:solidFill>
                  <a:srgbClr val="5B6660"/>
                </a:solidFill>
                <a:latin typeface="Calibri" pitchFamily="34" charset="0"/>
                <a:ea typeface="Calibri" pitchFamily="34" charset="-122"/>
                <a:cs typeface="Calibri" pitchFamily="34" charset="-120"/>
              </a:rPr>
              <a:t>Split by a fixed unit: characters, words, sentences, or paragraphs (e.g., 512 words per chunk). Simple, fast, but can cut mid-sentence.</a:t>
            </a:r>
            <a:endParaRPr lang="en-US" sz="1150" dirty="0"/>
          </a:p>
        </p:txBody>
      </p:sp>
      <p:sp>
        <p:nvSpPr>
          <p:cNvPr id="8" name="Shape 6"/>
          <p:cNvSpPr/>
          <p:nvPr/>
        </p:nvSpPr>
        <p:spPr>
          <a:xfrm>
            <a:off x="3497580" y="1463040"/>
            <a:ext cx="2354580" cy="4800600"/>
          </a:xfrm>
          <a:prstGeom prst="roundRect">
            <a:avLst>
              <a:gd name="adj" fmla="val 2330"/>
            </a:avLst>
          </a:prstGeom>
          <a:solidFill>
            <a:srgbClr val="FFFFFF"/>
          </a:solidFill>
          <a:ln w="12700">
            <a:solidFill>
              <a:srgbClr val="2F6B4F"/>
            </a:solidFill>
            <a:prstDash val="solid"/>
          </a:ln>
        </p:spPr>
      </p:sp>
      <p:sp>
        <p:nvSpPr>
          <p:cNvPr id="9" name="Text 7"/>
          <p:cNvSpPr/>
          <p:nvPr/>
        </p:nvSpPr>
        <p:spPr>
          <a:xfrm>
            <a:off x="3662172" y="1600200"/>
            <a:ext cx="2025396" cy="365760"/>
          </a:xfrm>
          <a:prstGeom prst="rect">
            <a:avLst/>
          </a:prstGeom>
          <a:noFill/>
          <a:ln/>
        </p:spPr>
        <p:txBody>
          <a:bodyPr wrap="square" rtlCol="0" anchor="ctr"/>
          <a:lstStyle/>
          <a:p>
            <a:pPr indent="0" marL="0">
              <a:buNone/>
            </a:pPr>
            <a:r>
              <a:rPr lang="en-US" sz="1350" b="1" dirty="0">
                <a:solidFill>
                  <a:srgbClr val="2F6B4F"/>
                </a:solidFill>
                <a:latin typeface="Calibri" pitchFamily="34" charset="0"/>
                <a:ea typeface="Calibri" pitchFamily="34" charset="-122"/>
                <a:cs typeface="Calibri" pitchFamily="34" charset="-120"/>
              </a:rPr>
              <a:t>Recursive</a:t>
            </a:r>
            <a:endParaRPr lang="en-US" sz="1350" dirty="0"/>
          </a:p>
        </p:txBody>
      </p:sp>
      <p:sp>
        <p:nvSpPr>
          <p:cNvPr id="10" name="Text 8"/>
          <p:cNvSpPr/>
          <p:nvPr/>
        </p:nvSpPr>
        <p:spPr>
          <a:xfrm>
            <a:off x="3662172" y="2011680"/>
            <a:ext cx="2025396" cy="4114800"/>
          </a:xfrm>
          <a:prstGeom prst="rect">
            <a:avLst/>
          </a:prstGeom>
          <a:noFill/>
          <a:ln/>
        </p:spPr>
        <p:txBody>
          <a:bodyPr wrap="square" rtlCol="0" anchor="ctr"/>
          <a:lstStyle/>
          <a:p>
            <a:pPr indent="0" marL="0">
              <a:buNone/>
            </a:pPr>
            <a:r>
              <a:rPr lang="en-US" sz="1150" dirty="0">
                <a:solidFill>
                  <a:srgbClr val="5B6660"/>
                </a:solidFill>
                <a:latin typeface="Calibri" pitchFamily="34" charset="0"/>
                <a:ea typeface="Calibri" pitchFamily="34" charset="-122"/>
                <a:cs typeface="Calibri" pitchFamily="34" charset="-120"/>
              </a:rPr>
              <a:t>Split top-down: sections, then paragraphs, then sentences, until each chunk fits the size limit. Reduces the chance of breaking related text.</a:t>
            </a:r>
            <a:endParaRPr lang="en-US" sz="1150" dirty="0"/>
          </a:p>
        </p:txBody>
      </p:sp>
      <p:sp>
        <p:nvSpPr>
          <p:cNvPr id="11" name="Shape 9"/>
          <p:cNvSpPr/>
          <p:nvPr/>
        </p:nvSpPr>
        <p:spPr>
          <a:xfrm>
            <a:off x="6126480" y="1463040"/>
            <a:ext cx="2354580" cy="4800600"/>
          </a:xfrm>
          <a:prstGeom prst="roundRect">
            <a:avLst>
              <a:gd name="adj" fmla="val 2330"/>
            </a:avLst>
          </a:prstGeom>
          <a:solidFill>
            <a:srgbClr val="FFFFFF"/>
          </a:solidFill>
          <a:ln w="12700">
            <a:solidFill>
              <a:srgbClr val="2F6B4F"/>
            </a:solidFill>
            <a:prstDash val="solid"/>
          </a:ln>
        </p:spPr>
      </p:sp>
      <p:sp>
        <p:nvSpPr>
          <p:cNvPr id="12" name="Text 10"/>
          <p:cNvSpPr/>
          <p:nvPr/>
        </p:nvSpPr>
        <p:spPr>
          <a:xfrm>
            <a:off x="6291072" y="1600200"/>
            <a:ext cx="2025396" cy="365760"/>
          </a:xfrm>
          <a:prstGeom prst="rect">
            <a:avLst/>
          </a:prstGeom>
          <a:noFill/>
          <a:ln/>
        </p:spPr>
        <p:txBody>
          <a:bodyPr wrap="square" rtlCol="0" anchor="ctr"/>
          <a:lstStyle/>
          <a:p>
            <a:pPr indent="0" marL="0">
              <a:buNone/>
            </a:pPr>
            <a:r>
              <a:rPr lang="en-US" sz="1350" b="1" dirty="0">
                <a:solidFill>
                  <a:srgbClr val="2F6B4F"/>
                </a:solidFill>
                <a:latin typeface="Calibri" pitchFamily="34" charset="0"/>
                <a:ea typeface="Calibri" pitchFamily="34" charset="-122"/>
                <a:cs typeface="Calibri" pitchFamily="34" charset="-120"/>
              </a:rPr>
              <a:t>Content-aware</a:t>
            </a:r>
            <a:endParaRPr lang="en-US" sz="1350" dirty="0"/>
          </a:p>
        </p:txBody>
      </p:sp>
      <p:sp>
        <p:nvSpPr>
          <p:cNvPr id="13" name="Text 11"/>
          <p:cNvSpPr/>
          <p:nvPr/>
        </p:nvSpPr>
        <p:spPr>
          <a:xfrm>
            <a:off x="6291072" y="2011680"/>
            <a:ext cx="2025396" cy="4114800"/>
          </a:xfrm>
          <a:prstGeom prst="rect">
            <a:avLst/>
          </a:prstGeom>
          <a:noFill/>
          <a:ln/>
        </p:spPr>
        <p:txBody>
          <a:bodyPr wrap="square" rtlCol="0" anchor="ctr"/>
          <a:lstStyle/>
          <a:p>
            <a:pPr indent="0" marL="0">
              <a:buNone/>
            </a:pPr>
            <a:r>
              <a:rPr lang="en-US" sz="1150" dirty="0">
                <a:solidFill>
                  <a:srgbClr val="5B6660"/>
                </a:solidFill>
                <a:latin typeface="Calibri" pitchFamily="34" charset="0"/>
                <a:ea typeface="Calibri" pitchFamily="34" charset="-122"/>
                <a:cs typeface="Calibri" pitchFamily="34" charset="-120"/>
              </a:rPr>
              <a:t>Use splitters designed for the content: code-aware splitters for source files, question/answer pairs for FAQ documents.</a:t>
            </a:r>
            <a:endParaRPr lang="en-US" sz="1150" dirty="0"/>
          </a:p>
        </p:txBody>
      </p:sp>
      <p:sp>
        <p:nvSpPr>
          <p:cNvPr id="14" name="Shape 12"/>
          <p:cNvSpPr/>
          <p:nvPr/>
        </p:nvSpPr>
        <p:spPr>
          <a:xfrm>
            <a:off x="8755380" y="1463040"/>
            <a:ext cx="2354580" cy="4800600"/>
          </a:xfrm>
          <a:prstGeom prst="roundRect">
            <a:avLst>
              <a:gd name="adj" fmla="val 2330"/>
            </a:avLst>
          </a:prstGeom>
          <a:solidFill>
            <a:srgbClr val="FFFFFF"/>
          </a:solidFill>
          <a:ln w="12700">
            <a:solidFill>
              <a:srgbClr val="2F6B4F"/>
            </a:solidFill>
            <a:prstDash val="solid"/>
          </a:ln>
        </p:spPr>
      </p:sp>
      <p:sp>
        <p:nvSpPr>
          <p:cNvPr id="15" name="Text 13"/>
          <p:cNvSpPr/>
          <p:nvPr/>
        </p:nvSpPr>
        <p:spPr>
          <a:xfrm>
            <a:off x="8919972" y="1600200"/>
            <a:ext cx="2025396" cy="365760"/>
          </a:xfrm>
          <a:prstGeom prst="rect">
            <a:avLst/>
          </a:prstGeom>
          <a:noFill/>
          <a:ln/>
        </p:spPr>
        <p:txBody>
          <a:bodyPr wrap="square" rtlCol="0" anchor="ctr"/>
          <a:lstStyle/>
          <a:p>
            <a:pPr indent="0" marL="0">
              <a:buNone/>
            </a:pPr>
            <a:r>
              <a:rPr lang="en-US" sz="1350" b="1" dirty="0">
                <a:solidFill>
                  <a:srgbClr val="2F6B4F"/>
                </a:solidFill>
                <a:latin typeface="Calibri" pitchFamily="34" charset="0"/>
                <a:ea typeface="Calibri" pitchFamily="34" charset="-122"/>
                <a:cs typeface="Calibri" pitchFamily="34" charset="-120"/>
              </a:rPr>
              <a:t>Token-based</a:t>
            </a:r>
            <a:endParaRPr lang="en-US" sz="1350" dirty="0"/>
          </a:p>
        </p:txBody>
      </p:sp>
      <p:sp>
        <p:nvSpPr>
          <p:cNvPr id="16" name="Text 14"/>
          <p:cNvSpPr/>
          <p:nvPr/>
        </p:nvSpPr>
        <p:spPr>
          <a:xfrm>
            <a:off x="8919972" y="2011680"/>
            <a:ext cx="2025396" cy="4114800"/>
          </a:xfrm>
          <a:prstGeom prst="rect">
            <a:avLst/>
          </a:prstGeom>
          <a:noFill/>
          <a:ln/>
        </p:spPr>
        <p:txBody>
          <a:bodyPr wrap="square" rtlCol="0" anchor="ctr"/>
          <a:lstStyle/>
          <a:p>
            <a:pPr indent="0" marL="0">
              <a:buNone/>
            </a:pPr>
            <a:r>
              <a:rPr lang="en-US" sz="1150" dirty="0">
                <a:solidFill>
                  <a:srgbClr val="5B6660"/>
                </a:solidFill>
                <a:latin typeface="Calibri" pitchFamily="34" charset="0"/>
                <a:ea typeface="Calibri" pitchFamily="34" charset="-122"/>
                <a:cs typeface="Calibri" pitchFamily="34" charset="-120"/>
              </a:rPr>
              <a:t>Chunk using the generator's own tokenizer as the unit, which aligns chunk size with the model's real context budget.</a:t>
            </a:r>
            <a:endParaRPr lang="en-US" sz="1150" dirty="0"/>
          </a:p>
        </p:txBody>
      </p:sp>
      <p:sp>
        <p:nvSpPr>
          <p:cNvPr id="17" name="Text 15"/>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WHY IT MATTERS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Chunk Overlap</a:t>
            </a:r>
            <a:endParaRPr lang="en-US" sz="2700" dirty="0"/>
          </a:p>
        </p:txBody>
      </p:sp>
      <p:sp>
        <p:nvSpPr>
          <p:cNvPr id="5" name="Text 3"/>
          <p:cNvSpPr/>
          <p:nvPr/>
        </p:nvSpPr>
        <p:spPr>
          <a:xfrm>
            <a:off x="868680" y="1554480"/>
            <a:ext cx="10241280" cy="1188720"/>
          </a:xfrm>
          <a:prstGeom prst="rect">
            <a:avLst/>
          </a:prstGeom>
          <a:noFill/>
          <a:ln/>
        </p:spPr>
        <p:txBody>
          <a:bodyPr wrap="square" rtlCol="0" anchor="ctr"/>
          <a:lstStyle/>
          <a:p>
            <a:pPr algn="l" indent="0" marL="0">
              <a:buNone/>
            </a:pPr>
            <a:r>
              <a:rPr lang="en-US" sz="2600" b="1" dirty="0">
                <a:solidFill>
                  <a:srgbClr val="2F6B4F"/>
                </a:solidFill>
                <a:latin typeface="Cambria" pitchFamily="34" charset="0"/>
                <a:ea typeface="Cambria" pitchFamily="34" charset="-122"/>
                <a:cs typeface="Cambria" pitchFamily="34" charset="-120"/>
              </a:rPr>
              <a:t>"I left my wife a note."  →  "I left my wife"  +  "a note."</a:t>
            </a:r>
            <a:endParaRPr lang="en-US" sz="2600" dirty="0"/>
          </a:p>
        </p:txBody>
      </p:sp>
      <p:sp>
        <p:nvSpPr>
          <p:cNvPr id="6" name="Text 4"/>
          <p:cNvSpPr/>
          <p:nvPr/>
        </p:nvSpPr>
        <p:spPr>
          <a:xfrm>
            <a:off x="868680" y="2697480"/>
            <a:ext cx="10241280" cy="548640"/>
          </a:xfrm>
          <a:prstGeom prst="rect">
            <a:avLst/>
          </a:prstGeom>
          <a:noFill/>
          <a:ln/>
        </p:spPr>
        <p:txBody>
          <a:bodyPr wrap="square" rtlCol="0" anchor="ctr"/>
          <a:lstStyle/>
          <a:p>
            <a:pPr indent="0" marL="0">
              <a:buNone/>
            </a:pPr>
            <a:r>
              <a:rPr lang="en-US" sz="1350" i="1" dirty="0">
                <a:solidFill>
                  <a:srgbClr val="5B6660"/>
                </a:solidFill>
                <a:latin typeface="Calibri" pitchFamily="34" charset="0"/>
                <a:ea typeface="Calibri" pitchFamily="34" charset="-122"/>
                <a:cs typeface="Calibri" pitchFamily="34" charset="-120"/>
              </a:rPr>
              <a:t>Splitting without overlap can sever the exact information a query is looking for; neither half above preserves the original meaning.</a:t>
            </a:r>
            <a:endParaRPr lang="en-US" sz="1350" dirty="0"/>
          </a:p>
        </p:txBody>
      </p:sp>
      <p:sp>
        <p:nvSpPr>
          <p:cNvPr id="7" name="Text 5"/>
          <p:cNvSpPr/>
          <p:nvPr/>
        </p:nvSpPr>
        <p:spPr>
          <a:xfrm>
            <a:off x="868680" y="3429000"/>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The fix:  </a:t>
            </a:r>
            <a:pPr indent="0" marL="0">
              <a:buNone/>
            </a:pPr>
            <a:r>
              <a:rPr lang="en-US" sz="1350" dirty="0">
                <a:solidFill>
                  <a:srgbClr val="5B6660"/>
                </a:solidFill>
                <a:latin typeface="Calibri" pitchFamily="34" charset="0"/>
                <a:ea typeface="Calibri" pitchFamily="34" charset="-122"/>
                <a:cs typeface="Calibri" pitchFamily="34" charset="-120"/>
              </a:rPr>
              <a:t>let consecutive chunks share a small overlapping region (e.g., a 2,048-character chunk with a 20-character overlap) so boundary information survives in at least one chunk.</a:t>
            </a:r>
            <a:endParaRPr lang="en-US" sz="1400" dirty="0"/>
          </a:p>
        </p:txBody>
      </p:sp>
      <p:sp>
        <p:nvSpPr>
          <p:cNvPr id="8" name="Text 6"/>
          <p:cNvSpPr/>
          <p:nvPr/>
        </p:nvSpPr>
        <p:spPr>
          <a:xfrm>
            <a:off x="868680" y="3995928"/>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The cost:  </a:t>
            </a:r>
            <a:pPr indent="0" marL="0">
              <a:buNone/>
            </a:pPr>
            <a:r>
              <a:rPr lang="en-US" sz="1350" dirty="0">
                <a:solidFill>
                  <a:srgbClr val="5B6660"/>
                </a:solidFill>
                <a:latin typeface="Calibri" pitchFamily="34" charset="0"/>
                <a:ea typeface="Calibri" pitchFamily="34" charset="-122"/>
                <a:cs typeface="Calibri" pitchFamily="34" charset="-120"/>
              </a:rPr>
              <a:t>overlap increases the total number of chunks to embed, store, and search, so it is tuned rather than maximized.</a:t>
            </a:r>
            <a:endParaRPr lang="en-US" sz="140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SMALLER VS LARGER</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Chunk Size Trade-offs</a:t>
            </a:r>
            <a:endParaRPr lang="en-US" sz="2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3200400"/>
                <a:gridCol w="4023360"/>
                <a:gridCol w="4114800"/>
              </a:tblGrid>
              <a:tr h="457200">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Smaller chunks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Larger chunks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Diversity of retrieved information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Higher — more distinct chunks fit in the context budget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Lower — fewer, broader chunks fit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Risk of losing information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Higher — a fact split across chunks may not be retrieved as a whole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Lower — more surrounding context stays together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Indexing / storage cost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Higher — more chunks, more embeddings to store and search</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Lower — fewer vectors to manage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Best fit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Precise factual lookup</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Broad, narrative, or code context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640080" y="6309360"/>
            <a:ext cx="10881360" cy="365760"/>
          </a:xfrm>
          <a:prstGeom prst="rect">
            <a:avLst/>
          </a:prstGeom>
          <a:noFill/>
          <a:ln/>
        </p:spPr>
        <p:txBody>
          <a:bodyPr wrap="square" rtlCol="0" anchor="ctr"/>
          <a:lstStyle/>
          <a:p>
            <a:pPr indent="0" marL="0">
              <a:buNone/>
            </a:pPr>
            <a:r>
              <a:rPr lang="en-US" sz="1150" i="1" dirty="0">
                <a:solidFill>
                  <a:srgbClr val="5B6660"/>
                </a:solidFill>
                <a:latin typeface="Calibri" pitchFamily="34" charset="0"/>
                <a:ea typeface="Calibri" pitchFamily="34" charset="-122"/>
                <a:cs typeface="Calibri" pitchFamily="34" charset="-120"/>
              </a:rPr>
              <a:t>There is no universal best chunk size; it is an empirical choice tuned per corpus and use case.</a:t>
            </a:r>
            <a:endParaRPr lang="en-US" sz="1150" dirty="0"/>
          </a:p>
        </p:txBody>
      </p:sp>
      <p:sp>
        <p:nvSpPr>
          <p:cNvPr id="7" name="Text 4"/>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VECTOR SPACE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What Is an Embedding?</a:t>
            </a:r>
            <a:endParaRPr lang="en-US" sz="2700" dirty="0"/>
          </a:p>
        </p:txBody>
      </p:sp>
      <p:sp>
        <p:nvSpPr>
          <p:cNvPr id="5" name="Shape 3"/>
          <p:cNvSpPr/>
          <p:nvPr/>
        </p:nvSpPr>
        <p:spPr>
          <a:xfrm>
            <a:off x="868680" y="1417320"/>
            <a:ext cx="10241280" cy="1234440"/>
          </a:xfrm>
          <a:prstGeom prst="roundRect">
            <a:avLst>
              <a:gd name="adj" fmla="val 5926"/>
            </a:avLst>
          </a:prstGeom>
          <a:solidFill>
            <a:srgbClr val="FFFFFF"/>
          </a:solidFill>
          <a:ln w="12700">
            <a:solidFill>
              <a:srgbClr val="D8D3C2"/>
            </a:solidFill>
            <a:prstDash val="solid"/>
          </a:ln>
        </p:spPr>
      </p:sp>
      <p:sp>
        <p:nvSpPr>
          <p:cNvPr id="6" name="Text 4"/>
          <p:cNvSpPr/>
          <p:nvPr/>
        </p:nvSpPr>
        <p:spPr>
          <a:xfrm>
            <a:off x="1051560" y="1417320"/>
            <a:ext cx="9875520" cy="1234440"/>
          </a:xfrm>
          <a:prstGeom prst="rect">
            <a:avLst/>
          </a:prstGeom>
          <a:noFill/>
          <a:ln/>
        </p:spPr>
        <p:txBody>
          <a:bodyPr wrap="square" rtlCol="0" anchor="ctr"/>
          <a:lstStyle/>
          <a:p>
            <a:pPr algn="ctr" indent="0" marL="0">
              <a:buNone/>
            </a:pPr>
            <a:r>
              <a:rPr lang="en-US" sz="2200" i="1" dirty="0">
                <a:solidFill>
                  <a:srgbClr val="2F6B4F"/>
                </a:solidFill>
                <a:latin typeface="Cambria Math" pitchFamily="34" charset="0"/>
                <a:ea typeface="Cambria Math" pitchFamily="34" charset="-122"/>
                <a:cs typeface="Cambria Math" pitchFamily="34" charset="-120"/>
              </a:rPr>
              <a:t>f( text )  →  ℝᵈ</a:t>
            </a:r>
            <a:endParaRPr lang="en-US" sz="2200" dirty="0"/>
          </a:p>
        </p:txBody>
      </p:sp>
      <p:sp>
        <p:nvSpPr>
          <p:cNvPr id="7" name="Text 5"/>
          <p:cNvSpPr/>
          <p:nvPr/>
        </p:nvSpPr>
        <p:spPr>
          <a:xfrm>
            <a:off x="868680" y="288036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f  </a:t>
            </a:r>
            <a:pPr indent="0" marL="0">
              <a:buNone/>
            </a:pPr>
            <a:r>
              <a:rPr lang="en-US" sz="1400" dirty="0">
                <a:solidFill>
                  <a:srgbClr val="5B6660"/>
                </a:solidFill>
                <a:latin typeface="Calibri" pitchFamily="34" charset="0"/>
                <a:ea typeface="Calibri" pitchFamily="34" charset="-122"/>
                <a:cs typeface="Calibri" pitchFamily="34" charset="-120"/>
              </a:rPr>
              <a:t>is the embedding model: any text (a chunk, a question, a whole document) goes in, a fixed-size dense vector comes out.</a:t>
            </a:r>
            <a:endParaRPr lang="en-US" sz="1450" dirty="0"/>
          </a:p>
        </p:txBody>
      </p:sp>
      <p:sp>
        <p:nvSpPr>
          <p:cNvPr id="8" name="Text 6"/>
          <p:cNvSpPr/>
          <p:nvPr/>
        </p:nvSpPr>
        <p:spPr>
          <a:xfrm>
            <a:off x="868680" y="342900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d  </a:t>
            </a:r>
            <a:pPr indent="0" marL="0">
              <a:buNone/>
            </a:pPr>
            <a:r>
              <a:rPr lang="en-US" sz="1400" dirty="0">
                <a:solidFill>
                  <a:srgbClr val="5B6660"/>
                </a:solidFill>
                <a:latin typeface="Calibri" pitchFamily="34" charset="0"/>
                <a:ea typeface="Calibri" pitchFamily="34" charset="-122"/>
                <a:cs typeface="Calibri" pitchFamily="34" charset="-120"/>
              </a:rPr>
              <a:t>is the embedding dimension (e.g., 1024 for BGE-M3); every vector produced by f lives in the same ℝᵈ space.</a:t>
            </a:r>
            <a:endParaRPr lang="en-US" sz="1450" dirty="0"/>
          </a:p>
        </p:txBody>
      </p:sp>
      <p:sp>
        <p:nvSpPr>
          <p:cNvPr id="9" name="Text 7"/>
          <p:cNvSpPr/>
          <p:nvPr/>
        </p:nvSpPr>
        <p:spPr>
          <a:xfrm>
            <a:off x="868680" y="397764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The core property:  </a:t>
            </a:r>
            <a:pPr indent="0" marL="0">
              <a:buNone/>
            </a:pPr>
            <a:r>
              <a:rPr lang="en-US" sz="1400" dirty="0">
                <a:solidFill>
                  <a:srgbClr val="5B6660"/>
                </a:solidFill>
                <a:latin typeface="Calibri" pitchFamily="34" charset="0"/>
                <a:ea typeface="Calibri" pitchFamily="34" charset="-122"/>
                <a:cs typeface="Calibri" pitchFamily="34" charset="-120"/>
              </a:rPr>
              <a:t>texts with similar meaning are mapped to vectors that are close together in this space, even if they share no words.</a:t>
            </a:r>
            <a:endParaRPr lang="en-US" sz="1450" dirty="0"/>
          </a:p>
        </p:txBody>
      </p:sp>
      <p:sp>
        <p:nvSpPr>
          <p:cNvPr id="10" name="Text 8"/>
          <p:cNvSpPr/>
          <p:nvPr/>
        </p:nvSpPr>
        <p:spPr>
          <a:xfrm>
            <a:off x="868680" y="452628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Embeddings are not the index:  </a:t>
            </a:r>
            <a:pPr indent="0" marL="0">
              <a:buNone/>
            </a:pPr>
            <a:r>
              <a:rPr lang="en-US" sz="1400" dirty="0">
                <a:solidFill>
                  <a:srgbClr val="5B6660"/>
                </a:solidFill>
                <a:latin typeface="Calibri" pitchFamily="34" charset="0"/>
                <a:ea typeface="Calibri" pitchFamily="34" charset="-122"/>
                <a:cs typeface="Calibri" pitchFamily="34" charset="-120"/>
              </a:rPr>
              <a:t>f only produces vectors — a separate component (FAISS) is responsible for storing and searching them.</a:t>
            </a:r>
            <a:endParaRPr lang="en-US" sz="145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EMBEDDING MODEL INTERNALS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BGE-M3 Is a Deep Learning Model</a:t>
            </a:r>
            <a:endParaRPr lang="en-US" sz="2700" dirty="0"/>
          </a:p>
        </p:txBody>
      </p:sp>
      <p:sp>
        <p:nvSpPr>
          <p:cNvPr id="5" name="Shape 3"/>
          <p:cNvSpPr/>
          <p:nvPr/>
        </p:nvSpPr>
        <p:spPr>
          <a:xfrm>
            <a:off x="868680" y="2377440"/>
            <a:ext cx="1440180" cy="1371600"/>
          </a:xfrm>
          <a:prstGeom prst="roundRect">
            <a:avLst>
              <a:gd name="adj" fmla="val 5333"/>
            </a:avLst>
          </a:prstGeom>
          <a:solidFill>
            <a:srgbClr val="E4F0E9"/>
          </a:solidFill>
          <a:ln w="12700">
            <a:solidFill>
              <a:srgbClr val="2F6B4F"/>
            </a:solidFill>
            <a:prstDash val="solid"/>
          </a:ln>
        </p:spPr>
      </p:sp>
      <p:sp>
        <p:nvSpPr>
          <p:cNvPr id="6" name="Text 4"/>
          <p:cNvSpPr/>
          <p:nvPr/>
        </p:nvSpPr>
        <p:spPr>
          <a:xfrm>
            <a:off x="94183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Text</a:t>
            </a:r>
            <a:endParaRPr lang="en-US" sz="1250" dirty="0"/>
          </a:p>
        </p:txBody>
      </p:sp>
      <p:sp>
        <p:nvSpPr>
          <p:cNvPr id="7" name="Text 5"/>
          <p:cNvSpPr/>
          <p:nvPr/>
        </p:nvSpPr>
        <p:spPr>
          <a:xfrm>
            <a:off x="230886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8" name="Shape 6"/>
          <p:cNvSpPr/>
          <p:nvPr/>
        </p:nvSpPr>
        <p:spPr>
          <a:xfrm>
            <a:off x="2628900" y="2377440"/>
            <a:ext cx="1440180" cy="1371600"/>
          </a:xfrm>
          <a:prstGeom prst="roundRect">
            <a:avLst>
              <a:gd name="adj" fmla="val 5333"/>
            </a:avLst>
          </a:prstGeom>
          <a:solidFill>
            <a:srgbClr val="E4F0E9"/>
          </a:solidFill>
          <a:ln w="12700">
            <a:solidFill>
              <a:srgbClr val="2F6B4F"/>
            </a:solidFill>
            <a:prstDash val="solid"/>
          </a:ln>
        </p:spPr>
      </p:sp>
      <p:sp>
        <p:nvSpPr>
          <p:cNvPr id="9" name="Text 7"/>
          <p:cNvSpPr/>
          <p:nvPr/>
        </p:nvSpPr>
        <p:spPr>
          <a:xfrm>
            <a:off x="270205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Tokenizer</a:t>
            </a:r>
            <a:endParaRPr lang="en-US" sz="1250" dirty="0"/>
          </a:p>
        </p:txBody>
      </p:sp>
      <p:sp>
        <p:nvSpPr>
          <p:cNvPr id="10" name="Text 8"/>
          <p:cNvSpPr/>
          <p:nvPr/>
        </p:nvSpPr>
        <p:spPr>
          <a:xfrm>
            <a:off x="406908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1" name="Shape 9"/>
          <p:cNvSpPr/>
          <p:nvPr/>
        </p:nvSpPr>
        <p:spPr>
          <a:xfrm>
            <a:off x="4389120" y="2377440"/>
            <a:ext cx="1440180" cy="1371600"/>
          </a:xfrm>
          <a:prstGeom prst="roundRect">
            <a:avLst>
              <a:gd name="adj" fmla="val 5333"/>
            </a:avLst>
          </a:prstGeom>
          <a:solidFill>
            <a:srgbClr val="E4F0E9"/>
          </a:solidFill>
          <a:ln w="12700">
            <a:solidFill>
              <a:srgbClr val="2F6B4F"/>
            </a:solidFill>
            <a:prstDash val="solid"/>
          </a:ln>
        </p:spPr>
      </p:sp>
      <p:sp>
        <p:nvSpPr>
          <p:cNvPr id="12" name="Text 10"/>
          <p:cNvSpPr/>
          <p:nvPr/>
        </p:nvSpPr>
        <p:spPr>
          <a:xfrm>
            <a:off x="446227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Token</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embeddings</a:t>
            </a:r>
            <a:endParaRPr lang="en-US" sz="1250" dirty="0"/>
          </a:p>
        </p:txBody>
      </p:sp>
      <p:sp>
        <p:nvSpPr>
          <p:cNvPr id="13" name="Text 11"/>
          <p:cNvSpPr/>
          <p:nvPr/>
        </p:nvSpPr>
        <p:spPr>
          <a:xfrm>
            <a:off x="582930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6149340" y="2377440"/>
            <a:ext cx="1440180" cy="1371600"/>
          </a:xfrm>
          <a:prstGeom prst="roundRect">
            <a:avLst>
              <a:gd name="adj" fmla="val 5333"/>
            </a:avLst>
          </a:prstGeom>
          <a:solidFill>
            <a:srgbClr val="E4F0E9"/>
          </a:solidFill>
          <a:ln w="12700">
            <a:solidFill>
              <a:srgbClr val="2F6B4F"/>
            </a:solidFill>
            <a:prstDash val="solid"/>
          </a:ln>
        </p:spPr>
      </p:sp>
      <p:sp>
        <p:nvSpPr>
          <p:cNvPr id="15" name="Text 13"/>
          <p:cNvSpPr/>
          <p:nvPr/>
        </p:nvSpPr>
        <p:spPr>
          <a:xfrm>
            <a:off x="622249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Transformer</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layers</a:t>
            </a:r>
            <a:endParaRPr lang="en-US" sz="1250" dirty="0"/>
          </a:p>
        </p:txBody>
      </p:sp>
      <p:sp>
        <p:nvSpPr>
          <p:cNvPr id="16" name="Text 14"/>
          <p:cNvSpPr/>
          <p:nvPr/>
        </p:nvSpPr>
        <p:spPr>
          <a:xfrm>
            <a:off x="758952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7" name="Shape 15"/>
          <p:cNvSpPr/>
          <p:nvPr/>
        </p:nvSpPr>
        <p:spPr>
          <a:xfrm>
            <a:off x="7909560" y="2377440"/>
            <a:ext cx="1440180" cy="1371600"/>
          </a:xfrm>
          <a:prstGeom prst="roundRect">
            <a:avLst>
              <a:gd name="adj" fmla="val 5333"/>
            </a:avLst>
          </a:prstGeom>
          <a:solidFill>
            <a:srgbClr val="E4F0E9"/>
          </a:solidFill>
          <a:ln w="12700">
            <a:solidFill>
              <a:srgbClr val="2F6B4F"/>
            </a:solidFill>
            <a:prstDash val="solid"/>
          </a:ln>
        </p:spPr>
      </p:sp>
      <p:sp>
        <p:nvSpPr>
          <p:cNvPr id="18" name="Text 16"/>
          <p:cNvSpPr/>
          <p:nvPr/>
        </p:nvSpPr>
        <p:spPr>
          <a:xfrm>
            <a:off x="798271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Pooling</a:t>
            </a:r>
            <a:endParaRPr lang="en-US" sz="1250" dirty="0"/>
          </a:p>
        </p:txBody>
      </p:sp>
      <p:sp>
        <p:nvSpPr>
          <p:cNvPr id="19" name="Text 17"/>
          <p:cNvSpPr/>
          <p:nvPr/>
        </p:nvSpPr>
        <p:spPr>
          <a:xfrm>
            <a:off x="934974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20" name="Shape 18"/>
          <p:cNvSpPr/>
          <p:nvPr/>
        </p:nvSpPr>
        <p:spPr>
          <a:xfrm>
            <a:off x="9669780" y="2377440"/>
            <a:ext cx="1440180" cy="1371600"/>
          </a:xfrm>
          <a:prstGeom prst="roundRect">
            <a:avLst>
              <a:gd name="adj" fmla="val 5333"/>
            </a:avLst>
          </a:prstGeom>
          <a:solidFill>
            <a:srgbClr val="E4F0E9"/>
          </a:solidFill>
          <a:ln w="12700">
            <a:solidFill>
              <a:srgbClr val="2F6B4F"/>
            </a:solidFill>
            <a:prstDash val="solid"/>
          </a:ln>
        </p:spPr>
      </p:sp>
      <p:sp>
        <p:nvSpPr>
          <p:cNvPr id="21" name="Text 19"/>
          <p:cNvSpPr/>
          <p:nvPr/>
        </p:nvSpPr>
        <p:spPr>
          <a:xfrm>
            <a:off x="974293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Vector</a:t>
            </a:r>
            <a:endParaRPr lang="en-US" sz="1250" dirty="0"/>
          </a:p>
        </p:txBody>
      </p:sp>
      <p:sp>
        <p:nvSpPr>
          <p:cNvPr id="22" name="Text 20"/>
          <p:cNvSpPr/>
          <p:nvPr/>
        </p:nvSpPr>
        <p:spPr>
          <a:xfrm>
            <a:off x="868680" y="4114800"/>
            <a:ext cx="10241280" cy="1371600"/>
          </a:xfrm>
          <a:prstGeom prst="rect">
            <a:avLst/>
          </a:prstGeom>
          <a:noFill/>
          <a:ln/>
        </p:spPr>
        <p:txBody>
          <a:bodyPr wrap="square" rtlCol="0" anchor="ctr"/>
          <a:lstStyle/>
          <a:p>
            <a:pPr indent="0" marL="0">
              <a:buNone/>
            </a:pPr>
            <a:r>
              <a:rPr lang="en-US" sz="1350" dirty="0">
                <a:solidFill>
                  <a:srgbClr val="5B6660"/>
                </a:solidFill>
                <a:latin typeface="Calibri" pitchFamily="34" charset="0"/>
                <a:ea typeface="Calibri" pitchFamily="34" charset="-122"/>
                <a:cs typeface="Calibri" pitchFamily="34" charset="-120"/>
              </a:rPr>
              <a:t>BGE-M3 is a Transformer encoder, architecturally close to BERT: it has token embeddings, positional embeddings, stacked attention and feed-forward layers, and a pooling step, all trained by gradient descent. What differs from a generative LLM is not the architecture but the training objective — pulling semantically similar texts close together in vector space, rather than predicting the next token. It is trained on a large multilingual corpus of web pages, encyclopedic text, and (query, relevant document) pairs.</a:t>
            </a:r>
            <a:endParaRPr lang="en-US" sz="1350" dirty="0"/>
          </a:p>
        </p:txBody>
      </p:sp>
      <p:sp>
        <p:nvSpPr>
          <p:cNvPr id="23" name="Text 21"/>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INDEXING VS QUERY TIME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Embeddings Are Used Twice</a:t>
            </a:r>
            <a:endParaRPr lang="en-US" sz="2700" dirty="0"/>
          </a:p>
        </p:txBody>
      </p:sp>
      <p:sp>
        <p:nvSpPr>
          <p:cNvPr id="5" name="Text 3"/>
          <p:cNvSpPr/>
          <p:nvPr/>
        </p:nvSpPr>
        <p:spPr>
          <a:xfrm>
            <a:off x="868680" y="1581912"/>
            <a:ext cx="3657600" cy="320040"/>
          </a:xfrm>
          <a:prstGeom prst="rect">
            <a:avLst/>
          </a:prstGeom>
          <a:noFill/>
          <a:ln/>
        </p:spPr>
        <p:txBody>
          <a:bodyPr wrap="square" rtlCol="0" anchor="ctr"/>
          <a:lstStyle/>
          <a:p>
            <a:pPr indent="0" marL="0">
              <a:buNone/>
            </a:pPr>
            <a:r>
              <a:rPr lang="en-US" sz="1250" b="1" dirty="0">
                <a:solidFill>
                  <a:srgbClr val="2F6B4F"/>
                </a:solidFill>
                <a:latin typeface="Courier New" pitchFamily="34" charset="0"/>
                <a:ea typeface="Courier New" pitchFamily="34" charset="-122"/>
                <a:cs typeface="Courier New" pitchFamily="34" charset="-120"/>
              </a:rPr>
              <a:t>INDEXING (once per chunk)</a:t>
            </a:r>
            <a:endParaRPr lang="en-US" sz="1250" dirty="0"/>
          </a:p>
        </p:txBody>
      </p:sp>
      <p:sp>
        <p:nvSpPr>
          <p:cNvPr id="6" name="Shape 4"/>
          <p:cNvSpPr/>
          <p:nvPr/>
        </p:nvSpPr>
        <p:spPr>
          <a:xfrm>
            <a:off x="868680" y="1965960"/>
            <a:ext cx="2368296" cy="914400"/>
          </a:xfrm>
          <a:prstGeom prst="roundRect">
            <a:avLst>
              <a:gd name="adj" fmla="val 7000"/>
            </a:avLst>
          </a:prstGeom>
          <a:solidFill>
            <a:srgbClr val="E4F0E9"/>
          </a:solidFill>
          <a:ln w="12700">
            <a:solidFill>
              <a:srgbClr val="2F6B4F"/>
            </a:solidFill>
            <a:prstDash val="solid"/>
          </a:ln>
        </p:spPr>
      </p:sp>
      <p:sp>
        <p:nvSpPr>
          <p:cNvPr id="7" name="Text 5"/>
          <p:cNvSpPr/>
          <p:nvPr/>
        </p:nvSpPr>
        <p:spPr>
          <a:xfrm>
            <a:off x="914400" y="2011680"/>
            <a:ext cx="2276856" cy="822960"/>
          </a:xfrm>
          <a:prstGeom prst="rect">
            <a:avLst/>
          </a:prstGeom>
          <a:noFill/>
          <a:ln/>
        </p:spPr>
        <p:txBody>
          <a:bodyPr wrap="square" rtlCol="0" anchor="ctr"/>
          <a:lstStyle/>
          <a:p>
            <a:pPr algn="ctr" indent="0" marL="0">
              <a:buNone/>
            </a:pPr>
            <a:r>
              <a:rPr lang="en-US" sz="1100" b="1" dirty="0">
                <a:solidFill>
                  <a:srgbClr val="1F4D38"/>
                </a:solidFill>
                <a:latin typeface="Calibri" pitchFamily="34" charset="0"/>
                <a:ea typeface="Calibri" pitchFamily="34" charset="-122"/>
                <a:cs typeface="Calibri" pitchFamily="34" charset="-120"/>
              </a:rPr>
              <a:t>Chunk</a:t>
            </a:r>
            <a:endParaRPr lang="en-US" sz="1100" dirty="0"/>
          </a:p>
        </p:txBody>
      </p:sp>
      <p:sp>
        <p:nvSpPr>
          <p:cNvPr id="8" name="Text 6"/>
          <p:cNvSpPr/>
          <p:nvPr/>
        </p:nvSpPr>
        <p:spPr>
          <a:xfrm>
            <a:off x="3236976" y="1965960"/>
            <a:ext cx="256032" cy="914400"/>
          </a:xfrm>
          <a:prstGeom prst="rect">
            <a:avLst/>
          </a:prstGeom>
          <a:noFill/>
          <a:ln/>
        </p:spPr>
        <p:txBody>
          <a:bodyPr wrap="square" rtlCol="0" anchor="ctr"/>
          <a:lstStyle/>
          <a:p>
            <a:pPr algn="ctr" indent="0" marL="0">
              <a:buNone/>
            </a:pPr>
            <a:r>
              <a:rPr lang="en-US" sz="1600" b="1" dirty="0">
                <a:solidFill>
                  <a:srgbClr val="2F6B4F"/>
                </a:solidFill>
                <a:latin typeface="Calibri" pitchFamily="34" charset="0"/>
                <a:ea typeface="Calibri" pitchFamily="34" charset="-122"/>
                <a:cs typeface="Calibri" pitchFamily="34" charset="-120"/>
              </a:rPr>
              <a:t>&gt;</a:t>
            </a:r>
            <a:endParaRPr lang="en-US" sz="1600" dirty="0"/>
          </a:p>
        </p:txBody>
      </p:sp>
      <p:sp>
        <p:nvSpPr>
          <p:cNvPr id="9" name="Shape 7"/>
          <p:cNvSpPr/>
          <p:nvPr/>
        </p:nvSpPr>
        <p:spPr>
          <a:xfrm>
            <a:off x="3493008" y="1965960"/>
            <a:ext cx="2368296" cy="914400"/>
          </a:xfrm>
          <a:prstGeom prst="roundRect">
            <a:avLst>
              <a:gd name="adj" fmla="val 7000"/>
            </a:avLst>
          </a:prstGeom>
          <a:solidFill>
            <a:srgbClr val="E4F0E9"/>
          </a:solidFill>
          <a:ln w="12700">
            <a:solidFill>
              <a:srgbClr val="2F6B4F"/>
            </a:solidFill>
            <a:prstDash val="solid"/>
          </a:ln>
        </p:spPr>
      </p:sp>
      <p:sp>
        <p:nvSpPr>
          <p:cNvPr id="10" name="Text 8"/>
          <p:cNvSpPr/>
          <p:nvPr/>
        </p:nvSpPr>
        <p:spPr>
          <a:xfrm>
            <a:off x="3538728" y="2011680"/>
            <a:ext cx="2276856" cy="822960"/>
          </a:xfrm>
          <a:prstGeom prst="rect">
            <a:avLst/>
          </a:prstGeom>
          <a:noFill/>
          <a:ln/>
        </p:spPr>
        <p:txBody>
          <a:bodyPr wrap="square" rtlCol="0" anchor="ctr"/>
          <a:lstStyle/>
          <a:p>
            <a:pPr algn="ctr" indent="0" marL="0">
              <a:buNone/>
            </a:pPr>
            <a:r>
              <a:rPr lang="en-US" sz="1100" b="1" dirty="0">
                <a:solidFill>
                  <a:srgbClr val="1F4D38"/>
                </a:solidFill>
                <a:latin typeface="Calibri" pitchFamily="34" charset="0"/>
                <a:ea typeface="Calibri" pitchFamily="34" charset="-122"/>
                <a:cs typeface="Calibri" pitchFamily="34" charset="-120"/>
              </a:rPr>
              <a:t>BGE-M3</a:t>
            </a:r>
            <a:endParaRPr lang="en-US" sz="1100" dirty="0"/>
          </a:p>
        </p:txBody>
      </p:sp>
      <p:sp>
        <p:nvSpPr>
          <p:cNvPr id="11" name="Text 9"/>
          <p:cNvSpPr/>
          <p:nvPr/>
        </p:nvSpPr>
        <p:spPr>
          <a:xfrm>
            <a:off x="5861304" y="1965960"/>
            <a:ext cx="256032" cy="914400"/>
          </a:xfrm>
          <a:prstGeom prst="rect">
            <a:avLst/>
          </a:prstGeom>
          <a:noFill/>
          <a:ln/>
        </p:spPr>
        <p:txBody>
          <a:bodyPr wrap="square" rtlCol="0" anchor="ctr"/>
          <a:lstStyle/>
          <a:p>
            <a:pPr algn="ctr" indent="0" marL="0">
              <a:buNone/>
            </a:pPr>
            <a:r>
              <a:rPr lang="en-US" sz="1600" b="1" dirty="0">
                <a:solidFill>
                  <a:srgbClr val="2F6B4F"/>
                </a:solidFill>
                <a:latin typeface="Calibri" pitchFamily="34" charset="0"/>
                <a:ea typeface="Calibri" pitchFamily="34" charset="-122"/>
                <a:cs typeface="Calibri" pitchFamily="34" charset="-120"/>
              </a:rPr>
              <a:t>&gt;</a:t>
            </a:r>
            <a:endParaRPr lang="en-US" sz="1600" dirty="0"/>
          </a:p>
        </p:txBody>
      </p:sp>
      <p:sp>
        <p:nvSpPr>
          <p:cNvPr id="12" name="Shape 10"/>
          <p:cNvSpPr/>
          <p:nvPr/>
        </p:nvSpPr>
        <p:spPr>
          <a:xfrm>
            <a:off x="6117336" y="1965960"/>
            <a:ext cx="2368296" cy="914400"/>
          </a:xfrm>
          <a:prstGeom prst="roundRect">
            <a:avLst>
              <a:gd name="adj" fmla="val 7000"/>
            </a:avLst>
          </a:prstGeom>
          <a:solidFill>
            <a:srgbClr val="E4F0E9"/>
          </a:solidFill>
          <a:ln w="12700">
            <a:solidFill>
              <a:srgbClr val="2F6B4F"/>
            </a:solidFill>
            <a:prstDash val="solid"/>
          </a:ln>
        </p:spPr>
      </p:sp>
      <p:sp>
        <p:nvSpPr>
          <p:cNvPr id="13" name="Text 11"/>
          <p:cNvSpPr/>
          <p:nvPr/>
        </p:nvSpPr>
        <p:spPr>
          <a:xfrm>
            <a:off x="6163056" y="2011680"/>
            <a:ext cx="2276856" cy="822960"/>
          </a:xfrm>
          <a:prstGeom prst="rect">
            <a:avLst/>
          </a:prstGeom>
          <a:noFill/>
          <a:ln/>
        </p:spPr>
        <p:txBody>
          <a:bodyPr wrap="square" rtlCol="0" anchor="ctr"/>
          <a:lstStyle/>
          <a:p>
            <a:pPr algn="ctr" indent="0" marL="0">
              <a:buNone/>
            </a:pPr>
            <a:r>
              <a:rPr lang="en-US" sz="1100" b="1" dirty="0">
                <a:solidFill>
                  <a:srgbClr val="1F4D38"/>
                </a:solidFill>
                <a:latin typeface="Calibri" pitchFamily="34" charset="0"/>
                <a:ea typeface="Calibri" pitchFamily="34" charset="-122"/>
                <a:cs typeface="Calibri" pitchFamily="34" charset="-120"/>
              </a:rPr>
              <a:t>Vector</a:t>
            </a:r>
            <a:endParaRPr lang="en-US" sz="1100" dirty="0"/>
          </a:p>
        </p:txBody>
      </p:sp>
      <p:sp>
        <p:nvSpPr>
          <p:cNvPr id="14" name="Text 12"/>
          <p:cNvSpPr/>
          <p:nvPr/>
        </p:nvSpPr>
        <p:spPr>
          <a:xfrm>
            <a:off x="8485632" y="1965960"/>
            <a:ext cx="256032" cy="914400"/>
          </a:xfrm>
          <a:prstGeom prst="rect">
            <a:avLst/>
          </a:prstGeom>
          <a:noFill/>
          <a:ln/>
        </p:spPr>
        <p:txBody>
          <a:bodyPr wrap="square" rtlCol="0" anchor="ctr"/>
          <a:lstStyle/>
          <a:p>
            <a:pPr algn="ctr" indent="0" marL="0">
              <a:buNone/>
            </a:pPr>
            <a:r>
              <a:rPr lang="en-US" sz="1600" b="1" dirty="0">
                <a:solidFill>
                  <a:srgbClr val="2F6B4F"/>
                </a:solidFill>
                <a:latin typeface="Calibri" pitchFamily="34" charset="0"/>
                <a:ea typeface="Calibri" pitchFamily="34" charset="-122"/>
                <a:cs typeface="Calibri" pitchFamily="34" charset="-120"/>
              </a:rPr>
              <a:t>&gt;</a:t>
            </a:r>
            <a:endParaRPr lang="en-US" sz="1600" dirty="0"/>
          </a:p>
        </p:txBody>
      </p:sp>
      <p:sp>
        <p:nvSpPr>
          <p:cNvPr id="15" name="Shape 13"/>
          <p:cNvSpPr/>
          <p:nvPr/>
        </p:nvSpPr>
        <p:spPr>
          <a:xfrm>
            <a:off x="8741664" y="1965960"/>
            <a:ext cx="2368296" cy="914400"/>
          </a:xfrm>
          <a:prstGeom prst="roundRect">
            <a:avLst>
              <a:gd name="adj" fmla="val 7000"/>
            </a:avLst>
          </a:prstGeom>
          <a:solidFill>
            <a:srgbClr val="E4F0E9"/>
          </a:solidFill>
          <a:ln w="12700">
            <a:solidFill>
              <a:srgbClr val="2F6B4F"/>
            </a:solidFill>
            <a:prstDash val="solid"/>
          </a:ln>
        </p:spPr>
      </p:sp>
      <p:sp>
        <p:nvSpPr>
          <p:cNvPr id="16" name="Text 14"/>
          <p:cNvSpPr/>
          <p:nvPr/>
        </p:nvSpPr>
        <p:spPr>
          <a:xfrm>
            <a:off x="8787384" y="2011680"/>
            <a:ext cx="2276856" cy="822960"/>
          </a:xfrm>
          <a:prstGeom prst="rect">
            <a:avLst/>
          </a:prstGeom>
          <a:noFill/>
          <a:ln/>
        </p:spPr>
        <p:txBody>
          <a:bodyPr wrap="square" rtlCol="0" anchor="ctr"/>
          <a:lstStyle/>
          <a:p>
            <a:pPr algn="ctr" indent="0" marL="0">
              <a:buNone/>
            </a:pPr>
            <a:r>
              <a:rPr lang="en-US" sz="1100" b="1" dirty="0">
                <a:solidFill>
                  <a:srgbClr val="1F4D38"/>
                </a:solidFill>
                <a:latin typeface="Calibri" pitchFamily="34" charset="0"/>
                <a:ea typeface="Calibri" pitchFamily="34" charset="-122"/>
                <a:cs typeface="Calibri" pitchFamily="34" charset="-120"/>
              </a:rPr>
              <a:t>FAISS index</a:t>
            </a:r>
            <a:endParaRPr lang="en-US" sz="1100" dirty="0"/>
          </a:p>
        </p:txBody>
      </p:sp>
      <p:sp>
        <p:nvSpPr>
          <p:cNvPr id="17" name="Text 15"/>
          <p:cNvSpPr/>
          <p:nvPr/>
        </p:nvSpPr>
        <p:spPr>
          <a:xfrm>
            <a:off x="868680" y="3776472"/>
            <a:ext cx="3657600" cy="320040"/>
          </a:xfrm>
          <a:prstGeom prst="rect">
            <a:avLst/>
          </a:prstGeom>
          <a:noFill/>
          <a:ln/>
        </p:spPr>
        <p:txBody>
          <a:bodyPr wrap="square" rtlCol="0" anchor="ctr"/>
          <a:lstStyle/>
          <a:p>
            <a:pPr indent="0" marL="0">
              <a:buNone/>
            </a:pPr>
            <a:r>
              <a:rPr lang="en-US" sz="1250" b="1" dirty="0">
                <a:solidFill>
                  <a:srgbClr val="2F6B4F"/>
                </a:solidFill>
                <a:latin typeface="Courier New" pitchFamily="34" charset="0"/>
                <a:ea typeface="Courier New" pitchFamily="34" charset="-122"/>
                <a:cs typeface="Courier New" pitchFamily="34" charset="-120"/>
              </a:rPr>
              <a:t>QUERY (once per question)</a:t>
            </a:r>
            <a:endParaRPr lang="en-US" sz="1250" dirty="0"/>
          </a:p>
        </p:txBody>
      </p:sp>
      <p:sp>
        <p:nvSpPr>
          <p:cNvPr id="18" name="Shape 16"/>
          <p:cNvSpPr/>
          <p:nvPr/>
        </p:nvSpPr>
        <p:spPr>
          <a:xfrm>
            <a:off x="868680" y="4160520"/>
            <a:ext cx="2368296" cy="914400"/>
          </a:xfrm>
          <a:prstGeom prst="roundRect">
            <a:avLst>
              <a:gd name="adj" fmla="val 7000"/>
            </a:avLst>
          </a:prstGeom>
          <a:solidFill>
            <a:srgbClr val="E4F0E9"/>
          </a:solidFill>
          <a:ln w="12700">
            <a:solidFill>
              <a:srgbClr val="2F6B4F"/>
            </a:solidFill>
            <a:prstDash val="solid"/>
          </a:ln>
        </p:spPr>
      </p:sp>
      <p:sp>
        <p:nvSpPr>
          <p:cNvPr id="19" name="Text 17"/>
          <p:cNvSpPr/>
          <p:nvPr/>
        </p:nvSpPr>
        <p:spPr>
          <a:xfrm>
            <a:off x="914400" y="4206240"/>
            <a:ext cx="2276856" cy="822960"/>
          </a:xfrm>
          <a:prstGeom prst="rect">
            <a:avLst/>
          </a:prstGeom>
          <a:noFill/>
          <a:ln/>
        </p:spPr>
        <p:txBody>
          <a:bodyPr wrap="square" rtlCol="0" anchor="ctr"/>
          <a:lstStyle/>
          <a:p>
            <a:pPr algn="ctr" indent="0" marL="0">
              <a:buNone/>
            </a:pPr>
            <a:r>
              <a:rPr lang="en-US" sz="1100" b="1" dirty="0">
                <a:solidFill>
                  <a:srgbClr val="1F4D38"/>
                </a:solidFill>
                <a:latin typeface="Calibri" pitchFamily="34" charset="0"/>
                <a:ea typeface="Calibri" pitchFamily="34" charset="-122"/>
                <a:cs typeface="Calibri" pitchFamily="34" charset="-120"/>
              </a:rPr>
              <a:t>Question</a:t>
            </a:r>
            <a:endParaRPr lang="en-US" sz="1100" dirty="0"/>
          </a:p>
        </p:txBody>
      </p:sp>
      <p:sp>
        <p:nvSpPr>
          <p:cNvPr id="20" name="Text 18"/>
          <p:cNvSpPr/>
          <p:nvPr/>
        </p:nvSpPr>
        <p:spPr>
          <a:xfrm>
            <a:off x="3236976" y="4160520"/>
            <a:ext cx="256032" cy="914400"/>
          </a:xfrm>
          <a:prstGeom prst="rect">
            <a:avLst/>
          </a:prstGeom>
          <a:noFill/>
          <a:ln/>
        </p:spPr>
        <p:txBody>
          <a:bodyPr wrap="square" rtlCol="0" anchor="ctr"/>
          <a:lstStyle/>
          <a:p>
            <a:pPr algn="ctr" indent="0" marL="0">
              <a:buNone/>
            </a:pPr>
            <a:r>
              <a:rPr lang="en-US" sz="1600" b="1" dirty="0">
                <a:solidFill>
                  <a:srgbClr val="2F6B4F"/>
                </a:solidFill>
                <a:latin typeface="Calibri" pitchFamily="34" charset="0"/>
                <a:ea typeface="Calibri" pitchFamily="34" charset="-122"/>
                <a:cs typeface="Calibri" pitchFamily="34" charset="-120"/>
              </a:rPr>
              <a:t>&gt;</a:t>
            </a:r>
            <a:endParaRPr lang="en-US" sz="1600" dirty="0"/>
          </a:p>
        </p:txBody>
      </p:sp>
      <p:sp>
        <p:nvSpPr>
          <p:cNvPr id="21" name="Shape 19"/>
          <p:cNvSpPr/>
          <p:nvPr/>
        </p:nvSpPr>
        <p:spPr>
          <a:xfrm>
            <a:off x="3493008" y="4160520"/>
            <a:ext cx="2368296" cy="914400"/>
          </a:xfrm>
          <a:prstGeom prst="roundRect">
            <a:avLst>
              <a:gd name="adj" fmla="val 7000"/>
            </a:avLst>
          </a:prstGeom>
          <a:solidFill>
            <a:srgbClr val="E4F0E9"/>
          </a:solidFill>
          <a:ln w="12700">
            <a:solidFill>
              <a:srgbClr val="2F6B4F"/>
            </a:solidFill>
            <a:prstDash val="solid"/>
          </a:ln>
        </p:spPr>
      </p:sp>
      <p:sp>
        <p:nvSpPr>
          <p:cNvPr id="22" name="Text 20"/>
          <p:cNvSpPr/>
          <p:nvPr/>
        </p:nvSpPr>
        <p:spPr>
          <a:xfrm>
            <a:off x="3538728" y="4206240"/>
            <a:ext cx="2276856" cy="822960"/>
          </a:xfrm>
          <a:prstGeom prst="rect">
            <a:avLst/>
          </a:prstGeom>
          <a:noFill/>
          <a:ln/>
        </p:spPr>
        <p:txBody>
          <a:bodyPr wrap="square" rtlCol="0" anchor="ctr"/>
          <a:lstStyle/>
          <a:p>
            <a:pPr algn="ctr" indent="0" marL="0">
              <a:buNone/>
            </a:pPr>
            <a:r>
              <a:rPr lang="en-US" sz="1100" b="1" dirty="0">
                <a:solidFill>
                  <a:srgbClr val="1F4D38"/>
                </a:solidFill>
                <a:latin typeface="Calibri" pitchFamily="34" charset="0"/>
                <a:ea typeface="Calibri" pitchFamily="34" charset="-122"/>
                <a:cs typeface="Calibri" pitchFamily="34" charset="-120"/>
              </a:rPr>
              <a:t>BGE-M3</a:t>
            </a:r>
            <a:endParaRPr lang="en-US" sz="1100" dirty="0"/>
          </a:p>
        </p:txBody>
      </p:sp>
      <p:sp>
        <p:nvSpPr>
          <p:cNvPr id="23" name="Text 21"/>
          <p:cNvSpPr/>
          <p:nvPr/>
        </p:nvSpPr>
        <p:spPr>
          <a:xfrm>
            <a:off x="5861304" y="4160520"/>
            <a:ext cx="256032" cy="914400"/>
          </a:xfrm>
          <a:prstGeom prst="rect">
            <a:avLst/>
          </a:prstGeom>
          <a:noFill/>
          <a:ln/>
        </p:spPr>
        <p:txBody>
          <a:bodyPr wrap="square" rtlCol="0" anchor="ctr"/>
          <a:lstStyle/>
          <a:p>
            <a:pPr algn="ctr" indent="0" marL="0">
              <a:buNone/>
            </a:pPr>
            <a:r>
              <a:rPr lang="en-US" sz="1600" b="1" dirty="0">
                <a:solidFill>
                  <a:srgbClr val="2F6B4F"/>
                </a:solidFill>
                <a:latin typeface="Calibri" pitchFamily="34" charset="0"/>
                <a:ea typeface="Calibri" pitchFamily="34" charset="-122"/>
                <a:cs typeface="Calibri" pitchFamily="34" charset="-120"/>
              </a:rPr>
              <a:t>&gt;</a:t>
            </a:r>
            <a:endParaRPr lang="en-US" sz="1600" dirty="0"/>
          </a:p>
        </p:txBody>
      </p:sp>
      <p:sp>
        <p:nvSpPr>
          <p:cNvPr id="24" name="Shape 22"/>
          <p:cNvSpPr/>
          <p:nvPr/>
        </p:nvSpPr>
        <p:spPr>
          <a:xfrm>
            <a:off x="6117336" y="4160520"/>
            <a:ext cx="2368296" cy="914400"/>
          </a:xfrm>
          <a:prstGeom prst="roundRect">
            <a:avLst>
              <a:gd name="adj" fmla="val 7000"/>
            </a:avLst>
          </a:prstGeom>
          <a:solidFill>
            <a:srgbClr val="E4F0E9"/>
          </a:solidFill>
          <a:ln w="12700">
            <a:solidFill>
              <a:srgbClr val="2F6B4F"/>
            </a:solidFill>
            <a:prstDash val="solid"/>
          </a:ln>
        </p:spPr>
      </p:sp>
      <p:sp>
        <p:nvSpPr>
          <p:cNvPr id="25" name="Text 23"/>
          <p:cNvSpPr/>
          <p:nvPr/>
        </p:nvSpPr>
        <p:spPr>
          <a:xfrm>
            <a:off x="6163056" y="4206240"/>
            <a:ext cx="2276856" cy="822960"/>
          </a:xfrm>
          <a:prstGeom prst="rect">
            <a:avLst/>
          </a:prstGeom>
          <a:noFill/>
          <a:ln/>
        </p:spPr>
        <p:txBody>
          <a:bodyPr wrap="square" rtlCol="0" anchor="ctr"/>
          <a:lstStyle/>
          <a:p>
            <a:pPr algn="ctr" indent="0" marL="0">
              <a:buNone/>
            </a:pPr>
            <a:r>
              <a:rPr lang="en-US" sz="1100" b="1" dirty="0">
                <a:solidFill>
                  <a:srgbClr val="1F4D38"/>
                </a:solidFill>
                <a:latin typeface="Calibri" pitchFamily="34" charset="0"/>
                <a:ea typeface="Calibri" pitchFamily="34" charset="-122"/>
                <a:cs typeface="Calibri" pitchFamily="34" charset="-120"/>
              </a:rPr>
              <a:t>Vector</a:t>
            </a:r>
            <a:endParaRPr lang="en-US" sz="1100" dirty="0"/>
          </a:p>
        </p:txBody>
      </p:sp>
      <p:sp>
        <p:nvSpPr>
          <p:cNvPr id="26" name="Text 24"/>
          <p:cNvSpPr/>
          <p:nvPr/>
        </p:nvSpPr>
        <p:spPr>
          <a:xfrm>
            <a:off x="8485632" y="4160520"/>
            <a:ext cx="256032" cy="914400"/>
          </a:xfrm>
          <a:prstGeom prst="rect">
            <a:avLst/>
          </a:prstGeom>
          <a:noFill/>
          <a:ln/>
        </p:spPr>
        <p:txBody>
          <a:bodyPr wrap="square" rtlCol="0" anchor="ctr"/>
          <a:lstStyle/>
          <a:p>
            <a:pPr algn="ctr" indent="0" marL="0">
              <a:buNone/>
            </a:pPr>
            <a:r>
              <a:rPr lang="en-US" sz="1600" b="1" dirty="0">
                <a:solidFill>
                  <a:srgbClr val="2F6B4F"/>
                </a:solidFill>
                <a:latin typeface="Calibri" pitchFamily="34" charset="0"/>
                <a:ea typeface="Calibri" pitchFamily="34" charset="-122"/>
                <a:cs typeface="Calibri" pitchFamily="34" charset="-120"/>
              </a:rPr>
              <a:t>&gt;</a:t>
            </a:r>
            <a:endParaRPr lang="en-US" sz="1600" dirty="0"/>
          </a:p>
        </p:txBody>
      </p:sp>
      <p:sp>
        <p:nvSpPr>
          <p:cNvPr id="27" name="Shape 25"/>
          <p:cNvSpPr/>
          <p:nvPr/>
        </p:nvSpPr>
        <p:spPr>
          <a:xfrm>
            <a:off x="8741664" y="4160520"/>
            <a:ext cx="2368296" cy="914400"/>
          </a:xfrm>
          <a:prstGeom prst="roundRect">
            <a:avLst>
              <a:gd name="adj" fmla="val 7000"/>
            </a:avLst>
          </a:prstGeom>
          <a:solidFill>
            <a:srgbClr val="E4F0E9"/>
          </a:solidFill>
          <a:ln w="12700">
            <a:solidFill>
              <a:srgbClr val="2F6B4F"/>
            </a:solidFill>
            <a:prstDash val="solid"/>
          </a:ln>
        </p:spPr>
      </p:sp>
      <p:sp>
        <p:nvSpPr>
          <p:cNvPr id="28" name="Text 26"/>
          <p:cNvSpPr/>
          <p:nvPr/>
        </p:nvSpPr>
        <p:spPr>
          <a:xfrm>
            <a:off x="8787384" y="4206240"/>
            <a:ext cx="2276856" cy="822960"/>
          </a:xfrm>
          <a:prstGeom prst="rect">
            <a:avLst/>
          </a:prstGeom>
          <a:noFill/>
          <a:ln/>
        </p:spPr>
        <p:txBody>
          <a:bodyPr wrap="square" rtlCol="0" anchor="ctr"/>
          <a:lstStyle/>
          <a:p>
            <a:pPr algn="ctr" indent="0" marL="0">
              <a:buNone/>
            </a:pPr>
            <a:r>
              <a:rPr lang="en-US" sz="1100" b="1" dirty="0">
                <a:solidFill>
                  <a:srgbClr val="1F4D38"/>
                </a:solidFill>
                <a:latin typeface="Calibri" pitchFamily="34" charset="0"/>
                <a:ea typeface="Calibri" pitchFamily="34" charset="-122"/>
                <a:cs typeface="Calibri" pitchFamily="34" charset="-120"/>
              </a:rPr>
              <a:t>FAISS search</a:t>
            </a:r>
            <a:endParaRPr lang="en-US" sz="1100" dirty="0"/>
          </a:p>
        </p:txBody>
      </p:sp>
      <p:sp>
        <p:nvSpPr>
          <p:cNvPr id="29" name="Text 2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SIMILARITY METRIC #1</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Cosine Similarity</a:t>
            </a:r>
            <a:endParaRPr lang="en-US" sz="2700" dirty="0"/>
          </a:p>
        </p:txBody>
      </p:sp>
      <p:sp>
        <p:nvSpPr>
          <p:cNvPr id="5" name="Shape 3"/>
          <p:cNvSpPr/>
          <p:nvPr/>
        </p:nvSpPr>
        <p:spPr>
          <a:xfrm>
            <a:off x="868680" y="1417320"/>
            <a:ext cx="10241280" cy="1234440"/>
          </a:xfrm>
          <a:prstGeom prst="roundRect">
            <a:avLst>
              <a:gd name="adj" fmla="val 5926"/>
            </a:avLst>
          </a:prstGeom>
          <a:solidFill>
            <a:srgbClr val="FFFFFF"/>
          </a:solidFill>
          <a:ln w="12700">
            <a:solidFill>
              <a:srgbClr val="D8D3C2"/>
            </a:solidFill>
            <a:prstDash val="solid"/>
          </a:ln>
        </p:spPr>
      </p:sp>
      <p:sp>
        <p:nvSpPr>
          <p:cNvPr id="6" name="Text 4"/>
          <p:cNvSpPr/>
          <p:nvPr/>
        </p:nvSpPr>
        <p:spPr>
          <a:xfrm>
            <a:off x="1051560" y="1417320"/>
            <a:ext cx="9875520" cy="1234440"/>
          </a:xfrm>
          <a:prstGeom prst="rect">
            <a:avLst/>
          </a:prstGeom>
          <a:noFill/>
          <a:ln/>
        </p:spPr>
        <p:txBody>
          <a:bodyPr wrap="square" rtlCol="0" anchor="ctr"/>
          <a:lstStyle/>
          <a:p>
            <a:pPr algn="ctr" indent="0" marL="0">
              <a:buNone/>
            </a:pPr>
            <a:r>
              <a:rPr lang="en-US" sz="2200" i="1" dirty="0">
                <a:solidFill>
                  <a:srgbClr val="2F6B4F"/>
                </a:solidFill>
                <a:latin typeface="Cambria Math" pitchFamily="34" charset="0"/>
                <a:ea typeface="Cambria Math" pitchFamily="34" charset="-122"/>
                <a:cs typeface="Cambria Math" pitchFamily="34" charset="-120"/>
              </a:rPr>
              <a:t>cos(θ) = (A · B) / (‖A‖ · ‖B‖)</a:t>
            </a:r>
            <a:endParaRPr lang="en-US" sz="2200" dirty="0"/>
          </a:p>
        </p:txBody>
      </p:sp>
      <p:sp>
        <p:nvSpPr>
          <p:cNvPr id="7" name="Text 5"/>
          <p:cNvSpPr/>
          <p:nvPr/>
        </p:nvSpPr>
        <p:spPr>
          <a:xfrm>
            <a:off x="868680" y="288036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θ  </a:t>
            </a:r>
            <a:pPr indent="0" marL="0">
              <a:buNone/>
            </a:pPr>
            <a:r>
              <a:rPr lang="en-US" sz="1400" dirty="0">
                <a:solidFill>
                  <a:srgbClr val="5B6660"/>
                </a:solidFill>
                <a:latin typeface="Calibri" pitchFamily="34" charset="0"/>
                <a:ea typeface="Calibri" pitchFamily="34" charset="-122"/>
                <a:cs typeface="Calibri" pitchFamily="34" charset="-120"/>
              </a:rPr>
              <a:t>the angle between the two vectors; cosine similarity measures how aligned their directions are, ignoring their length.</a:t>
            </a:r>
            <a:endParaRPr lang="en-US" sz="1450" dirty="0"/>
          </a:p>
        </p:txBody>
      </p:sp>
      <p:sp>
        <p:nvSpPr>
          <p:cNvPr id="8" name="Text 6"/>
          <p:cNvSpPr/>
          <p:nvPr/>
        </p:nvSpPr>
        <p:spPr>
          <a:xfrm>
            <a:off x="868680" y="342900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A · B  </a:t>
            </a:r>
            <a:pPr indent="0" marL="0">
              <a:buNone/>
            </a:pPr>
            <a:r>
              <a:rPr lang="en-US" sz="1400" dirty="0">
                <a:solidFill>
                  <a:srgbClr val="5B6660"/>
                </a:solidFill>
                <a:latin typeface="Calibri" pitchFamily="34" charset="0"/>
                <a:ea typeface="Calibri" pitchFamily="34" charset="-122"/>
                <a:cs typeface="Calibri" pitchFamily="34" charset="-120"/>
              </a:rPr>
              <a:t>the dot product of the two embeddings — a measure of how much they point the same way.</a:t>
            </a:r>
            <a:endParaRPr lang="en-US" sz="1450" dirty="0"/>
          </a:p>
        </p:txBody>
      </p:sp>
      <p:sp>
        <p:nvSpPr>
          <p:cNvPr id="9" name="Text 7"/>
          <p:cNvSpPr/>
          <p:nvPr/>
        </p:nvSpPr>
        <p:spPr>
          <a:xfrm>
            <a:off x="868680" y="397764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‖A‖, ‖B‖  </a:t>
            </a:r>
            <a:pPr indent="0" marL="0">
              <a:buNone/>
            </a:pPr>
            <a:r>
              <a:rPr lang="en-US" sz="1400" dirty="0">
                <a:solidFill>
                  <a:srgbClr val="5B6660"/>
                </a:solidFill>
                <a:latin typeface="Calibri" pitchFamily="34" charset="0"/>
                <a:ea typeface="Calibri" pitchFamily="34" charset="-122"/>
                <a:cs typeface="Calibri" pitchFamily="34" charset="-120"/>
              </a:rPr>
              <a:t>the vector norms (magnitudes); dividing by them removes the effect of vector length entirely.</a:t>
            </a:r>
            <a:endParaRPr lang="en-US" sz="1450" dirty="0"/>
          </a:p>
        </p:txBody>
      </p:sp>
      <p:sp>
        <p:nvSpPr>
          <p:cNvPr id="10" name="Text 8"/>
          <p:cNvSpPr/>
          <p:nvPr/>
        </p:nvSpPr>
        <p:spPr>
          <a:xfrm>
            <a:off x="868680" y="452628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Range:  </a:t>
            </a:r>
            <a:pPr indent="0" marL="0">
              <a:buNone/>
            </a:pPr>
            <a:r>
              <a:rPr lang="en-US" sz="1400" dirty="0">
                <a:solidFill>
                  <a:srgbClr val="5B6660"/>
                </a:solidFill>
                <a:latin typeface="Calibri" pitchFamily="34" charset="0"/>
                <a:ea typeface="Calibri" pitchFamily="34" charset="-122"/>
                <a:cs typeface="Calibri" pitchFamily="34" charset="-120"/>
              </a:rPr>
              <a:t>from −1 (opposite meaning) to 1 (identical direction, i.e. very similar meaning); 0 means unrelated.</a:t>
            </a:r>
            <a:endParaRPr lang="en-US" sz="1450" dirty="0"/>
          </a:p>
        </p:txBody>
      </p:sp>
      <p:sp>
        <p:nvSpPr>
          <p:cNvPr id="11" name="Text 9"/>
          <p:cNvSpPr/>
          <p:nvPr/>
        </p:nvSpPr>
        <p:spPr>
          <a:xfrm>
            <a:off x="868680" y="6263640"/>
            <a:ext cx="10241280" cy="365760"/>
          </a:xfrm>
          <a:prstGeom prst="rect">
            <a:avLst/>
          </a:prstGeom>
          <a:noFill/>
          <a:ln/>
        </p:spPr>
        <p:txBody>
          <a:bodyPr wrap="square" rtlCol="0" anchor="ctr"/>
          <a:lstStyle/>
          <a:p>
            <a:pPr indent="0" marL="0">
              <a:buNone/>
            </a:pPr>
            <a:r>
              <a:rPr lang="en-US" sz="1150" i="1" dirty="0">
                <a:solidFill>
                  <a:srgbClr val="5B6660"/>
                </a:solidFill>
                <a:latin typeface="Calibri" pitchFamily="34" charset="0"/>
                <a:ea typeface="Calibri" pitchFamily="34" charset="-122"/>
                <a:cs typeface="Calibri" pitchFamily="34" charset="-120"/>
              </a:rPr>
              <a:t>This is the default similarity for most embedding-based retrieval because it captures semantic alignment independent of how long or short a passage is.</a:t>
            </a:r>
            <a:endParaRPr lang="en-US" sz="1150" dirty="0"/>
          </a:p>
        </p:txBody>
      </p:sp>
      <p:sp>
        <p:nvSpPr>
          <p:cNvPr id="12" name="Text 10"/>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SIMILARITY METRICS #2 AND #3</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Dot Product &amp; Euclidean Distance</a:t>
            </a:r>
            <a:endParaRPr lang="en-US" sz="2700" dirty="0"/>
          </a:p>
        </p:txBody>
      </p:sp>
      <p:sp>
        <p:nvSpPr>
          <p:cNvPr id="5" name="Shape 3"/>
          <p:cNvSpPr/>
          <p:nvPr/>
        </p:nvSpPr>
        <p:spPr>
          <a:xfrm>
            <a:off x="868680" y="1417320"/>
            <a:ext cx="10241280" cy="1234440"/>
          </a:xfrm>
          <a:prstGeom prst="roundRect">
            <a:avLst>
              <a:gd name="adj" fmla="val 5926"/>
            </a:avLst>
          </a:prstGeom>
          <a:solidFill>
            <a:srgbClr val="FFFFFF"/>
          </a:solidFill>
          <a:ln w="12700">
            <a:solidFill>
              <a:srgbClr val="D8D3C2"/>
            </a:solidFill>
            <a:prstDash val="solid"/>
          </a:ln>
        </p:spPr>
      </p:sp>
      <p:sp>
        <p:nvSpPr>
          <p:cNvPr id="6" name="Text 4"/>
          <p:cNvSpPr/>
          <p:nvPr/>
        </p:nvSpPr>
        <p:spPr>
          <a:xfrm>
            <a:off x="1051560" y="1417320"/>
            <a:ext cx="9875520" cy="1234440"/>
          </a:xfrm>
          <a:prstGeom prst="rect">
            <a:avLst/>
          </a:prstGeom>
          <a:noFill/>
          <a:ln/>
        </p:spPr>
        <p:txBody>
          <a:bodyPr wrap="square" rtlCol="0" anchor="ctr"/>
          <a:lstStyle/>
          <a:p>
            <a:pPr algn="ctr" indent="0" marL="0">
              <a:buNone/>
            </a:pPr>
            <a:r>
              <a:rPr lang="en-US" sz="1900" i="1" dirty="0">
                <a:solidFill>
                  <a:srgbClr val="2F6B4F"/>
                </a:solidFill>
                <a:latin typeface="Cambria Math" pitchFamily="34" charset="0"/>
                <a:ea typeface="Cambria Math" pitchFamily="34" charset="-122"/>
                <a:cs typeface="Cambria Math" pitchFamily="34" charset="-120"/>
              </a:rPr>
              <a:t>dot: A · B = Σi Ai Bi        L2: d(A,B) = √Σi (Ai − Bi)²</a:t>
            </a:r>
            <a:endParaRPr lang="en-US" sz="1900" dirty="0"/>
          </a:p>
        </p:txBody>
      </p:sp>
      <p:sp>
        <p:nvSpPr>
          <p:cNvPr id="7" name="Text 5"/>
          <p:cNvSpPr/>
          <p:nvPr/>
        </p:nvSpPr>
        <p:spPr>
          <a:xfrm>
            <a:off x="868680" y="288036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Dot product  </a:t>
            </a:r>
            <a:pPr indent="0" marL="0">
              <a:buNone/>
            </a:pPr>
            <a:r>
              <a:rPr lang="en-US" sz="1400" dirty="0">
                <a:solidFill>
                  <a:srgbClr val="5B6660"/>
                </a:solidFill>
                <a:latin typeface="Calibri" pitchFamily="34" charset="0"/>
                <a:ea typeface="Calibri" pitchFamily="34" charset="-122"/>
                <a:cs typeface="Calibri" pitchFamily="34" charset="-120"/>
              </a:rPr>
              <a:t>is cosine similarity without the normalization step — faster to compute, but sensitive to vector magnitude, so it rewards larger-norm vectors.</a:t>
            </a:r>
            <a:endParaRPr lang="en-US" sz="1450" dirty="0"/>
          </a:p>
        </p:txBody>
      </p:sp>
      <p:sp>
        <p:nvSpPr>
          <p:cNvPr id="8" name="Text 6"/>
          <p:cNvSpPr/>
          <p:nvPr/>
        </p:nvSpPr>
        <p:spPr>
          <a:xfrm>
            <a:off x="868680" y="342900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Maximum Inner Product Search (MIPS)  </a:t>
            </a:r>
            <a:pPr indent="0" marL="0">
              <a:buNone/>
            </a:pPr>
            <a:r>
              <a:rPr lang="en-US" sz="1400" dirty="0">
                <a:solidFill>
                  <a:srgbClr val="5B6660"/>
                </a:solidFill>
                <a:latin typeface="Calibri" pitchFamily="34" charset="0"/>
                <a:ea typeface="Calibri" pitchFamily="34" charset="-122"/>
                <a:cs typeface="Calibri" pitchFamily="34" charset="-120"/>
              </a:rPr>
              <a:t>is exactly this: finding the vectors with the highest dot product against a query, the search problem underlying RAG's retriever.</a:t>
            </a:r>
            <a:endParaRPr lang="en-US" sz="1450" dirty="0"/>
          </a:p>
        </p:txBody>
      </p:sp>
      <p:sp>
        <p:nvSpPr>
          <p:cNvPr id="9" name="Text 7"/>
          <p:cNvSpPr/>
          <p:nvPr/>
        </p:nvSpPr>
        <p:spPr>
          <a:xfrm>
            <a:off x="868680" y="397764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Euclidean (L2) distance  </a:t>
            </a:r>
            <a:pPr indent="0" marL="0">
              <a:buNone/>
            </a:pPr>
            <a:r>
              <a:rPr lang="en-US" sz="1400" dirty="0">
                <a:solidFill>
                  <a:srgbClr val="5B6660"/>
                </a:solidFill>
                <a:latin typeface="Calibri" pitchFamily="34" charset="0"/>
                <a:ea typeface="Calibri" pitchFamily="34" charset="-122"/>
                <a:cs typeface="Calibri" pitchFamily="34" charset="-120"/>
              </a:rPr>
              <a:t>measures straight-line distance between two points in ℝᵈ; smaller distance means more similar.</a:t>
            </a:r>
            <a:endParaRPr lang="en-US" sz="1450" dirty="0"/>
          </a:p>
        </p:txBody>
      </p:sp>
      <p:sp>
        <p:nvSpPr>
          <p:cNvPr id="10" name="Text 8"/>
          <p:cNvSpPr/>
          <p:nvPr/>
        </p:nvSpPr>
        <p:spPr>
          <a:xfrm>
            <a:off x="868680" y="452628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Practical note:  </a:t>
            </a:r>
            <a:pPr indent="0" marL="0">
              <a:buNone/>
            </a:pPr>
            <a:r>
              <a:rPr lang="en-US" sz="1400" dirty="0">
                <a:solidFill>
                  <a:srgbClr val="5B6660"/>
                </a:solidFill>
                <a:latin typeface="Calibri" pitchFamily="34" charset="0"/>
                <a:ea typeface="Calibri" pitchFamily="34" charset="-122"/>
                <a:cs typeface="Calibri" pitchFamily="34" charset="-120"/>
              </a:rPr>
              <a:t>if embeddings are normalized to unit length, ranking by dot product and by cosine similarity produce identical results.</a:t>
            </a:r>
            <a:endParaRPr lang="en-US" sz="145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SPARSE RETRIEVAL</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Term-Based Retrieval: TF-IDF</a:t>
            </a:r>
            <a:endParaRPr lang="en-US" sz="2700" dirty="0"/>
          </a:p>
        </p:txBody>
      </p:sp>
      <p:sp>
        <p:nvSpPr>
          <p:cNvPr id="5" name="Shape 3"/>
          <p:cNvSpPr/>
          <p:nvPr/>
        </p:nvSpPr>
        <p:spPr>
          <a:xfrm>
            <a:off x="868680" y="1417320"/>
            <a:ext cx="10241280" cy="1234440"/>
          </a:xfrm>
          <a:prstGeom prst="roundRect">
            <a:avLst>
              <a:gd name="adj" fmla="val 5926"/>
            </a:avLst>
          </a:prstGeom>
          <a:solidFill>
            <a:srgbClr val="FFFFFF"/>
          </a:solidFill>
          <a:ln w="12700">
            <a:solidFill>
              <a:srgbClr val="D8D3C2"/>
            </a:solidFill>
            <a:prstDash val="solid"/>
          </a:ln>
        </p:spPr>
      </p:sp>
      <p:sp>
        <p:nvSpPr>
          <p:cNvPr id="6" name="Text 4"/>
          <p:cNvSpPr/>
          <p:nvPr/>
        </p:nvSpPr>
        <p:spPr>
          <a:xfrm>
            <a:off x="1051560" y="1417320"/>
            <a:ext cx="9875520" cy="1234440"/>
          </a:xfrm>
          <a:prstGeom prst="rect">
            <a:avLst/>
          </a:prstGeom>
          <a:noFill/>
          <a:ln/>
        </p:spPr>
        <p:txBody>
          <a:bodyPr wrap="square" rtlCol="0" anchor="ctr"/>
          <a:lstStyle/>
          <a:p>
            <a:pPr algn="ctr" indent="0" marL="0">
              <a:buNone/>
            </a:pPr>
            <a:r>
              <a:rPr lang="en-US" sz="1600" i="1" dirty="0">
                <a:solidFill>
                  <a:srgbClr val="2F6B4F"/>
                </a:solidFill>
                <a:latin typeface="Cambria Math" pitchFamily="34" charset="0"/>
                <a:ea typeface="Cambria Math" pitchFamily="34" charset="-122"/>
                <a:cs typeface="Cambria Math" pitchFamily="34" charset="-120"/>
              </a:rPr>
              <a:t>Score(D,Q) = Σi IDF(ti) × f(ti, D)          IDF(t) = log( N / C(t) )</a:t>
            </a:r>
            <a:endParaRPr lang="en-US" sz="1600" dirty="0"/>
          </a:p>
        </p:txBody>
      </p:sp>
      <p:sp>
        <p:nvSpPr>
          <p:cNvPr id="7" name="Text 5"/>
          <p:cNvSpPr/>
          <p:nvPr/>
        </p:nvSpPr>
        <p:spPr>
          <a:xfrm>
            <a:off x="868680" y="288036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f(ti, D)  </a:t>
            </a:r>
            <a:pPr indent="0" marL="0">
              <a:buNone/>
            </a:pPr>
            <a:r>
              <a:rPr lang="en-US" sz="1400" dirty="0">
                <a:solidFill>
                  <a:srgbClr val="5B6660"/>
                </a:solidFill>
                <a:latin typeface="Calibri" pitchFamily="34" charset="0"/>
                <a:ea typeface="Calibri" pitchFamily="34" charset="-122"/>
                <a:cs typeface="Calibri" pitchFamily="34" charset="-120"/>
              </a:rPr>
              <a:t>the term frequency: how many times query term ti appears in document D.</a:t>
            </a:r>
            <a:endParaRPr lang="en-US" sz="1450" dirty="0"/>
          </a:p>
        </p:txBody>
      </p:sp>
      <p:sp>
        <p:nvSpPr>
          <p:cNvPr id="8" name="Text 6"/>
          <p:cNvSpPr/>
          <p:nvPr/>
        </p:nvSpPr>
        <p:spPr>
          <a:xfrm>
            <a:off x="868680" y="342900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N, C(t)  </a:t>
            </a:r>
            <a:pPr indent="0" marL="0">
              <a:buNone/>
            </a:pPr>
            <a:r>
              <a:rPr lang="en-US" sz="1400" dirty="0">
                <a:solidFill>
                  <a:srgbClr val="5B6660"/>
                </a:solidFill>
                <a:latin typeface="Calibri" pitchFamily="34" charset="0"/>
                <a:ea typeface="Calibri" pitchFamily="34" charset="-122"/>
                <a:cs typeface="Calibri" pitchFamily="34" charset="-120"/>
              </a:rPr>
              <a:t>N is the total number of documents, C(t) is how many of them contain term t.</a:t>
            </a:r>
            <a:endParaRPr lang="en-US" sz="1450" dirty="0"/>
          </a:p>
        </p:txBody>
      </p:sp>
      <p:sp>
        <p:nvSpPr>
          <p:cNvPr id="9" name="Text 7"/>
          <p:cNvSpPr/>
          <p:nvPr/>
        </p:nvSpPr>
        <p:spPr>
          <a:xfrm>
            <a:off x="868680" y="397764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IDF(t)  </a:t>
            </a:r>
            <a:pPr indent="0" marL="0">
              <a:buNone/>
            </a:pPr>
            <a:r>
              <a:rPr lang="en-US" sz="1400" dirty="0">
                <a:solidFill>
                  <a:srgbClr val="5B6660"/>
                </a:solidFill>
                <a:latin typeface="Calibri" pitchFamily="34" charset="0"/>
                <a:ea typeface="Calibri" pitchFamily="34" charset="-122"/>
                <a:cs typeface="Calibri" pitchFamily="34" charset="-120"/>
              </a:rPr>
              <a:t>inverse document frequency: rare terms across the corpus (high IDF) are more informative than common ones like “the” or “for.”</a:t>
            </a:r>
            <a:endParaRPr lang="en-US" sz="1450" dirty="0"/>
          </a:p>
        </p:txBody>
      </p:sp>
      <p:sp>
        <p:nvSpPr>
          <p:cNvPr id="10" name="Text 8"/>
          <p:cNvSpPr/>
          <p:nvPr/>
        </p:nvSpPr>
        <p:spPr>
          <a:xfrm>
            <a:off x="868680" y="452628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Sparse vector view:  </a:t>
            </a:r>
            <a:pPr indent="0" marL="0">
              <a:buNone/>
            </a:pPr>
            <a:r>
              <a:rPr lang="en-US" sz="1400" dirty="0">
                <a:solidFill>
                  <a:srgbClr val="5B6660"/>
                </a:solidFill>
                <a:latin typeface="Calibri" pitchFamily="34" charset="0"/>
                <a:ea typeface="Calibri" pitchFamily="34" charset="-122"/>
                <a:cs typeface="Calibri" pitchFamily="34" charset="-120"/>
              </a:rPr>
              <a:t>each term is a one-hot vector of size = vocabulary; TF-IDF weights how much each dimension counts.</a:t>
            </a:r>
            <a:endParaRPr lang="en-US" sz="145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THE INDUSTRY BASELINE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Term-Based Retrieval: BM25</a:t>
            </a:r>
            <a:endParaRPr lang="en-US" sz="2700" dirty="0"/>
          </a:p>
        </p:txBody>
      </p:sp>
      <p:sp>
        <p:nvSpPr>
          <p:cNvPr id="5" name="Shape 3"/>
          <p:cNvSpPr/>
          <p:nvPr/>
        </p:nvSpPr>
        <p:spPr>
          <a:xfrm>
            <a:off x="868680" y="1417320"/>
            <a:ext cx="10241280" cy="1234440"/>
          </a:xfrm>
          <a:prstGeom prst="roundRect">
            <a:avLst>
              <a:gd name="adj" fmla="val 5926"/>
            </a:avLst>
          </a:prstGeom>
          <a:solidFill>
            <a:srgbClr val="FFFFFF"/>
          </a:solidFill>
          <a:ln w="12700">
            <a:solidFill>
              <a:srgbClr val="D8D3C2"/>
            </a:solidFill>
            <a:prstDash val="solid"/>
          </a:ln>
        </p:spPr>
      </p:sp>
      <p:sp>
        <p:nvSpPr>
          <p:cNvPr id="6" name="Text 4"/>
          <p:cNvSpPr/>
          <p:nvPr/>
        </p:nvSpPr>
        <p:spPr>
          <a:xfrm>
            <a:off x="1051560" y="1417320"/>
            <a:ext cx="9875520" cy="1234440"/>
          </a:xfrm>
          <a:prstGeom prst="rect">
            <a:avLst/>
          </a:prstGeom>
          <a:noFill/>
          <a:ln/>
        </p:spPr>
        <p:txBody>
          <a:bodyPr wrap="square" rtlCol="0" anchor="ctr"/>
          <a:lstStyle/>
          <a:p>
            <a:pPr algn="ctr" indent="0" marL="0">
              <a:buNone/>
            </a:pPr>
            <a:r>
              <a:rPr lang="en-US" sz="1600" i="1" dirty="0">
                <a:solidFill>
                  <a:srgbClr val="2F6B4F"/>
                </a:solidFill>
                <a:latin typeface="Cambria Math" pitchFamily="34" charset="0"/>
                <a:ea typeface="Cambria Math" pitchFamily="34" charset="-122"/>
                <a:cs typeface="Cambria Math" pitchFamily="34" charset="-120"/>
              </a:rPr>
              <a:t>score(D,Q) = Σi IDF(qi) · f(qi,D)(k1+1) / ( f(qi,D) + k1(1−b+b·|D|/avgdl) )</a:t>
            </a:r>
            <a:endParaRPr lang="en-US" sz="1600" dirty="0"/>
          </a:p>
        </p:txBody>
      </p:sp>
      <p:sp>
        <p:nvSpPr>
          <p:cNvPr id="7" name="Text 5"/>
          <p:cNvSpPr/>
          <p:nvPr/>
        </p:nvSpPr>
        <p:spPr>
          <a:xfrm>
            <a:off x="868680" y="288036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k1, b  </a:t>
            </a:r>
            <a:pPr indent="0" marL="0">
              <a:buNone/>
            </a:pPr>
            <a:r>
              <a:rPr lang="en-US" sz="1400" dirty="0">
                <a:solidFill>
                  <a:srgbClr val="5B6660"/>
                </a:solidFill>
                <a:latin typeface="Calibri" pitchFamily="34" charset="0"/>
                <a:ea typeface="Calibri" pitchFamily="34" charset="-122"/>
                <a:cs typeface="Calibri" pitchFamily="34" charset="-120"/>
              </a:rPr>
              <a:t>tuning constants controlling term-frequency saturation and how strongly document length is penalized.</a:t>
            </a:r>
            <a:endParaRPr lang="en-US" sz="1450" dirty="0"/>
          </a:p>
        </p:txBody>
      </p:sp>
      <p:sp>
        <p:nvSpPr>
          <p:cNvPr id="8" name="Text 6"/>
          <p:cNvSpPr/>
          <p:nvPr/>
        </p:nvSpPr>
        <p:spPr>
          <a:xfrm>
            <a:off x="868680" y="342900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|D| / avgdl  </a:t>
            </a:r>
            <a:pPr indent="0" marL="0">
              <a:buNone/>
            </a:pPr>
            <a:r>
              <a:rPr lang="en-US" sz="1400" dirty="0">
                <a:solidFill>
                  <a:srgbClr val="5B6660"/>
                </a:solidFill>
                <a:latin typeface="Calibri" pitchFamily="34" charset="0"/>
                <a:ea typeface="Calibri" pitchFamily="34" charset="-122"/>
                <a:cs typeface="Calibri" pitchFamily="34" charset="-120"/>
              </a:rPr>
              <a:t>the ratio of this document's length to the average document length in the corpus.</a:t>
            </a:r>
            <a:endParaRPr lang="en-US" sz="1450" dirty="0"/>
          </a:p>
        </p:txBody>
      </p:sp>
      <p:sp>
        <p:nvSpPr>
          <p:cNvPr id="9" name="Text 7"/>
          <p:cNvSpPr/>
          <p:nvPr/>
        </p:nvSpPr>
        <p:spPr>
          <a:xfrm>
            <a:off x="868680" y="397764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Why it beats naive TF-IDF:  </a:t>
            </a:r>
            <a:pPr indent="0" marL="0">
              <a:buNone/>
            </a:pPr>
            <a:r>
              <a:rPr lang="en-US" sz="1400" dirty="0">
                <a:solidFill>
                  <a:srgbClr val="5B6660"/>
                </a:solidFill>
                <a:latin typeface="Calibri" pitchFamily="34" charset="0"/>
                <a:ea typeface="Calibri" pitchFamily="34" charset="-122"/>
                <a:cs typeface="Calibri" pitchFamily="34" charset="-120"/>
              </a:rPr>
              <a:t>BM25 normalizes term frequency by document length, so long documents no longer win purely by containing more words.</a:t>
            </a:r>
            <a:endParaRPr lang="en-US" sz="1450" dirty="0"/>
          </a:p>
        </p:txBody>
      </p:sp>
      <p:sp>
        <p:nvSpPr>
          <p:cNvPr id="10" name="Text 8"/>
          <p:cNvSpPr/>
          <p:nvPr/>
        </p:nvSpPr>
        <p:spPr>
          <a:xfrm>
            <a:off x="868680" y="452628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Still a strong baseline:  </a:t>
            </a:r>
            <a:pPr indent="0" marL="0">
              <a:buNone/>
            </a:pPr>
            <a:r>
              <a:rPr lang="en-US" sz="1400" dirty="0">
                <a:solidFill>
                  <a:srgbClr val="5B6660"/>
                </a:solidFill>
                <a:latin typeface="Calibri" pitchFamily="34" charset="0"/>
                <a:ea typeface="Calibri" pitchFamily="34" charset="-122"/>
                <a:cs typeface="Calibri" pitchFamily="34" charset="-120"/>
              </a:rPr>
              <a:t>Elasticsearch and BM25 remain widely used in production, and are often combined with dense retrieval rather than replaced by it.</a:t>
            </a:r>
            <a:endParaRPr lang="en-US" sz="145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SPARSE VS DENSE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Term-Based vs Embedding-Based Retrieval</a:t>
            </a:r>
            <a:endParaRPr lang="en-US" sz="27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468880"/>
                <a:gridCol w="4297680"/>
                <a:gridCol w="4297680"/>
              </a:tblGrid>
              <a:tr h="457200">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Term-based (sparse)</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Embedding-based (dense)</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Querying speed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Much faster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Query embedding + vector search can be slower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Out-of-the-box performance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Strong, but hard to improve further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Can outperform with fine-tuning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Weakness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Misses synonyms and paraphrases (lexical only)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Can obscure exact keywords, codes, product names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Cheap</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Embedding generation, storage, and search all cost money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STORAGE &amp; SEARCH</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Vector Databases &amp; FAISS</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What a vector database does.  </a:t>
            </a:r>
            <a:pPr indent="0" marL="0">
              <a:buNone/>
            </a:pPr>
            <a:r>
              <a:rPr lang="en-US" sz="1450" dirty="0">
                <a:solidFill>
                  <a:srgbClr val="5B6660"/>
                </a:solidFill>
                <a:latin typeface="Calibri" pitchFamily="34" charset="0"/>
                <a:ea typeface="Calibri" pitchFamily="34" charset="-122"/>
                <a:cs typeface="Calibri" pitchFamily="34" charset="-120"/>
              </a:rPr>
              <a:t>Stores embeddings and answers nearest-neighbor queries: given a query vector, return the k closest vectors in the index.</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FAISS (Facebook AI Similarity Search).  </a:t>
            </a:r>
            <a:pPr indent="0" marL="0">
              <a:buNone/>
            </a:pPr>
            <a:r>
              <a:rPr lang="en-US" sz="1450" dirty="0">
                <a:solidFill>
                  <a:srgbClr val="5B6660"/>
                </a:solidFill>
                <a:latin typeface="Calibri" pitchFamily="34" charset="0"/>
                <a:ea typeface="Calibri" pitchFamily="34" charset="-122"/>
                <a:cs typeface="Calibri" pitchFamily="34" charset="-120"/>
              </a:rPr>
              <a:t>A widely used open-source library for exact and approximate vector search, from a single machine up to billions of vectors.</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Storing, not just searching.  </a:t>
            </a:r>
            <a:pPr indent="0" marL="0">
              <a:buNone/>
            </a:pPr>
            <a:r>
              <a:rPr lang="en-US" sz="1450" dirty="0">
                <a:solidFill>
                  <a:srgbClr val="5B6660"/>
                </a:solidFill>
                <a:latin typeface="Calibri" pitchFamily="34" charset="0"/>
                <a:ea typeface="Calibri" pitchFamily="34" charset="-122"/>
                <a:cs typeface="Calibri" pitchFamily="34" charset="-120"/>
              </a:rPr>
              <a:t>FAISS holds the embeddings itself; on disk this is typically saved as index.faiss, alongside a separate lookup table mapping chunk IDs to their original text.</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No document text is stored in the vector.  </a:t>
            </a:r>
            <a:pPr indent="0" marL="0">
              <a:buNone/>
            </a:pPr>
            <a:r>
              <a:rPr lang="en-US" sz="1450" dirty="0">
                <a:solidFill>
                  <a:srgbClr val="5B6660"/>
                </a:solidFill>
                <a:latin typeface="Calibri" pitchFamily="34" charset="0"/>
                <a:ea typeface="Calibri" pitchFamily="34" charset="-122"/>
                <a:cs typeface="Calibri" pitchFamily="34" charset="-120"/>
              </a:rPr>
              <a:t>FAISS returns IDs of the nearest vectors; the calling application looks up the corresponding chunk text from its own store.</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INDEX TYPES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Approximate Nearest Neighbor (ANN) Search</a:t>
            </a:r>
            <a:endParaRPr lang="en-US" sz="27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377440"/>
                <a:gridCol w="4846320"/>
                <a:gridCol w="393192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Algorithm</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Idea</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Trade-off</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Flat / k-NN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Compare the query to every vector exactly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Perfectly accurate, too slow at scale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IVF (inverted file)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K-means clusters vectors; search only nearby clusters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Backbone of FAISS; fast, tunable accuracy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HNSW</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Multi-layer graph connecting similar vectors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 accuracy and fast queries, costly to build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LSH</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Hash similar vectors into the same buckets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Fast and lightweight, trades some accuracy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Product Quantization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Compress vectors into compact sub-vector codes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Much less memory, small accuracy cost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09360"/>
            <a:ext cx="10881360" cy="365760"/>
          </a:xfrm>
          <a:prstGeom prst="rect">
            <a:avLst/>
          </a:prstGeom>
          <a:noFill/>
          <a:ln/>
        </p:spPr>
        <p:txBody>
          <a:bodyPr wrap="square" rtlCol="0" anchor="ctr"/>
          <a:lstStyle/>
          <a:p>
            <a:pPr indent="0" marL="0">
              <a:buNone/>
            </a:pPr>
            <a:r>
              <a:rPr lang="en-US" sz="1150" i="1" dirty="0">
                <a:solidFill>
                  <a:srgbClr val="5B6660"/>
                </a:solidFill>
                <a:latin typeface="Calibri" pitchFamily="34" charset="0"/>
                <a:ea typeface="Calibri" pitchFamily="34" charset="-122"/>
                <a:cs typeface="Calibri" pitchFamily="34" charset="-120"/>
              </a:rPr>
              <a:t>For large datasets, exact k-NN is too slow, so production systems use an ANN index that trades a small amount of accuracy for large gains in query speed.</a:t>
            </a:r>
            <a:endParaRPr lang="en-US" sz="1150" dirty="0"/>
          </a:p>
        </p:txBody>
      </p:sp>
      <p:sp>
        <p:nvSpPr>
          <p:cNvPr id="7" name="Text 4"/>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INDEXING CODE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FAISS in Practice</a:t>
            </a:r>
            <a:endParaRPr lang="en-US" sz="2700" dirty="0"/>
          </a:p>
        </p:txBody>
      </p:sp>
      <p:sp>
        <p:nvSpPr>
          <p:cNvPr id="5" name="Shape 3"/>
          <p:cNvSpPr/>
          <p:nvPr/>
        </p:nvSpPr>
        <p:spPr>
          <a:xfrm>
            <a:off x="868680" y="1417320"/>
            <a:ext cx="6492240" cy="4846320"/>
          </a:xfrm>
          <a:prstGeom prst="roundRect">
            <a:avLst>
              <a:gd name="adj" fmla="val 1509"/>
            </a:avLst>
          </a:prstGeom>
          <a:solidFill>
            <a:srgbClr val="16201A"/>
          </a:solidFill>
          <a:ln/>
        </p:spPr>
      </p:sp>
      <p:sp>
        <p:nvSpPr>
          <p:cNvPr id="6" name="Text 4"/>
          <p:cNvSpPr/>
          <p:nvPr/>
        </p:nvSpPr>
        <p:spPr>
          <a:xfrm>
            <a:off x="1097280" y="1600200"/>
            <a:ext cx="6035040" cy="4480560"/>
          </a:xfrm>
          <a:prstGeom prst="rect">
            <a:avLst/>
          </a:prstGeom>
          <a:noFill/>
          <a:ln/>
        </p:spPr>
        <p:txBody>
          <a:bodyPr wrap="square" rtlCol="0" anchor="t"/>
          <a:lstStyle/>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import faiss</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Build once: embed all chunks, then index them</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embeddings = embed_model.encode(chunks)   # shape (N, d)</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index = faiss.IndexFlatIP(d)              # inner product index</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index.add(embeddings)</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faiss.write_index(index, "index.faiss")</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Store chunk text separately (JSON / SQLite / Postgres)</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save_chunk_lookup(chunk_ids, chunk_texts)</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At startup: load, do not recompute</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index = faiss.read_index("index.faiss")</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At query time: embed only the question</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q_vec = embed_model.encode([question])</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scores, ids = index.search(q_vec, k=5)</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chunks_found = [lookup[i] for i in ids[0]]</a:t>
            </a:r>
            <a:endParaRPr lang="en-US" sz="1150" dirty="0"/>
          </a:p>
        </p:txBody>
      </p:sp>
      <p:sp>
        <p:nvSpPr>
          <p:cNvPr id="7" name="Text 5"/>
          <p:cNvSpPr/>
          <p:nvPr/>
        </p:nvSpPr>
        <p:spPr>
          <a:xfrm>
            <a:off x="7635240" y="1463040"/>
            <a:ext cx="347472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Why this is fast</a:t>
            </a:r>
            <a:endParaRPr lang="en-US" sz="1400" dirty="0"/>
          </a:p>
        </p:txBody>
      </p:sp>
      <p:sp>
        <p:nvSpPr>
          <p:cNvPr id="8" name="Text 6"/>
          <p:cNvSpPr/>
          <p:nvPr/>
        </p:nvSpPr>
        <p:spPr>
          <a:xfrm>
            <a:off x="7635240" y="192024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Document embeddings are computed once, at indexing time.</a:t>
            </a:r>
            <a:endParaRPr lang="en-US" sz="1200" dirty="0"/>
          </a:p>
        </p:txBody>
      </p:sp>
      <p:sp>
        <p:nvSpPr>
          <p:cNvPr id="9" name="Text 7"/>
          <p:cNvSpPr/>
          <p:nvPr/>
        </p:nvSpPr>
        <p:spPr>
          <a:xfrm>
            <a:off x="7635240" y="278892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Only the question is embedded at query time.</a:t>
            </a:r>
            <a:endParaRPr lang="en-US" sz="1200" dirty="0"/>
          </a:p>
        </p:txBody>
      </p:sp>
      <p:sp>
        <p:nvSpPr>
          <p:cNvPr id="10" name="Text 8"/>
          <p:cNvSpPr/>
          <p:nvPr/>
        </p:nvSpPr>
        <p:spPr>
          <a:xfrm>
            <a:off x="7635240" y="365760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FAISS never recomputes stored vectors, only compares against them.</a:t>
            </a:r>
            <a:endParaRPr lang="en-US" sz="1200" dirty="0"/>
          </a:p>
        </p:txBody>
      </p:sp>
      <p:sp>
        <p:nvSpPr>
          <p:cNvPr id="11" name="Text 9"/>
          <p:cNvSpPr/>
          <p:nvPr/>
        </p:nvSpPr>
        <p:spPr>
          <a:xfrm>
            <a:off x="7635240" y="452628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This is why RAG can answer in tens of milliseconds even over millions of chunks.</a:t>
            </a:r>
            <a:endParaRPr lang="en-US" sz="1200" dirty="0"/>
          </a:p>
        </p:txBody>
      </p:sp>
      <p:sp>
        <p:nvSpPr>
          <p:cNvPr id="12" name="Text 10"/>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SPEED, PERFORMANCE, COST</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Retrieval Algorithms Compared</a:t>
            </a:r>
            <a:endParaRPr lang="en-US" sz="27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194560"/>
                <a:gridCol w="4937760"/>
                <a:gridCol w="4937760"/>
              </a:tblGrid>
              <a:tr h="457200">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Term-based retrieval</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Embedding-based retrieval</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Querying speed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Much faster than embedding-based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Query embedding + vector search can be slow</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Performance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Strong out of the box, hard to improve, can mismatch on term ambiguity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Can outperform with fine-tuning; understands natural language queries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Much cheaper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Embedding, storage, and search costs can rival model API costs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09360"/>
            <a:ext cx="10881360" cy="365760"/>
          </a:xfrm>
          <a:prstGeom prst="rect">
            <a:avLst/>
          </a:prstGeom>
          <a:noFill/>
          <a:ln/>
        </p:spPr>
        <p:txBody>
          <a:bodyPr wrap="square" rtlCol="0" anchor="ctr"/>
          <a:lstStyle/>
          <a:p>
            <a:pPr indent="0" marL="0">
              <a:buNone/>
            </a:pPr>
            <a:r>
              <a:rPr lang="en-US" sz="1150" i="1" dirty="0">
                <a:solidFill>
                  <a:srgbClr val="5B6660"/>
                </a:solidFill>
                <a:latin typeface="Calibri" pitchFamily="34" charset="0"/>
                <a:ea typeface="Calibri" pitchFamily="34" charset="-122"/>
                <a:cs typeface="Calibri" pitchFamily="34" charset="-120"/>
              </a:rPr>
              <a:t>Source: adapted from Huyen, AI Engineering, Chapter 6.</a:t>
            </a:r>
            <a:endParaRPr lang="en-US" sz="1150" dirty="0"/>
          </a:p>
        </p:txBody>
      </p:sp>
      <p:sp>
        <p:nvSpPr>
          <p:cNvPr id="7" name="Text 4"/>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COMBINING RETRIEVERS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Hybrid Search &amp; Reciprocal Rank Fusion</a:t>
            </a:r>
            <a:endParaRPr lang="en-US" sz="2700" dirty="0"/>
          </a:p>
        </p:txBody>
      </p:sp>
      <p:sp>
        <p:nvSpPr>
          <p:cNvPr id="5" name="Shape 3"/>
          <p:cNvSpPr/>
          <p:nvPr/>
        </p:nvSpPr>
        <p:spPr>
          <a:xfrm>
            <a:off x="868680" y="1417320"/>
            <a:ext cx="10241280" cy="1234440"/>
          </a:xfrm>
          <a:prstGeom prst="roundRect">
            <a:avLst>
              <a:gd name="adj" fmla="val 5926"/>
            </a:avLst>
          </a:prstGeom>
          <a:solidFill>
            <a:srgbClr val="FFFFFF"/>
          </a:solidFill>
          <a:ln w="12700">
            <a:solidFill>
              <a:srgbClr val="D8D3C2"/>
            </a:solidFill>
            <a:prstDash val="solid"/>
          </a:ln>
        </p:spPr>
      </p:sp>
      <p:sp>
        <p:nvSpPr>
          <p:cNvPr id="6" name="Text 4"/>
          <p:cNvSpPr/>
          <p:nvPr/>
        </p:nvSpPr>
        <p:spPr>
          <a:xfrm>
            <a:off x="1051560" y="1417320"/>
            <a:ext cx="9875520" cy="1234440"/>
          </a:xfrm>
          <a:prstGeom prst="rect">
            <a:avLst/>
          </a:prstGeom>
          <a:noFill/>
          <a:ln/>
        </p:spPr>
        <p:txBody>
          <a:bodyPr wrap="square" rtlCol="0" anchor="ctr"/>
          <a:lstStyle/>
          <a:p>
            <a:pPr algn="ctr" indent="0" marL="0">
              <a:buNone/>
            </a:pPr>
            <a:r>
              <a:rPr lang="en-US" sz="2200" i="1" dirty="0">
                <a:solidFill>
                  <a:srgbClr val="2F6B4F"/>
                </a:solidFill>
                <a:latin typeface="Cambria Math" pitchFamily="34" charset="0"/>
                <a:ea typeface="Cambria Math" pitchFamily="34" charset="-122"/>
                <a:cs typeface="Cambria Math" pitchFamily="34" charset="-120"/>
              </a:rPr>
              <a:t>Score(D) = Σi 1 / (k + ri(D))</a:t>
            </a:r>
            <a:endParaRPr lang="en-US" sz="2200" dirty="0"/>
          </a:p>
        </p:txBody>
      </p:sp>
      <p:sp>
        <p:nvSpPr>
          <p:cNvPr id="7" name="Text 5"/>
          <p:cNvSpPr/>
          <p:nvPr/>
        </p:nvSpPr>
        <p:spPr>
          <a:xfrm>
            <a:off x="868680" y="288036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Hybrid search  </a:t>
            </a:r>
            <a:pPr indent="0" marL="0">
              <a:buNone/>
            </a:pPr>
            <a:r>
              <a:rPr lang="en-US" sz="1400" dirty="0">
                <a:solidFill>
                  <a:srgbClr val="5B6660"/>
                </a:solidFill>
                <a:latin typeface="Calibri" pitchFamily="34" charset="0"/>
                <a:ea typeface="Calibri" pitchFamily="34" charset="-122"/>
                <a:cs typeface="Calibri" pitchFamily="34" charset="-120"/>
              </a:rPr>
              <a:t>runs term-based and embedding-based retrieval in parallel, then fuses their rankings into one.</a:t>
            </a:r>
            <a:endParaRPr lang="en-US" sz="1450" dirty="0"/>
          </a:p>
        </p:txBody>
      </p:sp>
      <p:sp>
        <p:nvSpPr>
          <p:cNvPr id="8" name="Text 6"/>
          <p:cNvSpPr/>
          <p:nvPr/>
        </p:nvSpPr>
        <p:spPr>
          <a:xfrm>
            <a:off x="868680" y="342900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ri(D)  </a:t>
            </a:r>
            <a:pPr indent="0" marL="0">
              <a:buNone/>
            </a:pPr>
            <a:r>
              <a:rPr lang="en-US" sz="1400" dirty="0">
                <a:solidFill>
                  <a:srgbClr val="5B6660"/>
                </a:solidFill>
                <a:latin typeface="Calibri" pitchFamily="34" charset="0"/>
                <a:ea typeface="Calibri" pitchFamily="34" charset="-122"/>
                <a:cs typeface="Calibri" pitchFamily="34" charset="-120"/>
              </a:rPr>
              <a:t>the rank document D received from retriever i (1st, 2nd, 3rd…); n retrievers are combined by summing their contributions.</a:t>
            </a:r>
            <a:endParaRPr lang="en-US" sz="1450" dirty="0"/>
          </a:p>
        </p:txBody>
      </p:sp>
      <p:sp>
        <p:nvSpPr>
          <p:cNvPr id="9" name="Text 7"/>
          <p:cNvSpPr/>
          <p:nvPr/>
        </p:nvSpPr>
        <p:spPr>
          <a:xfrm>
            <a:off x="868680" y="397764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k  </a:t>
            </a:r>
            <a:pPr indent="0" marL="0">
              <a:buNone/>
            </a:pPr>
            <a:r>
              <a:rPr lang="en-US" sz="1400" dirty="0">
                <a:solidFill>
                  <a:srgbClr val="5B6660"/>
                </a:solidFill>
                <a:latin typeface="Calibri" pitchFamily="34" charset="0"/>
                <a:ea typeface="Calibri" pitchFamily="34" charset="-122"/>
                <a:cs typeface="Calibri" pitchFamily="34" charset="-120"/>
              </a:rPr>
              <a:t>a constant (commonly 60) that limits the influence of low-ranked documents and avoids division by zero.</a:t>
            </a:r>
            <a:endParaRPr lang="en-US" sz="1450" dirty="0"/>
          </a:p>
        </p:txBody>
      </p:sp>
      <p:sp>
        <p:nvSpPr>
          <p:cNvPr id="10" name="Text 8"/>
          <p:cNvSpPr/>
          <p:nvPr/>
        </p:nvSpPr>
        <p:spPr>
          <a:xfrm>
            <a:off x="868680" y="452628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Why it works:  </a:t>
            </a:r>
            <a:pPr indent="0" marL="0">
              <a:buNone/>
            </a:pPr>
            <a:r>
              <a:rPr lang="en-US" sz="1400" dirty="0">
                <a:solidFill>
                  <a:srgbClr val="5B6660"/>
                </a:solidFill>
                <a:latin typeface="Calibri" pitchFamily="34" charset="0"/>
                <a:ea typeface="Calibri" pitchFamily="34" charset="-122"/>
                <a:cs typeface="Calibri" pitchFamily="34" charset="-120"/>
              </a:rPr>
              <a:t>sparse retrieval catches exact keywords and codes that embeddings can blur; dense retrieval catches paraphrases that keyword search misses.</a:t>
            </a:r>
            <a:endParaRPr lang="en-US" sz="145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INDEXING + INFERENCE, END TO END</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The Complete Retrieval Pipeline</a:t>
            </a:r>
            <a:endParaRPr lang="en-US" sz="2700" dirty="0"/>
          </a:p>
        </p:txBody>
      </p:sp>
      <p:sp>
        <p:nvSpPr>
          <p:cNvPr id="5" name="Shape 3"/>
          <p:cNvSpPr/>
          <p:nvPr/>
        </p:nvSpPr>
        <p:spPr>
          <a:xfrm>
            <a:off x="868680" y="2377440"/>
            <a:ext cx="1440180" cy="1371600"/>
          </a:xfrm>
          <a:prstGeom prst="roundRect">
            <a:avLst>
              <a:gd name="adj" fmla="val 5333"/>
            </a:avLst>
          </a:prstGeom>
          <a:solidFill>
            <a:srgbClr val="E4F0E9"/>
          </a:solidFill>
          <a:ln w="12700">
            <a:solidFill>
              <a:srgbClr val="2F6B4F"/>
            </a:solidFill>
            <a:prstDash val="solid"/>
          </a:ln>
        </p:spPr>
      </p:sp>
      <p:sp>
        <p:nvSpPr>
          <p:cNvPr id="6" name="Text 4"/>
          <p:cNvSpPr/>
          <p:nvPr/>
        </p:nvSpPr>
        <p:spPr>
          <a:xfrm>
            <a:off x="94183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PDF / Word</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 SQL</a:t>
            </a:r>
            <a:endParaRPr lang="en-US" sz="1250" dirty="0"/>
          </a:p>
        </p:txBody>
      </p:sp>
      <p:sp>
        <p:nvSpPr>
          <p:cNvPr id="7" name="Text 5"/>
          <p:cNvSpPr/>
          <p:nvPr/>
        </p:nvSpPr>
        <p:spPr>
          <a:xfrm>
            <a:off x="230886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8" name="Shape 6"/>
          <p:cNvSpPr/>
          <p:nvPr/>
        </p:nvSpPr>
        <p:spPr>
          <a:xfrm>
            <a:off x="2628900" y="2377440"/>
            <a:ext cx="1440180" cy="1371600"/>
          </a:xfrm>
          <a:prstGeom prst="roundRect">
            <a:avLst>
              <a:gd name="adj" fmla="val 5333"/>
            </a:avLst>
          </a:prstGeom>
          <a:solidFill>
            <a:srgbClr val="E4F0E9"/>
          </a:solidFill>
          <a:ln w="12700">
            <a:solidFill>
              <a:srgbClr val="2F6B4F"/>
            </a:solidFill>
            <a:prstDash val="solid"/>
          </a:ln>
        </p:spPr>
      </p:sp>
      <p:sp>
        <p:nvSpPr>
          <p:cNvPr id="9" name="Text 7"/>
          <p:cNvSpPr/>
          <p:nvPr/>
        </p:nvSpPr>
        <p:spPr>
          <a:xfrm>
            <a:off x="270205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Extraction</a:t>
            </a:r>
            <a:endParaRPr lang="en-US" sz="1250" dirty="0"/>
          </a:p>
        </p:txBody>
      </p:sp>
      <p:sp>
        <p:nvSpPr>
          <p:cNvPr id="10" name="Text 8"/>
          <p:cNvSpPr/>
          <p:nvPr/>
        </p:nvSpPr>
        <p:spPr>
          <a:xfrm>
            <a:off x="406908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1" name="Shape 9"/>
          <p:cNvSpPr/>
          <p:nvPr/>
        </p:nvSpPr>
        <p:spPr>
          <a:xfrm>
            <a:off x="4389120" y="2377440"/>
            <a:ext cx="1440180" cy="1371600"/>
          </a:xfrm>
          <a:prstGeom prst="roundRect">
            <a:avLst>
              <a:gd name="adj" fmla="val 5333"/>
            </a:avLst>
          </a:prstGeom>
          <a:solidFill>
            <a:srgbClr val="E4F0E9"/>
          </a:solidFill>
          <a:ln w="12700">
            <a:solidFill>
              <a:srgbClr val="2F6B4F"/>
            </a:solidFill>
            <a:prstDash val="solid"/>
          </a:ln>
        </p:spPr>
      </p:sp>
      <p:sp>
        <p:nvSpPr>
          <p:cNvPr id="12" name="Text 10"/>
          <p:cNvSpPr/>
          <p:nvPr/>
        </p:nvSpPr>
        <p:spPr>
          <a:xfrm>
            <a:off x="446227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Chunking</a:t>
            </a:r>
            <a:endParaRPr lang="en-US" sz="1250" dirty="0"/>
          </a:p>
        </p:txBody>
      </p:sp>
      <p:sp>
        <p:nvSpPr>
          <p:cNvPr id="13" name="Text 11"/>
          <p:cNvSpPr/>
          <p:nvPr/>
        </p:nvSpPr>
        <p:spPr>
          <a:xfrm>
            <a:off x="582930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6149340" y="2377440"/>
            <a:ext cx="1440180" cy="1371600"/>
          </a:xfrm>
          <a:prstGeom prst="roundRect">
            <a:avLst>
              <a:gd name="adj" fmla="val 5333"/>
            </a:avLst>
          </a:prstGeom>
          <a:solidFill>
            <a:srgbClr val="E4F0E9"/>
          </a:solidFill>
          <a:ln w="12700">
            <a:solidFill>
              <a:srgbClr val="2F6B4F"/>
            </a:solidFill>
            <a:prstDash val="solid"/>
          </a:ln>
        </p:spPr>
      </p:sp>
      <p:sp>
        <p:nvSpPr>
          <p:cNvPr id="15" name="Text 13"/>
          <p:cNvSpPr/>
          <p:nvPr/>
        </p:nvSpPr>
        <p:spPr>
          <a:xfrm>
            <a:off x="622249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BGE-M3</a:t>
            </a:r>
            <a:endParaRPr lang="en-US" sz="1250" dirty="0"/>
          </a:p>
        </p:txBody>
      </p:sp>
      <p:sp>
        <p:nvSpPr>
          <p:cNvPr id="16" name="Text 14"/>
          <p:cNvSpPr/>
          <p:nvPr/>
        </p:nvSpPr>
        <p:spPr>
          <a:xfrm>
            <a:off x="758952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7" name="Shape 15"/>
          <p:cNvSpPr/>
          <p:nvPr/>
        </p:nvSpPr>
        <p:spPr>
          <a:xfrm>
            <a:off x="7909560" y="2377440"/>
            <a:ext cx="1440180" cy="1371600"/>
          </a:xfrm>
          <a:prstGeom prst="roundRect">
            <a:avLst>
              <a:gd name="adj" fmla="val 5333"/>
            </a:avLst>
          </a:prstGeom>
          <a:solidFill>
            <a:srgbClr val="E4F0E9"/>
          </a:solidFill>
          <a:ln w="12700">
            <a:solidFill>
              <a:srgbClr val="2F6B4F"/>
            </a:solidFill>
            <a:prstDash val="solid"/>
          </a:ln>
        </p:spPr>
      </p:sp>
      <p:sp>
        <p:nvSpPr>
          <p:cNvPr id="18" name="Text 16"/>
          <p:cNvSpPr/>
          <p:nvPr/>
        </p:nvSpPr>
        <p:spPr>
          <a:xfrm>
            <a:off x="798271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Embeddings</a:t>
            </a:r>
            <a:endParaRPr lang="en-US" sz="1250" dirty="0"/>
          </a:p>
        </p:txBody>
      </p:sp>
      <p:sp>
        <p:nvSpPr>
          <p:cNvPr id="19" name="Text 17"/>
          <p:cNvSpPr/>
          <p:nvPr/>
        </p:nvSpPr>
        <p:spPr>
          <a:xfrm>
            <a:off x="934974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20" name="Shape 18"/>
          <p:cNvSpPr/>
          <p:nvPr/>
        </p:nvSpPr>
        <p:spPr>
          <a:xfrm>
            <a:off x="9669780" y="2377440"/>
            <a:ext cx="1440180" cy="1371600"/>
          </a:xfrm>
          <a:prstGeom prst="roundRect">
            <a:avLst>
              <a:gd name="adj" fmla="val 5333"/>
            </a:avLst>
          </a:prstGeom>
          <a:solidFill>
            <a:srgbClr val="E4F0E9"/>
          </a:solidFill>
          <a:ln w="12700">
            <a:solidFill>
              <a:srgbClr val="2F6B4F"/>
            </a:solidFill>
            <a:prstDash val="solid"/>
          </a:ln>
        </p:spPr>
      </p:sp>
      <p:sp>
        <p:nvSpPr>
          <p:cNvPr id="21" name="Text 19"/>
          <p:cNvSpPr/>
          <p:nvPr/>
        </p:nvSpPr>
        <p:spPr>
          <a:xfrm>
            <a:off x="974293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FAISS</a:t>
            </a:r>
            <a:endParaRPr lang="en-US" sz="1250" dirty="0"/>
          </a:p>
        </p:txBody>
      </p:sp>
      <p:sp>
        <p:nvSpPr>
          <p:cNvPr id="22" name="Text 20"/>
          <p:cNvSpPr/>
          <p:nvPr/>
        </p:nvSpPr>
        <p:spPr>
          <a:xfrm>
            <a:off x="868680" y="4114800"/>
            <a:ext cx="10241280" cy="1371600"/>
          </a:xfrm>
          <a:prstGeom prst="rect">
            <a:avLst/>
          </a:prstGeom>
          <a:noFill/>
          <a:ln/>
        </p:spPr>
        <p:txBody>
          <a:bodyPr wrap="square" rtlCol="0" anchor="ctr"/>
          <a:lstStyle/>
          <a:p>
            <a:pPr indent="0" marL="0">
              <a:buNone/>
            </a:pPr>
            <a:r>
              <a:rPr lang="en-US" sz="1350" dirty="0">
                <a:solidFill>
                  <a:srgbClr val="5B6660"/>
                </a:solidFill>
                <a:latin typeface="Calibri" pitchFamily="34" charset="0"/>
                <a:ea typeface="Calibri" pitchFamily="34" charset="-122"/>
                <a:cs typeface="Calibri" pitchFamily="34" charset="-120"/>
              </a:rPr>
              <a:t>This is the indexing half of the pipeline, run once per document. The inference half — question, embedding, FAISS search, top-k chunks, prompt construction, and generation — is covered next, in Part 3.</a:t>
            </a:r>
            <a:endParaRPr lang="en-US" sz="1350" dirty="0"/>
          </a:p>
        </p:txBody>
      </p:sp>
      <p:sp>
        <p:nvSpPr>
          <p:cNvPr id="23" name="Text 21"/>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731520" y="2651760"/>
            <a:ext cx="9144000" cy="457200"/>
          </a:xfrm>
          <a:prstGeom prst="rect">
            <a:avLst/>
          </a:prstGeom>
          <a:noFill/>
          <a:ln/>
        </p:spPr>
        <p:txBody>
          <a:bodyPr wrap="square" rtlCol="0" anchor="ctr"/>
          <a:lstStyle/>
          <a:p>
            <a:pPr indent="0" marL="0">
              <a:buNone/>
            </a:pPr>
            <a:r>
              <a:rPr lang="en-US" sz="1500" spc="300" kern="0" dirty="0">
                <a:solidFill>
                  <a:srgbClr val="7FBF9E"/>
                </a:solidFill>
                <a:latin typeface="Courier New" pitchFamily="34" charset="0"/>
                <a:ea typeface="Courier New" pitchFamily="34" charset="-122"/>
                <a:cs typeface="Courier New" pitchFamily="34" charset="-120"/>
              </a:rPr>
              <a:t>PART 3</a:t>
            </a:r>
            <a:endParaRPr lang="en-US" sz="1500" dirty="0"/>
          </a:p>
        </p:txBody>
      </p:sp>
      <p:sp>
        <p:nvSpPr>
          <p:cNvPr id="3" name="Text 1"/>
          <p:cNvSpPr/>
          <p:nvPr/>
        </p:nvSpPr>
        <p:spPr>
          <a:xfrm>
            <a:off x="731520" y="3108960"/>
            <a:ext cx="10515600" cy="1280160"/>
          </a:xfrm>
          <a:prstGeom prst="rect">
            <a:avLst/>
          </a:prstGeom>
          <a:noFill/>
          <a:ln/>
        </p:spPr>
        <p:txBody>
          <a:bodyPr wrap="square" rtlCol="0" anchor="ctr"/>
          <a:lstStyle/>
          <a:p>
            <a:pPr indent="0" marL="0">
              <a:buNone/>
            </a:pPr>
            <a:r>
              <a:rPr lang="en-US" sz="3800" b="1" dirty="0">
                <a:solidFill>
                  <a:srgbClr val="F5F2E7"/>
                </a:solidFill>
                <a:latin typeface="Cambria" pitchFamily="34" charset="0"/>
                <a:ea typeface="Cambria" pitchFamily="34" charset="-122"/>
                <a:cs typeface="Cambria" pitchFamily="34" charset="-120"/>
              </a:rPr>
              <a:t>Generation &amp; Evaluation</a:t>
            </a:r>
            <a:endParaRPr lang="en-US" sz="3800" dirty="0"/>
          </a:p>
        </p:txBody>
      </p:sp>
      <p:sp>
        <p:nvSpPr>
          <p:cNvPr id="4" name="Text 2"/>
          <p:cNvSpPr/>
          <p:nvPr/>
        </p:nvSpPr>
        <p:spPr>
          <a:xfrm>
            <a:off x="731520" y="4251960"/>
            <a:ext cx="9144000" cy="731520"/>
          </a:xfrm>
          <a:prstGeom prst="rect">
            <a:avLst/>
          </a:prstGeom>
          <a:noFill/>
          <a:ln/>
        </p:spPr>
        <p:txBody>
          <a:bodyPr wrap="square" rtlCol="0" anchor="ctr"/>
          <a:lstStyle/>
          <a:p>
            <a:pPr indent="0" marL="0">
              <a:buNone/>
            </a:pPr>
            <a:r>
              <a:rPr lang="en-US" sz="1500" dirty="0">
                <a:solidFill>
                  <a:srgbClr val="AEB8AC"/>
                </a:solidFill>
                <a:latin typeface="Calibri" pitchFamily="34" charset="0"/>
                <a:ea typeface="Calibri" pitchFamily="34" charset="-122"/>
                <a:cs typeface="Calibri" pitchFamily="34" charset="-120"/>
              </a:rPr>
              <a:t>From retrieved chunks to a grounded, citable answer.</a:t>
            </a:r>
            <a:endParaRPr lang="en-US" sz="1500" dirty="0"/>
          </a:p>
        </p:txBody>
      </p:sp>
      <p:sp>
        <p:nvSpPr>
          <p:cNvPr id="5"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6E8478"/>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CONTEXT CONSTRUCTION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Prompt Augmentation</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Post-processing is required.  </a:t>
            </a:r>
            <a:pPr indent="0" marL="0">
              <a:buNone/>
            </a:pPr>
            <a:r>
              <a:rPr lang="en-US" sz="1450" dirty="0">
                <a:solidFill>
                  <a:srgbClr val="5B6660"/>
                </a:solidFill>
                <a:latin typeface="Calibri" pitchFamily="34" charset="0"/>
                <a:ea typeface="Calibri" pitchFamily="34" charset="-122"/>
                <a:cs typeface="Calibri" pitchFamily="34" charset="-120"/>
              </a:rPr>
              <a:t>Retrieved chunks are not fed to the model raw; they are joined with the user's question into a single final prompt.</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Order can matter.  </a:t>
            </a:r>
            <a:pPr indent="0" marL="0">
              <a:buNone/>
            </a:pPr>
            <a:r>
              <a:rPr lang="en-US" sz="1450" dirty="0">
                <a:solidFill>
                  <a:srgbClr val="5B6660"/>
                </a:solidFill>
                <a:latin typeface="Calibri" pitchFamily="34" charset="0"/>
                <a:ea typeface="Calibri" pitchFamily="34" charset="-122"/>
                <a:cs typeface="Calibri" pitchFamily="34" charset="-120"/>
              </a:rPr>
              <a:t>Models tend to attend more reliably to information near the start and end of a long context, so chunk ordering is a tunable detail.</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Cite while you construct.  </a:t>
            </a:r>
            <a:pPr indent="0" marL="0">
              <a:buNone/>
            </a:pPr>
            <a:r>
              <a:rPr lang="en-US" sz="1450" dirty="0">
                <a:solidFill>
                  <a:srgbClr val="5B6660"/>
                </a:solidFill>
                <a:latin typeface="Calibri" pitchFamily="34" charset="0"/>
                <a:ea typeface="Calibri" pitchFamily="34" charset="-122"/>
                <a:cs typeface="Calibri" pitchFamily="34" charset="-120"/>
              </a:rPr>
              <a:t>Numbering chunks as [1], [2], [3] as they are inserted makes it possible for the model to reference them directly in its answer.</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Multimodal and tabular context.  </a:t>
            </a:r>
            <a:pPr indent="0" marL="0">
              <a:buNone/>
            </a:pPr>
            <a:r>
              <a:rPr lang="en-US" sz="1450" dirty="0">
                <a:solidFill>
                  <a:srgbClr val="5B6660"/>
                </a:solidFill>
                <a:latin typeface="Calibri" pitchFamily="34" charset="0"/>
                <a:ea typeface="Calibri" pitchFamily="34" charset="-122"/>
                <a:cs typeface="Calibri" pitchFamily="34" charset="-120"/>
              </a:rPr>
              <a:t>The same pattern extends to images (via a multimodal embedding model like CLIP) and to tables (via a text-to-SQL step instead of vector search).</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PROMPT TEMPLATE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Anatomy of a RAG Prompt</a:t>
            </a:r>
            <a:endParaRPr lang="en-US" sz="2700" dirty="0"/>
          </a:p>
        </p:txBody>
      </p:sp>
      <p:sp>
        <p:nvSpPr>
          <p:cNvPr id="5" name="Shape 3"/>
          <p:cNvSpPr/>
          <p:nvPr/>
        </p:nvSpPr>
        <p:spPr>
          <a:xfrm>
            <a:off x="868680" y="1417320"/>
            <a:ext cx="6492240" cy="4846320"/>
          </a:xfrm>
          <a:prstGeom prst="roundRect">
            <a:avLst>
              <a:gd name="adj" fmla="val 1509"/>
            </a:avLst>
          </a:prstGeom>
          <a:solidFill>
            <a:srgbClr val="16201A"/>
          </a:solidFill>
          <a:ln/>
        </p:spPr>
      </p:sp>
      <p:sp>
        <p:nvSpPr>
          <p:cNvPr id="6" name="Text 4"/>
          <p:cNvSpPr/>
          <p:nvPr/>
        </p:nvSpPr>
        <p:spPr>
          <a:xfrm>
            <a:off x="1097280" y="1600200"/>
            <a:ext cx="6035040" cy="4480560"/>
          </a:xfrm>
          <a:prstGeom prst="rect">
            <a:avLst/>
          </a:prstGeom>
          <a:noFill/>
          <a:ln/>
        </p:spPr>
        <p:txBody>
          <a:bodyPr wrap="square" rtlCol="0" anchor="t"/>
          <a:lstStyle/>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SYSTEM</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You are a scientific assistant.</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Answer only using the provided context.</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If the information is not present,</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say that you do not know.</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CONTEXT</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[1] False positives remain a major</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challenge for ML-based IDS ...</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[2] Embedded ECUs have limited</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compute resources ...</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[3] Most public datasets are</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unrealistic or imbalanced ...</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QUESTION</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What are the main challenges of</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ML-based IDS?</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ANSWER</a:t>
            </a:r>
            <a:endParaRPr lang="en-US" sz="1150" dirty="0"/>
          </a:p>
        </p:txBody>
      </p:sp>
      <p:sp>
        <p:nvSpPr>
          <p:cNvPr id="7" name="Text 5"/>
          <p:cNvSpPr/>
          <p:nvPr/>
        </p:nvSpPr>
        <p:spPr>
          <a:xfrm>
            <a:off x="7635240" y="1463040"/>
            <a:ext cx="347472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Design notes</a:t>
            </a:r>
            <a:endParaRPr lang="en-US" sz="1400" dirty="0"/>
          </a:p>
        </p:txBody>
      </p:sp>
      <p:sp>
        <p:nvSpPr>
          <p:cNvPr id="8" name="Text 6"/>
          <p:cNvSpPr/>
          <p:nvPr/>
        </p:nvSpPr>
        <p:spPr>
          <a:xfrm>
            <a:off x="7635240" y="192024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The system prompt sets the ground rule: answer only from context.</a:t>
            </a:r>
            <a:endParaRPr lang="en-US" sz="1200" dirty="0"/>
          </a:p>
        </p:txBody>
      </p:sp>
      <p:sp>
        <p:nvSpPr>
          <p:cNvPr id="9" name="Text 7"/>
          <p:cNvSpPr/>
          <p:nvPr/>
        </p:nvSpPr>
        <p:spPr>
          <a:xfrm>
            <a:off x="7635240" y="278892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An explicit 'say you do not know' instruction reduces hallucination on unanswerable questions.</a:t>
            </a:r>
            <a:endParaRPr lang="en-US" sz="1200" dirty="0"/>
          </a:p>
        </p:txBody>
      </p:sp>
      <p:sp>
        <p:nvSpPr>
          <p:cNvPr id="10" name="Text 8"/>
          <p:cNvSpPr/>
          <p:nvPr/>
        </p:nvSpPr>
        <p:spPr>
          <a:xfrm>
            <a:off x="7635240" y="365760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Numbered context blocks let the model cite [1], [2], [3] directly in prose.</a:t>
            </a:r>
            <a:endParaRPr lang="en-US" sz="120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COMMON MISCONCEPTION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Grounding: the LLM Never Sees Vectors</a:t>
            </a:r>
            <a:endParaRPr lang="en-US" sz="2700" dirty="0"/>
          </a:p>
        </p:txBody>
      </p:sp>
      <p:sp>
        <p:nvSpPr>
          <p:cNvPr id="5" name="Text 3"/>
          <p:cNvSpPr/>
          <p:nvPr/>
        </p:nvSpPr>
        <p:spPr>
          <a:xfrm>
            <a:off x="868680" y="1554480"/>
            <a:ext cx="10241280" cy="1188720"/>
          </a:xfrm>
          <a:prstGeom prst="rect">
            <a:avLst/>
          </a:prstGeom>
          <a:noFill/>
          <a:ln/>
        </p:spPr>
        <p:txBody>
          <a:bodyPr wrap="square" rtlCol="0" anchor="ctr"/>
          <a:lstStyle/>
          <a:p>
            <a:pPr algn="l" indent="0" marL="0">
              <a:buNone/>
            </a:pPr>
            <a:r>
              <a:rPr lang="en-US" sz="2600" b="1" dirty="0">
                <a:solidFill>
                  <a:srgbClr val="2F6B4F"/>
                </a:solidFill>
                <a:latin typeface="Cambria" pitchFamily="34" charset="0"/>
                <a:ea typeface="Cambria" pitchFamily="34" charset="-122"/>
                <a:cs typeface="Cambria" pitchFamily="34" charset="-120"/>
              </a:rPr>
              <a:t>Embeddings are a search mechanism. They are never the input format for the generator.</a:t>
            </a:r>
            <a:endParaRPr lang="en-US" sz="2600" dirty="0"/>
          </a:p>
        </p:txBody>
      </p:sp>
      <p:sp>
        <p:nvSpPr>
          <p:cNvPr id="6" name="Text 4"/>
          <p:cNvSpPr/>
          <p:nvPr/>
        </p:nvSpPr>
        <p:spPr>
          <a:xfrm>
            <a:off x="868680" y="2697480"/>
            <a:ext cx="10241280" cy="548640"/>
          </a:xfrm>
          <a:prstGeom prst="rect">
            <a:avLst/>
          </a:prstGeom>
          <a:noFill/>
          <a:ln/>
        </p:spPr>
        <p:txBody>
          <a:bodyPr wrap="square" rtlCol="0" anchor="ctr"/>
          <a:lstStyle/>
          <a:p>
            <a:pPr indent="0" marL="0">
              <a:buNone/>
            </a:pPr>
            <a:r>
              <a:rPr lang="en-US" sz="1350" i="1" dirty="0">
                <a:solidFill>
                  <a:srgbClr val="5B6660"/>
                </a:solidFill>
                <a:latin typeface="Calibri" pitchFamily="34" charset="0"/>
                <a:ea typeface="Calibri" pitchFamily="34" charset="-122"/>
                <a:cs typeface="Calibri" pitchFamily="34" charset="-120"/>
              </a:rPr>
              <a:t>A frequent misunderstanding is assuming the retrieved chunk vectors are passed to the LLM. They are not — only the original chunk text is.</a:t>
            </a:r>
            <a:endParaRPr lang="en-US" sz="1350" dirty="0"/>
          </a:p>
        </p:txBody>
      </p:sp>
      <p:sp>
        <p:nvSpPr>
          <p:cNvPr id="7" name="Text 5"/>
          <p:cNvSpPr/>
          <p:nvPr/>
        </p:nvSpPr>
        <p:spPr>
          <a:xfrm>
            <a:off x="868680" y="3429000"/>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What FAISS returns:  </a:t>
            </a:r>
            <a:pPr indent="0" marL="0">
              <a:buNone/>
            </a:pPr>
            <a:r>
              <a:rPr lang="en-US" sz="1350" dirty="0">
                <a:solidFill>
                  <a:srgbClr val="5B6660"/>
                </a:solidFill>
                <a:latin typeface="Calibri" pitchFamily="34" charset="0"/>
                <a:ea typeface="Calibri" pitchFamily="34" charset="-122"/>
                <a:cs typeface="Calibri" pitchFamily="34" charset="-120"/>
              </a:rPr>
              <a:t>IDs of the nearest chunks, not their vectors and not their text.</a:t>
            </a:r>
            <a:endParaRPr lang="en-US" sz="1400" dirty="0"/>
          </a:p>
        </p:txBody>
      </p:sp>
      <p:sp>
        <p:nvSpPr>
          <p:cNvPr id="8" name="Text 6"/>
          <p:cNvSpPr/>
          <p:nvPr/>
        </p:nvSpPr>
        <p:spPr>
          <a:xfrm>
            <a:off x="868680" y="3995928"/>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What actually reaches the LLM:  </a:t>
            </a:r>
            <a:pPr indent="0" marL="0">
              <a:buNone/>
            </a:pPr>
            <a:r>
              <a:rPr lang="en-US" sz="1350" dirty="0">
                <a:solidFill>
                  <a:srgbClr val="5B6660"/>
                </a:solidFill>
                <a:latin typeface="Calibri" pitchFamily="34" charset="0"/>
                <a:ea typeface="Calibri" pitchFamily="34" charset="-122"/>
                <a:cs typeface="Calibri" pitchFamily="34" charset="-120"/>
              </a:rPr>
              <a:t>the original chunk text, looked up by ID, inserted into the prompt alongside the system instructions and the question.</a:t>
            </a:r>
            <a:endParaRPr lang="en-US" sz="1400" dirty="0"/>
          </a:p>
        </p:txBody>
      </p:sp>
      <p:sp>
        <p:nvSpPr>
          <p:cNvPr id="9" name="Text 7"/>
          <p:cNvSpPr/>
          <p:nvPr/>
        </p:nvSpPr>
        <p:spPr>
          <a:xfrm>
            <a:off x="868680" y="4562856"/>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Why:  </a:t>
            </a:r>
            <a:pPr indent="0" marL="0">
              <a:buNone/>
            </a:pPr>
            <a:r>
              <a:rPr lang="en-US" sz="1350" dirty="0">
                <a:solidFill>
                  <a:srgbClr val="5B6660"/>
                </a:solidFill>
                <a:latin typeface="Calibri" pitchFamily="34" charset="0"/>
                <a:ea typeface="Calibri" pitchFamily="34" charset="-122"/>
                <a:cs typeface="Calibri" pitchFamily="34" charset="-120"/>
              </a:rPr>
              <a:t>a language model expects a sequence of tokens, and has no way to interpret a 1024-dimensional vector directly.</a:t>
            </a:r>
            <a:endParaRPr lang="en-US" sz="1400" dirty="0"/>
          </a:p>
        </p:txBody>
      </p:sp>
      <p:sp>
        <p:nvSpPr>
          <p:cNvPr id="10" name="Text 8"/>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CODE WALKTHROUGH</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Minimal RAG Pipeline — Indexing</a:t>
            </a:r>
            <a:endParaRPr lang="en-US" sz="2700" dirty="0"/>
          </a:p>
        </p:txBody>
      </p:sp>
      <p:sp>
        <p:nvSpPr>
          <p:cNvPr id="5" name="Shape 3"/>
          <p:cNvSpPr/>
          <p:nvPr/>
        </p:nvSpPr>
        <p:spPr>
          <a:xfrm>
            <a:off x="868680" y="1417320"/>
            <a:ext cx="6492240" cy="4846320"/>
          </a:xfrm>
          <a:prstGeom prst="roundRect">
            <a:avLst>
              <a:gd name="adj" fmla="val 1509"/>
            </a:avLst>
          </a:prstGeom>
          <a:solidFill>
            <a:srgbClr val="16201A"/>
          </a:solidFill>
          <a:ln/>
        </p:spPr>
      </p:sp>
      <p:sp>
        <p:nvSpPr>
          <p:cNvPr id="6" name="Text 4"/>
          <p:cNvSpPr/>
          <p:nvPr/>
        </p:nvSpPr>
        <p:spPr>
          <a:xfrm>
            <a:off x="1097280" y="1600200"/>
            <a:ext cx="6035040" cy="4480560"/>
          </a:xfrm>
          <a:prstGeom prst="rect">
            <a:avLst/>
          </a:prstGeom>
          <a:noFill/>
          <a:ln/>
        </p:spPr>
        <p:txBody>
          <a:bodyPr wrap="square" rtlCol="0" anchor="t"/>
          <a:lstStyle/>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from bge_m3 import BgeM3Model</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import faiss</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embedder = BgeM3Model()</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def build_index(documents):</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chunks = []</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for doc in documents:</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text = extract_text(doc)          # parsing / OCR</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text = clean(text)                # cleaning</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chunks += chunk_text(text,</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size=512,</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overlap=50)  # chunking</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vectors = embedder.encode(chunks)     # (N, d)</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index = faiss.IndexFlatIP(vectors.shape[1])</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index.add(vectors)</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faiss.write_index(index, "index.faiss")</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save_chunk_store(chunks)              # JSON / SQLite</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return index</a:t>
            </a:r>
            <a:endParaRPr lang="en-US" sz="1150" dirty="0"/>
          </a:p>
        </p:txBody>
      </p:sp>
      <p:sp>
        <p:nvSpPr>
          <p:cNvPr id="7" name="Text 5"/>
          <p:cNvSpPr/>
          <p:nvPr/>
        </p:nvSpPr>
        <p:spPr>
          <a:xfrm>
            <a:off x="7635240" y="1463040"/>
            <a:ext cx="347472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What happens here</a:t>
            </a:r>
            <a:endParaRPr lang="en-US" sz="1400" dirty="0"/>
          </a:p>
        </p:txBody>
      </p:sp>
      <p:sp>
        <p:nvSpPr>
          <p:cNvPr id="8" name="Text 6"/>
          <p:cNvSpPr/>
          <p:nvPr/>
        </p:nvSpPr>
        <p:spPr>
          <a:xfrm>
            <a:off x="7635240" y="192024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This runs once, offline, whenever the corpus changes.</a:t>
            </a:r>
            <a:endParaRPr lang="en-US" sz="1200" dirty="0"/>
          </a:p>
        </p:txBody>
      </p:sp>
      <p:sp>
        <p:nvSpPr>
          <p:cNvPr id="9" name="Text 7"/>
          <p:cNvSpPr/>
          <p:nvPr/>
        </p:nvSpPr>
        <p:spPr>
          <a:xfrm>
            <a:off x="7635240" y="278892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Each stage from Part 2 (parse, clean, chunk, embed, index) appears as one function call.</a:t>
            </a:r>
            <a:endParaRPr lang="en-US" sz="1200" dirty="0"/>
          </a:p>
        </p:txBody>
      </p:sp>
      <p:sp>
        <p:nvSpPr>
          <p:cNvPr id="10" name="Text 8"/>
          <p:cNvSpPr/>
          <p:nvPr/>
        </p:nvSpPr>
        <p:spPr>
          <a:xfrm>
            <a:off x="7635240" y="365760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The chunk store keeps the human-readable text FAISS never sees.</a:t>
            </a:r>
            <a:endParaRPr lang="en-US" sz="120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CODE WALKTHROUGH</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Minimal RAG Pipeline — Query Time</a:t>
            </a:r>
            <a:endParaRPr lang="en-US" sz="2700" dirty="0"/>
          </a:p>
        </p:txBody>
      </p:sp>
      <p:sp>
        <p:nvSpPr>
          <p:cNvPr id="5" name="Shape 3"/>
          <p:cNvSpPr/>
          <p:nvPr/>
        </p:nvSpPr>
        <p:spPr>
          <a:xfrm>
            <a:off x="868680" y="1417320"/>
            <a:ext cx="6492240" cy="4846320"/>
          </a:xfrm>
          <a:prstGeom prst="roundRect">
            <a:avLst>
              <a:gd name="adj" fmla="val 1509"/>
            </a:avLst>
          </a:prstGeom>
          <a:solidFill>
            <a:srgbClr val="16201A"/>
          </a:solidFill>
          <a:ln/>
        </p:spPr>
      </p:sp>
      <p:sp>
        <p:nvSpPr>
          <p:cNvPr id="6" name="Text 4"/>
          <p:cNvSpPr/>
          <p:nvPr/>
        </p:nvSpPr>
        <p:spPr>
          <a:xfrm>
            <a:off x="1097280" y="1600200"/>
            <a:ext cx="6035040" cy="4480560"/>
          </a:xfrm>
          <a:prstGeom prst="rect">
            <a:avLst/>
          </a:prstGeom>
          <a:noFill/>
          <a:ln/>
        </p:spPr>
        <p:txBody>
          <a:bodyPr wrap="square" rtlCol="0" anchor="t"/>
          <a:lstStyle/>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def answer(question, k=5):</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q_vec = embedder.encode([question])</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scores, ids = index.search(q_vec, k)</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retrieved = [chunk_store[i] for i in ids[0]]</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context = "\n\n".join(</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f"[{i+1}] {c}" for i, c in enumerate(retrieved)</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prompt = SYSTEM_PROMPT.format(</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context=context,</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question=question</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return llm.generate(prompt), retrieved, scores</a:t>
            </a:r>
            <a:endParaRPr lang="en-US" sz="1150" dirty="0"/>
          </a:p>
        </p:txBody>
      </p:sp>
      <p:sp>
        <p:nvSpPr>
          <p:cNvPr id="7" name="Text 5"/>
          <p:cNvSpPr/>
          <p:nvPr/>
        </p:nvSpPr>
        <p:spPr>
          <a:xfrm>
            <a:off x="7635240" y="1463040"/>
            <a:ext cx="347472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What happens here</a:t>
            </a:r>
            <a:endParaRPr lang="en-US" sz="1400" dirty="0"/>
          </a:p>
        </p:txBody>
      </p:sp>
      <p:sp>
        <p:nvSpPr>
          <p:cNvPr id="8" name="Text 6"/>
          <p:cNvSpPr/>
          <p:nvPr/>
        </p:nvSpPr>
        <p:spPr>
          <a:xfrm>
            <a:off x="7635240" y="192024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Only the question is embedded; document vectors were already indexed.</a:t>
            </a:r>
            <a:endParaRPr lang="en-US" sz="1200" dirty="0"/>
          </a:p>
        </p:txBody>
      </p:sp>
      <p:sp>
        <p:nvSpPr>
          <p:cNvPr id="9" name="Text 7"/>
          <p:cNvSpPr/>
          <p:nvPr/>
        </p:nvSpPr>
        <p:spPr>
          <a:xfrm>
            <a:off x="7635240" y="278892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Chunks are looked up by ID, never by vector.</a:t>
            </a:r>
            <a:endParaRPr lang="en-US" sz="1200" dirty="0"/>
          </a:p>
        </p:txBody>
      </p:sp>
      <p:sp>
        <p:nvSpPr>
          <p:cNvPr id="10" name="Text 8"/>
          <p:cNvSpPr/>
          <p:nvPr/>
        </p:nvSpPr>
        <p:spPr>
          <a:xfrm>
            <a:off x="7635240" y="365760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The function returns the answer plus its sources and similarity scores for citation.</a:t>
            </a:r>
            <a:endParaRPr lang="en-US" sz="120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RETRIEVAL METRICS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Evaluating Retrieval: Precision &amp; Recall</a:t>
            </a:r>
            <a:endParaRPr lang="en-US" sz="2700" dirty="0"/>
          </a:p>
        </p:txBody>
      </p:sp>
      <p:sp>
        <p:nvSpPr>
          <p:cNvPr id="5" name="Shape 3"/>
          <p:cNvSpPr/>
          <p:nvPr/>
        </p:nvSpPr>
        <p:spPr>
          <a:xfrm>
            <a:off x="868680" y="1417320"/>
            <a:ext cx="10241280" cy="1234440"/>
          </a:xfrm>
          <a:prstGeom prst="roundRect">
            <a:avLst>
              <a:gd name="adj" fmla="val 5926"/>
            </a:avLst>
          </a:prstGeom>
          <a:solidFill>
            <a:srgbClr val="FFFFFF"/>
          </a:solidFill>
          <a:ln w="12700">
            <a:solidFill>
              <a:srgbClr val="D8D3C2"/>
            </a:solidFill>
            <a:prstDash val="solid"/>
          </a:ln>
        </p:spPr>
      </p:sp>
      <p:sp>
        <p:nvSpPr>
          <p:cNvPr id="6" name="Text 4"/>
          <p:cNvSpPr/>
          <p:nvPr/>
        </p:nvSpPr>
        <p:spPr>
          <a:xfrm>
            <a:off x="1051560" y="1417320"/>
            <a:ext cx="9875520" cy="1234440"/>
          </a:xfrm>
          <a:prstGeom prst="rect">
            <a:avLst/>
          </a:prstGeom>
          <a:noFill/>
          <a:ln/>
        </p:spPr>
        <p:txBody>
          <a:bodyPr wrap="square" rtlCol="0" anchor="ctr"/>
          <a:lstStyle/>
          <a:p>
            <a:pPr algn="ctr" indent="0" marL="0">
              <a:buNone/>
            </a:pPr>
            <a:r>
              <a:rPr lang="en-US" sz="1600" i="1" dirty="0">
                <a:solidFill>
                  <a:srgbClr val="2F6B4F"/>
                </a:solidFill>
                <a:latin typeface="Cambria Math" pitchFamily="34" charset="0"/>
                <a:ea typeface="Cambria Math" pitchFamily="34" charset="-122"/>
                <a:cs typeface="Cambria Math" pitchFamily="34" charset="-120"/>
              </a:rPr>
              <a:t>Precision = relevant ∩ retrieved / retrieved        Recall = relevant ∩ retrieved / relevant</a:t>
            </a:r>
            <a:endParaRPr lang="en-US" sz="1600" dirty="0"/>
          </a:p>
        </p:txBody>
      </p:sp>
      <p:sp>
        <p:nvSpPr>
          <p:cNvPr id="7" name="Text 5"/>
          <p:cNvSpPr/>
          <p:nvPr/>
        </p:nvSpPr>
        <p:spPr>
          <a:xfrm>
            <a:off x="868680" y="288036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Context precision  </a:t>
            </a:r>
            <a:pPr indent="0" marL="0">
              <a:buNone/>
            </a:pPr>
            <a:r>
              <a:rPr lang="en-US" sz="1400" dirty="0">
                <a:solidFill>
                  <a:srgbClr val="5B6660"/>
                </a:solidFill>
                <a:latin typeface="Calibri" pitchFamily="34" charset="0"/>
                <a:ea typeface="Calibri" pitchFamily="34" charset="-122"/>
                <a:cs typeface="Calibri" pitchFamily="34" charset="-120"/>
              </a:rPr>
              <a:t>out of everything retrieved, what fraction is actually relevant to the query.</a:t>
            </a:r>
            <a:endParaRPr lang="en-US" sz="1450" dirty="0"/>
          </a:p>
        </p:txBody>
      </p:sp>
      <p:sp>
        <p:nvSpPr>
          <p:cNvPr id="8" name="Text 6"/>
          <p:cNvSpPr/>
          <p:nvPr/>
        </p:nvSpPr>
        <p:spPr>
          <a:xfrm>
            <a:off x="868680" y="342900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Context recall  </a:t>
            </a:r>
            <a:pPr indent="0" marL="0">
              <a:buNone/>
            </a:pPr>
            <a:r>
              <a:rPr lang="en-US" sz="1400" dirty="0">
                <a:solidFill>
                  <a:srgbClr val="5B6660"/>
                </a:solidFill>
                <a:latin typeface="Calibri" pitchFamily="34" charset="0"/>
                <a:ea typeface="Calibri" pitchFamily="34" charset="-122"/>
                <a:cs typeface="Calibri" pitchFamily="34" charset="-120"/>
              </a:rPr>
              <a:t>out of everything that is relevant in the whole corpus, what fraction was retrieved.</a:t>
            </a:r>
            <a:endParaRPr lang="en-US" sz="1450" dirty="0"/>
          </a:p>
        </p:txBody>
      </p:sp>
      <p:sp>
        <p:nvSpPr>
          <p:cNvPr id="9" name="Text 7"/>
          <p:cNvSpPr/>
          <p:nvPr/>
        </p:nvSpPr>
        <p:spPr>
          <a:xfrm>
            <a:off x="868680" y="397764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Computing recall is expensive:  </a:t>
            </a:r>
            <a:pPr indent="0" marL="0">
              <a:buNone/>
            </a:pPr>
            <a:r>
              <a:rPr lang="en-US" sz="1400" dirty="0">
                <a:solidFill>
                  <a:srgbClr val="5B6660"/>
                </a:solidFill>
                <a:latin typeface="Calibri" pitchFamily="34" charset="0"/>
                <a:ea typeface="Calibri" pitchFamily="34" charset="-122"/>
                <a:cs typeface="Calibri" pitchFamily="34" charset="-120"/>
              </a:rPr>
              <a:t>it requires knowing the relevance of every document in the database, not only the retrieved ones.</a:t>
            </a:r>
            <a:endParaRPr lang="en-US" sz="1450" dirty="0"/>
          </a:p>
        </p:txBody>
      </p:sp>
      <p:sp>
        <p:nvSpPr>
          <p:cNvPr id="10" name="Text 8"/>
          <p:cNvSpPr/>
          <p:nvPr/>
        </p:nvSpPr>
        <p:spPr>
          <a:xfrm>
            <a:off x="868680" y="452628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In production,  </a:t>
            </a:r>
            <a:pPr indent="0" marL="0">
              <a:buNone/>
            </a:pPr>
            <a:r>
              <a:rPr lang="en-US" sz="1400" dirty="0">
                <a:solidFill>
                  <a:srgbClr val="5B6660"/>
                </a:solidFill>
                <a:latin typeface="Calibri" pitchFamily="34" charset="0"/>
                <a:ea typeface="Calibri" pitchFamily="34" charset="-122"/>
                <a:cs typeface="Calibri" pitchFamily="34" charset="-120"/>
              </a:rPr>
              <a:t>many RAG evaluation frameworks report only context precision, since it only requires judging the documents actually returned.</a:t>
            </a:r>
            <a:endParaRPr lang="en-US" sz="145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WHEN ORDER MATTERS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Ranking Metrics: MRR, MAP, NDCG</a:t>
            </a:r>
            <a:endParaRPr lang="en-US" sz="2700" dirty="0"/>
          </a:p>
        </p:txBody>
      </p:sp>
      <p:sp>
        <p:nvSpPr>
          <p:cNvPr id="5" name="Shape 3"/>
          <p:cNvSpPr/>
          <p:nvPr/>
        </p:nvSpPr>
        <p:spPr>
          <a:xfrm>
            <a:off x="868680" y="1417320"/>
            <a:ext cx="10241280" cy="1234440"/>
          </a:xfrm>
          <a:prstGeom prst="roundRect">
            <a:avLst>
              <a:gd name="adj" fmla="val 5926"/>
            </a:avLst>
          </a:prstGeom>
          <a:solidFill>
            <a:srgbClr val="FFFFFF"/>
          </a:solidFill>
          <a:ln w="12700">
            <a:solidFill>
              <a:srgbClr val="D8D3C2"/>
            </a:solidFill>
            <a:prstDash val="solid"/>
          </a:ln>
        </p:spPr>
      </p:sp>
      <p:sp>
        <p:nvSpPr>
          <p:cNvPr id="6" name="Text 4"/>
          <p:cNvSpPr/>
          <p:nvPr/>
        </p:nvSpPr>
        <p:spPr>
          <a:xfrm>
            <a:off x="1051560" y="1417320"/>
            <a:ext cx="9875520" cy="1234440"/>
          </a:xfrm>
          <a:prstGeom prst="rect">
            <a:avLst/>
          </a:prstGeom>
          <a:noFill/>
          <a:ln/>
        </p:spPr>
        <p:txBody>
          <a:bodyPr wrap="square" rtlCol="0" anchor="ctr"/>
          <a:lstStyle/>
          <a:p>
            <a:pPr algn="ctr" indent="0" marL="0">
              <a:buNone/>
            </a:pPr>
            <a:r>
              <a:rPr lang="en-US" sz="1900" i="1" dirty="0">
                <a:solidFill>
                  <a:srgbClr val="2F6B4F"/>
                </a:solidFill>
                <a:latin typeface="Cambria Math" pitchFamily="34" charset="0"/>
                <a:ea typeface="Cambria Math" pitchFamily="34" charset="-122"/>
                <a:cs typeface="Cambria Math" pitchFamily="34" charset="-120"/>
              </a:rPr>
              <a:t>MRR = (1/|Q|) Σ 1/rankᵢ        NDCG = DCG / IDCG</a:t>
            </a:r>
            <a:endParaRPr lang="en-US" sz="1900" dirty="0"/>
          </a:p>
        </p:txBody>
      </p:sp>
      <p:sp>
        <p:nvSpPr>
          <p:cNvPr id="7" name="Text 5"/>
          <p:cNvSpPr/>
          <p:nvPr/>
        </p:nvSpPr>
        <p:spPr>
          <a:xfrm>
            <a:off x="868680" y="288036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MRR (Mean Reciprocal Rank)  </a:t>
            </a:r>
            <a:pPr indent="0" marL="0">
              <a:buNone/>
            </a:pPr>
            <a:r>
              <a:rPr lang="en-US" sz="1400" dirty="0">
                <a:solidFill>
                  <a:srgbClr val="5B6660"/>
                </a:solidFill>
                <a:latin typeface="Calibri" pitchFamily="34" charset="0"/>
                <a:ea typeface="Calibri" pitchFamily="34" charset="-122"/>
                <a:cs typeface="Calibri" pitchFamily="34" charset="-120"/>
              </a:rPr>
              <a:t>averages 1 / (rank of the first relevant result) across queries; rewards getting a relevant result near the top.</a:t>
            </a:r>
            <a:endParaRPr lang="en-US" sz="1450" dirty="0"/>
          </a:p>
        </p:txBody>
      </p:sp>
      <p:sp>
        <p:nvSpPr>
          <p:cNvPr id="8" name="Text 6"/>
          <p:cNvSpPr/>
          <p:nvPr/>
        </p:nvSpPr>
        <p:spPr>
          <a:xfrm>
            <a:off x="868680" y="342900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MAP (Mean Average Precision)  </a:t>
            </a:r>
            <a:pPr indent="0" marL="0">
              <a:buNone/>
            </a:pPr>
            <a:r>
              <a:rPr lang="en-US" sz="1400" dirty="0">
                <a:solidFill>
                  <a:srgbClr val="5B6660"/>
                </a:solidFill>
                <a:latin typeface="Calibri" pitchFamily="34" charset="0"/>
                <a:ea typeface="Calibri" pitchFamily="34" charset="-122"/>
                <a:cs typeface="Calibri" pitchFamily="34" charset="-120"/>
              </a:rPr>
              <a:t>averages precision computed at each point a relevant document appears, rewarding both precision and early ranking.</a:t>
            </a:r>
            <a:endParaRPr lang="en-US" sz="1450" dirty="0"/>
          </a:p>
        </p:txBody>
      </p:sp>
      <p:sp>
        <p:nvSpPr>
          <p:cNvPr id="9" name="Text 7"/>
          <p:cNvSpPr/>
          <p:nvPr/>
        </p:nvSpPr>
        <p:spPr>
          <a:xfrm>
            <a:off x="868680" y="397764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NDCG (Normalized Discounted Cumulative Gain)  </a:t>
            </a:r>
            <a:pPr indent="0" marL="0">
              <a:buNone/>
            </a:pPr>
            <a:r>
              <a:rPr lang="en-US" sz="1400" dirty="0">
                <a:solidFill>
                  <a:srgbClr val="5B6660"/>
                </a:solidFill>
                <a:latin typeface="Calibri" pitchFamily="34" charset="0"/>
                <a:ea typeface="Calibri" pitchFamily="34" charset="-122"/>
                <a:cs typeface="Calibri" pitchFamily="34" charset="-120"/>
              </a:rPr>
              <a:t>discounts relevance by rank position, then normalizes against the best possible ordering.</a:t>
            </a:r>
            <a:endParaRPr lang="en-US" sz="1450" dirty="0"/>
          </a:p>
        </p:txBody>
      </p:sp>
      <p:sp>
        <p:nvSpPr>
          <p:cNvPr id="10" name="Text 8"/>
          <p:cNvSpPr/>
          <p:nvPr/>
        </p:nvSpPr>
        <p:spPr>
          <a:xfrm>
            <a:off x="868680" y="4526280"/>
            <a:ext cx="10241280" cy="502920"/>
          </a:xfrm>
          <a:prstGeom prst="rect">
            <a:avLst/>
          </a:prstGeom>
          <a:noFill/>
          <a:ln/>
        </p:spPr>
        <p:txBody>
          <a:bodyPr wrap="square" rtlCol="0" anchor="ctr"/>
          <a:lstStyle/>
          <a:p>
            <a:pPr marL="342900" indent="-342900">
              <a:buSzPct val="100000"/>
              <a:buChar char="•"/>
            </a:pPr>
            <a:r>
              <a:rPr lang="en-US" sz="1450" b="1" dirty="0">
                <a:solidFill>
                  <a:srgbClr val="1A1A1A"/>
                </a:solidFill>
                <a:latin typeface="Calibri" pitchFamily="34" charset="0"/>
                <a:ea typeface="Calibri" pitchFamily="34" charset="-122"/>
                <a:cs typeface="Calibri" pitchFamily="34" charset="-120"/>
              </a:rPr>
              <a:t>Use these  </a:t>
            </a:r>
            <a:pPr indent="0" marL="0">
              <a:buNone/>
            </a:pPr>
            <a:r>
              <a:rPr lang="en-US" sz="1400" dirty="0">
                <a:solidFill>
                  <a:srgbClr val="5B6660"/>
                </a:solidFill>
                <a:latin typeface="Calibri" pitchFamily="34" charset="0"/>
                <a:ea typeface="Calibri" pitchFamily="34" charset="-122"/>
                <a:cs typeface="Calibri" pitchFamily="34" charset="-120"/>
              </a:rPr>
              <a:t>whenever the position of a result, not just its presence in the top-k, affects downstream quality.</a:t>
            </a:r>
            <a:endParaRPr lang="en-US" sz="145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GENERATION METRICS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Evaluating Generation &amp; Hallucination</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End-to-end quality.  </a:t>
            </a:r>
            <a:pPr indent="0" marL="0">
              <a:buNone/>
            </a:pPr>
            <a:r>
              <a:rPr lang="en-US" sz="1450" dirty="0">
                <a:solidFill>
                  <a:srgbClr val="5B6660"/>
                </a:solidFill>
                <a:latin typeface="Calibri" pitchFamily="34" charset="0"/>
                <a:ea typeface="Calibri" pitchFamily="34" charset="-122"/>
                <a:cs typeface="Calibri" pitchFamily="34" charset="-120"/>
              </a:rPr>
              <a:t>The retriever is ultimately judged by whether it helps the generator produce correct, well-cited answers, not by its metrics in isolation.</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Faithfulness / hallucination checks.  </a:t>
            </a:r>
            <a:pPr indent="0" marL="0">
              <a:buNone/>
            </a:pPr>
            <a:r>
              <a:rPr lang="en-US" sz="1450" dirty="0">
                <a:solidFill>
                  <a:srgbClr val="5B6660"/>
                </a:solidFill>
                <a:latin typeface="Calibri" pitchFamily="34" charset="0"/>
                <a:ea typeface="Calibri" pitchFamily="34" charset="-122"/>
                <a:cs typeface="Calibri" pitchFamily="34" charset="-120"/>
              </a:rPr>
              <a:t>Verify that every claim in the generated answer is actually supported by the retrieved context, typically using an LLM-as-judge or human review.</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Answer relevance.  </a:t>
            </a:r>
            <a:pPr indent="0" marL="0">
              <a:buNone/>
            </a:pPr>
            <a:r>
              <a:rPr lang="en-US" sz="1450" dirty="0">
                <a:solidFill>
                  <a:srgbClr val="5B6660"/>
                </a:solidFill>
                <a:latin typeface="Calibri" pitchFamily="34" charset="0"/>
                <a:ea typeface="Calibri" pitchFamily="34" charset="-122"/>
                <a:cs typeface="Calibri" pitchFamily="34" charset="-120"/>
              </a:rPr>
              <a:t>Separately from faithfulness, check whether the answer actually addresses the question that was asked.</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Embedding quality (MTEB).  </a:t>
            </a:r>
            <a:pPr indent="0" marL="0">
              <a:buNone/>
            </a:pPr>
            <a:r>
              <a:rPr lang="en-US" sz="1450" dirty="0">
                <a:solidFill>
                  <a:srgbClr val="5B6660"/>
                </a:solidFill>
                <a:latin typeface="Calibri" pitchFamily="34" charset="0"/>
                <a:ea typeface="Calibri" pitchFamily="34" charset="-122"/>
                <a:cs typeface="Calibri" pitchFamily="34" charset="-120"/>
              </a:rPr>
              <a:t>The embedding model itself can be evaluated independently across retrieval, classification, and clustering benchmarks.</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A PRACTICAL DISTINCTION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Context Precision vs Context Recall</a:t>
            </a:r>
            <a:endParaRPr lang="en-US" sz="2700" dirty="0"/>
          </a:p>
        </p:txBody>
      </p:sp>
      <p:sp>
        <p:nvSpPr>
          <p:cNvPr id="5" name="Text 3"/>
          <p:cNvSpPr/>
          <p:nvPr/>
        </p:nvSpPr>
        <p:spPr>
          <a:xfrm>
            <a:off x="868680" y="1417320"/>
            <a:ext cx="10241280" cy="143560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Context precision  </a:t>
            </a:r>
            <a:pPr indent="0" marL="0">
              <a:buNone/>
            </a:pPr>
            <a:r>
              <a:rPr lang="en-US" sz="1450" dirty="0">
                <a:solidFill>
                  <a:srgbClr val="5B6660"/>
                </a:solidFill>
                <a:latin typeface="Calibri" pitchFamily="34" charset="0"/>
                <a:ea typeface="Calibri" pitchFamily="34" charset="-122"/>
                <a:cs typeface="Calibri" pitchFamily="34" charset="-120"/>
              </a:rPr>
              <a:t>is simple to compute: compare only the retrieved documents to the query, which an AI judge can do directly.</a:t>
            </a:r>
            <a:endParaRPr lang="en-US" sz="1550" dirty="0"/>
          </a:p>
        </p:txBody>
      </p:sp>
      <p:sp>
        <p:nvSpPr>
          <p:cNvPr id="6" name="Text 4"/>
          <p:cNvSpPr/>
          <p:nvPr/>
        </p:nvSpPr>
        <p:spPr>
          <a:xfrm>
            <a:off x="868680" y="2926080"/>
            <a:ext cx="10241280" cy="143560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Context recall  </a:t>
            </a:r>
            <a:pPr indent="0" marL="0">
              <a:buNone/>
            </a:pPr>
            <a:r>
              <a:rPr lang="en-US" sz="1450" dirty="0">
                <a:solidFill>
                  <a:srgbClr val="5B6660"/>
                </a:solidFill>
                <a:latin typeface="Calibri" pitchFamily="34" charset="0"/>
                <a:ea typeface="Calibri" pitchFamily="34" charset="-122"/>
                <a:cs typeface="Calibri" pitchFamily="34" charset="-120"/>
              </a:rPr>
              <a:t>requires labeling the relevance of every document in the database to that query, which is far more expensive.</a:t>
            </a:r>
            <a:endParaRPr lang="en-US" sz="1550" dirty="0"/>
          </a:p>
        </p:txBody>
      </p:sp>
      <p:sp>
        <p:nvSpPr>
          <p:cNvPr id="7" name="Text 5"/>
          <p:cNvSpPr/>
          <p:nvPr/>
        </p:nvSpPr>
        <p:spPr>
          <a:xfrm>
            <a:off x="868680" y="4434840"/>
            <a:ext cx="10241280" cy="143560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Consequence for practitioners:  </a:t>
            </a:r>
            <a:pPr indent="0" marL="0">
              <a:buNone/>
            </a:pPr>
            <a:r>
              <a:rPr lang="en-US" sz="1450" dirty="0">
                <a:solidFill>
                  <a:srgbClr val="5B6660"/>
                </a:solidFill>
                <a:latin typeface="Calibri" pitchFamily="34" charset="0"/>
                <a:ea typeface="Calibri" pitchFamily="34" charset="-122"/>
                <a:cs typeface="Calibri" pitchFamily="34" charset="-120"/>
              </a:rPr>
              <a:t>most production evaluation pipelines default to context precision, and reserve recall estimation for periodic, offline audits with a curated test set.</a:t>
            </a:r>
            <a:endParaRPr lang="en-US" sz="1550" dirty="0"/>
          </a:p>
        </p:txBody>
      </p:sp>
      <p:sp>
        <p:nvSpPr>
          <p:cNvPr id="8" name="Text 6"/>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731520" y="2651760"/>
            <a:ext cx="9144000" cy="457200"/>
          </a:xfrm>
          <a:prstGeom prst="rect">
            <a:avLst/>
          </a:prstGeom>
          <a:noFill/>
          <a:ln/>
        </p:spPr>
        <p:txBody>
          <a:bodyPr wrap="square" rtlCol="0" anchor="ctr"/>
          <a:lstStyle/>
          <a:p>
            <a:pPr indent="0" marL="0">
              <a:buNone/>
            </a:pPr>
            <a:r>
              <a:rPr lang="en-US" sz="1500" spc="300" kern="0" dirty="0">
                <a:solidFill>
                  <a:srgbClr val="7FBF9E"/>
                </a:solidFill>
                <a:latin typeface="Courier New" pitchFamily="34" charset="0"/>
                <a:ea typeface="Courier New" pitchFamily="34" charset="-122"/>
                <a:cs typeface="Courier New" pitchFamily="34" charset="-120"/>
              </a:rPr>
              <a:t>PART 4</a:t>
            </a:r>
            <a:endParaRPr lang="en-US" sz="1500" dirty="0"/>
          </a:p>
        </p:txBody>
      </p:sp>
      <p:sp>
        <p:nvSpPr>
          <p:cNvPr id="3" name="Text 1"/>
          <p:cNvSpPr/>
          <p:nvPr/>
        </p:nvSpPr>
        <p:spPr>
          <a:xfrm>
            <a:off x="731520" y="3108960"/>
            <a:ext cx="10515600" cy="1280160"/>
          </a:xfrm>
          <a:prstGeom prst="rect">
            <a:avLst/>
          </a:prstGeom>
          <a:noFill/>
          <a:ln/>
        </p:spPr>
        <p:txBody>
          <a:bodyPr wrap="square" rtlCol="0" anchor="ctr"/>
          <a:lstStyle/>
          <a:p>
            <a:pPr indent="0" marL="0">
              <a:buNone/>
            </a:pPr>
            <a:r>
              <a:rPr lang="en-US" sz="3800" b="1" dirty="0">
                <a:solidFill>
                  <a:srgbClr val="F5F2E7"/>
                </a:solidFill>
                <a:latin typeface="Cambria" pitchFamily="34" charset="0"/>
                <a:ea typeface="Cambria" pitchFamily="34" charset="-122"/>
                <a:cs typeface="Cambria" pitchFamily="34" charset="-120"/>
              </a:rPr>
              <a:t>Advanced Techniques &amp; Production</a:t>
            </a:r>
            <a:endParaRPr lang="en-US" sz="3800" dirty="0"/>
          </a:p>
        </p:txBody>
      </p:sp>
      <p:sp>
        <p:nvSpPr>
          <p:cNvPr id="4" name="Text 2"/>
          <p:cNvSpPr/>
          <p:nvPr/>
        </p:nvSpPr>
        <p:spPr>
          <a:xfrm>
            <a:off x="731520" y="4251960"/>
            <a:ext cx="9144000" cy="731520"/>
          </a:xfrm>
          <a:prstGeom prst="rect">
            <a:avLst/>
          </a:prstGeom>
          <a:noFill/>
          <a:ln/>
        </p:spPr>
        <p:txBody>
          <a:bodyPr wrap="square" rtlCol="0" anchor="ctr"/>
          <a:lstStyle/>
          <a:p>
            <a:pPr indent="0" marL="0">
              <a:buNone/>
            </a:pPr>
            <a:r>
              <a:rPr lang="en-US" sz="1500" dirty="0">
                <a:solidFill>
                  <a:srgbClr val="AEB8AC"/>
                </a:solidFill>
                <a:latin typeface="Calibri" pitchFamily="34" charset="0"/>
                <a:ea typeface="Calibri" pitchFamily="34" charset="-122"/>
                <a:cs typeface="Calibri" pitchFamily="34" charset="-120"/>
              </a:rPr>
              <a:t>Beyond the basic pipeline: sharper retrieval, and running it at scale.</a:t>
            </a:r>
            <a:endParaRPr lang="en-US" sz="1500" dirty="0"/>
          </a:p>
        </p:txBody>
      </p:sp>
      <p:sp>
        <p:nvSpPr>
          <p:cNvPr id="5"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6E8478"/>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A SECOND, PRECISE PASS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Reranking</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The pattern.  </a:t>
            </a:r>
            <a:pPr indent="0" marL="0">
              <a:buNone/>
            </a:pPr>
            <a:r>
              <a:rPr lang="en-US" sz="1450" dirty="0">
                <a:solidFill>
                  <a:srgbClr val="5B6660"/>
                </a:solidFill>
                <a:latin typeface="Calibri" pitchFamily="34" charset="0"/>
                <a:ea typeface="Calibri" pitchFamily="34" charset="-122"/>
                <a:cs typeface="Calibri" pitchFamily="34" charset="-120"/>
              </a:rPr>
              <a:t>A cheap, less precise retriever (BM25, or a fast dense index) fetches a wide set of candidates; a slower, more accurate model reranks them.</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Why it helps.  </a:t>
            </a:r>
            <a:pPr indent="0" marL="0">
              <a:buNone/>
            </a:pPr>
            <a:r>
              <a:rPr lang="en-US" sz="1450" dirty="0">
                <a:solidFill>
                  <a:srgbClr val="5B6660"/>
                </a:solidFill>
                <a:latin typeface="Calibri" pitchFamily="34" charset="0"/>
                <a:ea typeface="Calibri" pitchFamily="34" charset="-122"/>
                <a:cs typeface="Calibri" pitchFamily="34" charset="-120"/>
              </a:rPr>
              <a:t>It lets you cast a wide net cheaply, then spend compute only on the smaller candidate set that actually needs precise scoring.</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Common rerankers.  </a:t>
            </a:r>
            <a:pPr indent="0" marL="0">
              <a:buNone/>
            </a:pPr>
            <a:r>
              <a:rPr lang="en-US" sz="1450" dirty="0">
                <a:solidFill>
                  <a:srgbClr val="5B6660"/>
                </a:solidFill>
                <a:latin typeface="Calibri" pitchFamily="34" charset="0"/>
                <a:ea typeface="Calibri" pitchFamily="34" charset="-122"/>
                <a:cs typeface="Calibri" pitchFamily="34" charset="-120"/>
              </a:rPr>
              <a:t>Cross-encoder models such as a BGE reranker or Cohere Rerank score a (query, chunk) pair jointly, which is more accurate than comparing separately-computed embeddings.</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Order still matters after reranking.  </a:t>
            </a:r>
            <a:pPr indent="0" marL="0">
              <a:buNone/>
            </a:pPr>
            <a:r>
              <a:rPr lang="en-US" sz="1450" dirty="0">
                <a:solidFill>
                  <a:srgbClr val="5B6660"/>
                </a:solidFill>
                <a:latin typeface="Calibri" pitchFamily="34" charset="0"/>
                <a:ea typeface="Calibri" pitchFamily="34" charset="-122"/>
                <a:cs typeface="Calibri" pitchFamily="34" charset="-120"/>
              </a:rPr>
              <a:t>Placing the most relevant chunks near the start or end of the final context tends to help the generator use them.</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TWO WAYS TO SCORE RELEVANCE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Bi-Encoder vs Cross-Encoder</a:t>
            </a:r>
            <a:endParaRPr lang="en-US" sz="27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377440"/>
                <a:gridCol w="4297680"/>
                <a:gridCol w="4480560"/>
              </a:tblGrid>
              <a:tr h="457200">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Bi-encoder</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Cross-encoder</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How it scores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Encodes query and document separately, then compares vectors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Encodes query and document together, in one forward pass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Fast — documents pre-embedded once, reused for every query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Slow — every (query, document) pair needs a fresh pass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Good, but misses fine-grained interaction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Higher — captures word-level interaction between query and document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Typical role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First-stage retriever (BGE-M3, e5)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Second-stage reranker over a small candidate set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REFORMULATE AND FUSE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Multi-Query Retrieval</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The idea.  </a:t>
            </a:r>
            <a:pPr indent="0" marL="0">
              <a:buNone/>
            </a:pPr>
            <a:r>
              <a:rPr lang="en-US" sz="1450" dirty="0">
                <a:solidFill>
                  <a:srgbClr val="5B6660"/>
                </a:solidFill>
                <a:latin typeface="Calibri" pitchFamily="34" charset="0"/>
                <a:ea typeface="Calibri" pitchFamily="34" charset="-122"/>
                <a:cs typeface="Calibri" pitchFamily="34" charset="-120"/>
              </a:rPr>
              <a:t>The LLM rewrites one query into several related phrasings, each is used to retrieve separately, and the results are merged.</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Example.  </a:t>
            </a:r>
            <a:pPr indent="0" marL="0">
              <a:buNone/>
            </a:pPr>
            <a:r>
              <a:rPr lang="en-US" sz="1450" dirty="0">
                <a:solidFill>
                  <a:srgbClr val="5B6660"/>
                </a:solidFill>
                <a:latin typeface="Calibri" pitchFamily="34" charset="0"/>
                <a:ea typeface="Calibri" pitchFamily="34" charset="-122"/>
                <a:cs typeface="Calibri" pitchFamily="34" charset="-120"/>
              </a:rPr>
              <a:t>“AI IDS SDV” becomes “intrusion detection,” “automotive security,” “connected vehicle,” and “CAN bus IDS.”</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Why it helps.  </a:t>
            </a:r>
            <a:pPr indent="0" marL="0">
              <a:buNone/>
            </a:pPr>
            <a:r>
              <a:rPr lang="en-US" sz="1450" dirty="0">
                <a:solidFill>
                  <a:srgbClr val="5B6660"/>
                </a:solidFill>
                <a:latin typeface="Calibri" pitchFamily="34" charset="0"/>
                <a:ea typeface="Calibri" pitchFamily="34" charset="-122"/>
                <a:cs typeface="Calibri" pitchFamily="34" charset="-120"/>
              </a:rPr>
              <a:t>A single embedding of a short, ambiguous query can miss relevant chunks phrased with different vocabulary; multiple queries widen the net.</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Merging strategy.  </a:t>
            </a:r>
            <a:pPr indent="0" marL="0">
              <a:buNone/>
            </a:pPr>
            <a:r>
              <a:rPr lang="en-US" sz="1450" dirty="0">
                <a:solidFill>
                  <a:srgbClr val="5B6660"/>
                </a:solidFill>
                <a:latin typeface="Calibri" pitchFamily="34" charset="0"/>
                <a:ea typeface="Calibri" pitchFamily="34" charset="-122"/>
                <a:cs typeface="Calibri" pitchFamily="34" charset="-120"/>
              </a:rPr>
              <a:t>Results are typically deduplicated and combined with reciprocal rank fusion, the same technique used in hybrid search.</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RESOLVING CONVERSATIONAL CONTEXT</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Query Rewriting</a:t>
            </a:r>
            <a:endParaRPr lang="en-US" sz="2700" dirty="0"/>
          </a:p>
        </p:txBody>
      </p:sp>
      <p:sp>
        <p:nvSpPr>
          <p:cNvPr id="5" name="Shape 3"/>
          <p:cNvSpPr/>
          <p:nvPr/>
        </p:nvSpPr>
        <p:spPr>
          <a:xfrm>
            <a:off x="868680" y="1417320"/>
            <a:ext cx="6492240" cy="4846320"/>
          </a:xfrm>
          <a:prstGeom prst="roundRect">
            <a:avLst>
              <a:gd name="adj" fmla="val 1509"/>
            </a:avLst>
          </a:prstGeom>
          <a:solidFill>
            <a:srgbClr val="16201A"/>
          </a:solidFill>
          <a:ln/>
        </p:spPr>
      </p:sp>
      <p:sp>
        <p:nvSpPr>
          <p:cNvPr id="6" name="Text 4"/>
          <p:cNvSpPr/>
          <p:nvPr/>
        </p:nvSpPr>
        <p:spPr>
          <a:xfrm>
            <a:off x="1097280" y="1600200"/>
            <a:ext cx="6035040" cy="4480560"/>
          </a:xfrm>
          <a:prstGeom prst="rect">
            <a:avLst/>
          </a:prstGeom>
          <a:noFill/>
          <a:ln/>
        </p:spPr>
        <p:txBody>
          <a:bodyPr wrap="square" rtlCol="0" anchor="t"/>
          <a:lstStyle/>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User: When was the last time John Doe</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bought something from us?</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AI:   John last bought a Fruity Fedora</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hat two weeks ago.</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User: How about Emily Doe?</a:t>
            </a:r>
            <a:endParaRPr lang="en-US" sz="1150" dirty="0"/>
          </a:p>
          <a:p>
            <a:pPr indent="0" marL="0">
              <a:lnSpc>
                <a:spcPct val="115000"/>
              </a:lnSpc>
              <a:buNone/>
            </a:pP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Rewritten query (sent to the retriever):</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"When was the last time Emily Doe</a:t>
            </a:r>
            <a:endParaRPr lang="en-US" sz="1150" dirty="0"/>
          </a:p>
          <a:p>
            <a:pPr indent="0" marL="0">
              <a:lnSpc>
                <a:spcPct val="115000"/>
              </a:lnSpc>
              <a:buNone/>
            </a:pPr>
            <a:r>
              <a:rPr lang="en-US" sz="1150" dirty="0">
                <a:solidFill>
                  <a:srgbClr val="D9E6DE"/>
                </a:solidFill>
                <a:latin typeface="Courier New" pitchFamily="34" charset="0"/>
                <a:ea typeface="Courier New" pitchFamily="34" charset="-122"/>
                <a:cs typeface="Courier New" pitchFamily="34" charset="-120"/>
              </a:rPr>
              <a:t> bought something from us?"</a:t>
            </a:r>
            <a:endParaRPr lang="en-US" sz="1150" dirty="0"/>
          </a:p>
        </p:txBody>
      </p:sp>
      <p:sp>
        <p:nvSpPr>
          <p:cNvPr id="7" name="Text 5"/>
          <p:cNvSpPr/>
          <p:nvPr/>
        </p:nvSpPr>
        <p:spPr>
          <a:xfrm>
            <a:off x="7635240" y="1463040"/>
            <a:ext cx="347472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Why rewriting is needed</a:t>
            </a:r>
            <a:endParaRPr lang="en-US" sz="1400" dirty="0"/>
          </a:p>
        </p:txBody>
      </p:sp>
      <p:sp>
        <p:nvSpPr>
          <p:cNvPr id="8" name="Text 6"/>
          <p:cNvSpPr/>
          <p:nvPr/>
        </p:nvSpPr>
        <p:spPr>
          <a:xfrm>
            <a:off x="7635240" y="192024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“How about Emily Doe?” is ambiguous on its own.</a:t>
            </a:r>
            <a:endParaRPr lang="en-US" sz="1200" dirty="0"/>
          </a:p>
        </p:txBody>
      </p:sp>
      <p:sp>
        <p:nvSpPr>
          <p:cNvPr id="9" name="Text 7"/>
          <p:cNvSpPr/>
          <p:nvPr/>
        </p:nvSpPr>
        <p:spPr>
          <a:xfrm>
            <a:off x="7635240" y="278892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Used verbatim, it would retrieve irrelevant chunks.</a:t>
            </a:r>
            <a:endParaRPr lang="en-US" sz="1200" dirty="0"/>
          </a:p>
        </p:txBody>
      </p:sp>
      <p:sp>
        <p:nvSpPr>
          <p:cNvPr id="10" name="Text 8"/>
          <p:cNvSpPr/>
          <p:nvPr/>
        </p:nvSpPr>
        <p:spPr>
          <a:xfrm>
            <a:off x="7635240" y="365760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An LLM rewrites it into a self-contained query before retrieval.</a:t>
            </a:r>
            <a:endParaRPr lang="en-US" sz="1200" dirty="0"/>
          </a:p>
        </p:txBody>
      </p:sp>
      <p:sp>
        <p:nvSpPr>
          <p:cNvPr id="11" name="Text 9"/>
          <p:cNvSpPr/>
          <p:nvPr/>
        </p:nvSpPr>
        <p:spPr>
          <a:xfrm>
            <a:off x="7635240" y="4526280"/>
            <a:ext cx="3474720" cy="822960"/>
          </a:xfrm>
          <a:prstGeom prst="rect">
            <a:avLst/>
          </a:prstGeom>
          <a:noFill/>
          <a:ln/>
        </p:spPr>
        <p:txBody>
          <a:bodyPr wrap="square" rtlCol="0" anchor="ctr"/>
          <a:lstStyle/>
          <a:p>
            <a:pPr marL="342900" indent="-342900">
              <a:buSzPct val="100000"/>
              <a:buChar char="•"/>
            </a:pPr>
            <a:r>
              <a:rPr lang="en-US" sz="1200" dirty="0">
                <a:solidFill>
                  <a:srgbClr val="5B6660"/>
                </a:solidFill>
                <a:latin typeface="Calibri" pitchFamily="34" charset="0"/>
                <a:ea typeface="Calibri" pitchFamily="34" charset="-122"/>
                <a:cs typeface="Calibri" pitchFamily="34" charset="-120"/>
              </a:rPr>
              <a:t>If identity or facts cannot be resolved, the model should say so rather than guess.</a:t>
            </a:r>
            <a:endParaRPr lang="en-US" sz="1200" dirty="0"/>
          </a:p>
        </p:txBody>
      </p:sp>
      <p:sp>
        <p:nvSpPr>
          <p:cNvPr id="12" name="Text 10"/>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QUERY-SIDE TRICK</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HyDE — Hypothetical Document Embeddings</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The problem.  </a:t>
            </a:r>
            <a:pPr indent="0" marL="0">
              <a:buNone/>
            </a:pPr>
            <a:r>
              <a:rPr lang="en-US" sz="1450" dirty="0">
                <a:solidFill>
                  <a:srgbClr val="5B6660"/>
                </a:solidFill>
                <a:latin typeface="Calibri" pitchFamily="34" charset="0"/>
                <a:ea typeface="Calibri" pitchFamily="34" charset="-122"/>
                <a:cs typeface="Calibri" pitchFamily="34" charset="-120"/>
              </a:rPr>
              <a:t>A short question and a long passage that answers it are not always close in embedding space, even when the passage is the right answer.</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The trick.  </a:t>
            </a:r>
            <a:pPr indent="0" marL="0">
              <a:buNone/>
            </a:pPr>
            <a:r>
              <a:rPr lang="en-US" sz="1450" dirty="0">
                <a:solidFill>
                  <a:srgbClr val="5B6660"/>
                </a:solidFill>
                <a:latin typeface="Calibri" pitchFamily="34" charset="0"/>
                <a:ea typeface="Calibri" pitchFamily="34" charset="-122"/>
                <a:cs typeface="Calibri" pitchFamily="34" charset="-120"/>
              </a:rPr>
              <a:t>Ask the LLM to write a hypothetical answer to the question first, then embed that hypothetical passage instead of the raw question.</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Why it helps.  </a:t>
            </a:r>
            <a:pPr indent="0" marL="0">
              <a:buNone/>
            </a:pPr>
            <a:r>
              <a:rPr lang="en-US" sz="1450" dirty="0">
                <a:solidFill>
                  <a:srgbClr val="5B6660"/>
                </a:solidFill>
                <a:latin typeface="Calibri" pitchFamily="34" charset="0"/>
                <a:ea typeface="Calibri" pitchFamily="34" charset="-122"/>
                <a:cs typeface="Calibri" pitchFamily="34" charset="-120"/>
              </a:rPr>
              <a:t>A generated passage looks structurally more like the documents in the index than a short question does, which can improve retrieval matching.</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Trade-off.  </a:t>
            </a:r>
            <a:pPr indent="0" marL="0">
              <a:buNone/>
            </a:pPr>
            <a:r>
              <a:rPr lang="en-US" sz="1450" dirty="0">
                <a:solidFill>
                  <a:srgbClr val="5B6660"/>
                </a:solidFill>
                <a:latin typeface="Calibri" pitchFamily="34" charset="0"/>
                <a:ea typeface="Calibri" pitchFamily="34" charset="-122"/>
                <a:cs typeface="Calibri" pitchFamily="34" charset="-120"/>
              </a:rPr>
              <a:t>It adds one extra LLM call before retrieval, so it trades latency and cost for potential recall gains.</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RETRIEVING SMARTER, NOT JUST MORE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Context Compression &amp; Parent Document Retrieval</a:t>
            </a:r>
            <a:endParaRPr lang="en-US" sz="2700" dirty="0"/>
          </a:p>
        </p:txBody>
      </p:sp>
      <p:sp>
        <p:nvSpPr>
          <p:cNvPr id="5" name="Text 3"/>
          <p:cNvSpPr/>
          <p:nvPr/>
        </p:nvSpPr>
        <p:spPr>
          <a:xfrm>
            <a:off x="868680" y="1417320"/>
            <a:ext cx="10241280" cy="143560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Context compression.  </a:t>
            </a:r>
            <a:pPr indent="0" marL="0">
              <a:buNone/>
            </a:pPr>
            <a:r>
              <a:rPr lang="en-US" sz="1450" dirty="0">
                <a:solidFill>
                  <a:srgbClr val="5B6660"/>
                </a:solidFill>
                <a:latin typeface="Calibri" pitchFamily="34" charset="0"/>
                <a:ea typeface="Calibri" pitchFamily="34" charset="-122"/>
                <a:cs typeface="Calibri" pitchFamily="34" charset="-120"/>
              </a:rPr>
              <a:t>After retrieval, an LLM or a smaller model extracts only the sentences relevant to the query from each chunk, trimming noise before generation.</a:t>
            </a:r>
            <a:endParaRPr lang="en-US" sz="1550" dirty="0"/>
          </a:p>
        </p:txBody>
      </p:sp>
      <p:sp>
        <p:nvSpPr>
          <p:cNvPr id="6" name="Text 4"/>
          <p:cNvSpPr/>
          <p:nvPr/>
        </p:nvSpPr>
        <p:spPr>
          <a:xfrm>
            <a:off x="868680" y="2926080"/>
            <a:ext cx="10241280" cy="143560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Parent document retrieval.  </a:t>
            </a:r>
            <a:pPr indent="0" marL="0">
              <a:buNone/>
            </a:pPr>
            <a:r>
              <a:rPr lang="en-US" sz="1450" dirty="0">
                <a:solidFill>
                  <a:srgbClr val="5B6660"/>
                </a:solidFill>
                <a:latin typeface="Calibri" pitchFamily="34" charset="0"/>
                <a:ea typeface="Calibri" pitchFamily="34" charset="-122"/>
                <a:cs typeface="Calibri" pitchFamily="34" charset="-120"/>
              </a:rPr>
              <a:t>Index small, precise child chunks for search, but return their larger parent section or document once a child chunk matches, giving the generator more surrounding context.</a:t>
            </a:r>
            <a:endParaRPr lang="en-US" sz="1550" dirty="0"/>
          </a:p>
        </p:txBody>
      </p:sp>
      <p:sp>
        <p:nvSpPr>
          <p:cNvPr id="7" name="Text 5"/>
          <p:cNvSpPr/>
          <p:nvPr/>
        </p:nvSpPr>
        <p:spPr>
          <a:xfrm>
            <a:off x="868680" y="4434840"/>
            <a:ext cx="10241280" cy="143560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Why both exist.  </a:t>
            </a:r>
            <a:pPr indent="0" marL="0">
              <a:buNone/>
            </a:pPr>
            <a:r>
              <a:rPr lang="en-US" sz="1450" dirty="0">
                <a:solidFill>
                  <a:srgbClr val="5B6660"/>
                </a:solidFill>
                <a:latin typeface="Calibri" pitchFamily="34" charset="0"/>
                <a:ea typeface="Calibri" pitchFamily="34" charset="-122"/>
                <a:cs typeface="Calibri" pitchFamily="34" charset="-120"/>
              </a:rPr>
              <a:t>Small chunks retrieve precisely but risk losing surrounding context; these techniques let you search small while reading large.</a:t>
            </a:r>
            <a:endParaRPr lang="en-US" sz="1550" dirty="0"/>
          </a:p>
        </p:txBody>
      </p:sp>
      <p:sp>
        <p:nvSpPr>
          <p:cNvPr id="8" name="Text 6"/>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ANTHROPIC'S TECHNIQUE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Contextual Retrieval</a:t>
            </a:r>
            <a:endParaRPr lang="en-US" sz="2700" dirty="0"/>
          </a:p>
        </p:txBody>
      </p:sp>
      <p:sp>
        <p:nvSpPr>
          <p:cNvPr id="5" name="Shape 3"/>
          <p:cNvSpPr/>
          <p:nvPr/>
        </p:nvSpPr>
        <p:spPr>
          <a:xfrm>
            <a:off x="868680" y="2377440"/>
            <a:ext cx="1792224" cy="1371600"/>
          </a:xfrm>
          <a:prstGeom prst="roundRect">
            <a:avLst>
              <a:gd name="adj" fmla="val 5333"/>
            </a:avLst>
          </a:prstGeom>
          <a:solidFill>
            <a:srgbClr val="E4F0E9"/>
          </a:solidFill>
          <a:ln w="12700">
            <a:solidFill>
              <a:srgbClr val="2F6B4F"/>
            </a:solidFill>
            <a:prstDash val="solid"/>
          </a:ln>
        </p:spPr>
      </p:sp>
      <p:sp>
        <p:nvSpPr>
          <p:cNvPr id="6" name="Text 4"/>
          <p:cNvSpPr/>
          <p:nvPr/>
        </p:nvSpPr>
        <p:spPr>
          <a:xfrm>
            <a:off x="941832" y="2468880"/>
            <a:ext cx="1645920"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Whole</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document</a:t>
            </a:r>
            <a:endParaRPr lang="en-US" sz="1250" dirty="0"/>
          </a:p>
        </p:txBody>
      </p:sp>
      <p:sp>
        <p:nvSpPr>
          <p:cNvPr id="7" name="Text 5"/>
          <p:cNvSpPr/>
          <p:nvPr/>
        </p:nvSpPr>
        <p:spPr>
          <a:xfrm>
            <a:off x="2660904"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8" name="Shape 6"/>
          <p:cNvSpPr/>
          <p:nvPr/>
        </p:nvSpPr>
        <p:spPr>
          <a:xfrm>
            <a:off x="2980944" y="2377440"/>
            <a:ext cx="1792224" cy="1371600"/>
          </a:xfrm>
          <a:prstGeom prst="roundRect">
            <a:avLst>
              <a:gd name="adj" fmla="val 5333"/>
            </a:avLst>
          </a:prstGeom>
          <a:solidFill>
            <a:srgbClr val="E4F0E9"/>
          </a:solidFill>
          <a:ln w="12700">
            <a:solidFill>
              <a:srgbClr val="2F6B4F"/>
            </a:solidFill>
            <a:prstDash val="solid"/>
          </a:ln>
        </p:spPr>
      </p:sp>
      <p:sp>
        <p:nvSpPr>
          <p:cNvPr id="9" name="Text 7"/>
          <p:cNvSpPr/>
          <p:nvPr/>
        </p:nvSpPr>
        <p:spPr>
          <a:xfrm>
            <a:off x="3054096" y="2468880"/>
            <a:ext cx="1645920"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Chunk</a:t>
            </a:r>
            <a:endParaRPr lang="en-US" sz="1250" dirty="0"/>
          </a:p>
        </p:txBody>
      </p:sp>
      <p:sp>
        <p:nvSpPr>
          <p:cNvPr id="10" name="Text 8"/>
          <p:cNvSpPr/>
          <p:nvPr/>
        </p:nvSpPr>
        <p:spPr>
          <a:xfrm>
            <a:off x="4773168"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1" name="Shape 9"/>
          <p:cNvSpPr/>
          <p:nvPr/>
        </p:nvSpPr>
        <p:spPr>
          <a:xfrm>
            <a:off x="5093208" y="2377440"/>
            <a:ext cx="1792224" cy="1371600"/>
          </a:xfrm>
          <a:prstGeom prst="roundRect">
            <a:avLst>
              <a:gd name="adj" fmla="val 5333"/>
            </a:avLst>
          </a:prstGeom>
          <a:solidFill>
            <a:srgbClr val="E4F0E9"/>
          </a:solidFill>
          <a:ln w="12700">
            <a:solidFill>
              <a:srgbClr val="2F6B4F"/>
            </a:solidFill>
            <a:prstDash val="solid"/>
          </a:ln>
        </p:spPr>
      </p:sp>
      <p:sp>
        <p:nvSpPr>
          <p:cNvPr id="12" name="Text 10"/>
          <p:cNvSpPr/>
          <p:nvPr/>
        </p:nvSpPr>
        <p:spPr>
          <a:xfrm>
            <a:off x="5166360" y="2468880"/>
            <a:ext cx="1645920"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LLM writes</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50-100 token</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summary</a:t>
            </a:r>
            <a:endParaRPr lang="en-US" sz="1250" dirty="0"/>
          </a:p>
        </p:txBody>
      </p:sp>
      <p:sp>
        <p:nvSpPr>
          <p:cNvPr id="13" name="Text 11"/>
          <p:cNvSpPr/>
          <p:nvPr/>
        </p:nvSpPr>
        <p:spPr>
          <a:xfrm>
            <a:off x="6885432"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7205472" y="2377440"/>
            <a:ext cx="1792224" cy="1371600"/>
          </a:xfrm>
          <a:prstGeom prst="roundRect">
            <a:avLst>
              <a:gd name="adj" fmla="val 5333"/>
            </a:avLst>
          </a:prstGeom>
          <a:solidFill>
            <a:srgbClr val="E4F0E9"/>
          </a:solidFill>
          <a:ln w="12700">
            <a:solidFill>
              <a:srgbClr val="2F6B4F"/>
            </a:solidFill>
            <a:prstDash val="solid"/>
          </a:ln>
        </p:spPr>
      </p:sp>
      <p:sp>
        <p:nvSpPr>
          <p:cNvPr id="15" name="Text 13"/>
          <p:cNvSpPr/>
          <p:nvPr/>
        </p:nvSpPr>
        <p:spPr>
          <a:xfrm>
            <a:off x="7278624" y="2468880"/>
            <a:ext cx="1645920"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Context +</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Chunk</a:t>
            </a:r>
            <a:endParaRPr lang="en-US" sz="1250" dirty="0"/>
          </a:p>
        </p:txBody>
      </p:sp>
      <p:sp>
        <p:nvSpPr>
          <p:cNvPr id="16" name="Text 14"/>
          <p:cNvSpPr/>
          <p:nvPr/>
        </p:nvSpPr>
        <p:spPr>
          <a:xfrm>
            <a:off x="8997696"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7" name="Shape 15"/>
          <p:cNvSpPr/>
          <p:nvPr/>
        </p:nvSpPr>
        <p:spPr>
          <a:xfrm>
            <a:off x="9317736" y="2377440"/>
            <a:ext cx="1792224" cy="1371600"/>
          </a:xfrm>
          <a:prstGeom prst="roundRect">
            <a:avLst>
              <a:gd name="adj" fmla="val 5333"/>
            </a:avLst>
          </a:prstGeom>
          <a:solidFill>
            <a:srgbClr val="E4F0E9"/>
          </a:solidFill>
          <a:ln w="12700">
            <a:solidFill>
              <a:srgbClr val="2F6B4F"/>
            </a:solidFill>
            <a:prstDash val="solid"/>
          </a:ln>
        </p:spPr>
      </p:sp>
      <p:sp>
        <p:nvSpPr>
          <p:cNvPr id="18" name="Text 16"/>
          <p:cNvSpPr/>
          <p:nvPr/>
        </p:nvSpPr>
        <p:spPr>
          <a:xfrm>
            <a:off x="9390888" y="2468880"/>
            <a:ext cx="1645920"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Embed &amp;</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index</a:t>
            </a:r>
            <a:endParaRPr lang="en-US" sz="1250" dirty="0"/>
          </a:p>
        </p:txBody>
      </p:sp>
      <p:sp>
        <p:nvSpPr>
          <p:cNvPr id="19" name="Text 17"/>
          <p:cNvSpPr/>
          <p:nvPr/>
        </p:nvSpPr>
        <p:spPr>
          <a:xfrm>
            <a:off x="868680" y="4114800"/>
            <a:ext cx="10241280" cy="1371600"/>
          </a:xfrm>
          <a:prstGeom prst="rect">
            <a:avLst/>
          </a:prstGeom>
          <a:noFill/>
          <a:ln/>
        </p:spPr>
        <p:txBody>
          <a:bodyPr wrap="square" rtlCol="0" anchor="ctr"/>
          <a:lstStyle/>
          <a:p>
            <a:pPr indent="0" marL="0">
              <a:buNone/>
            </a:pPr>
            <a:r>
              <a:rPr lang="en-US" sz="1350" dirty="0">
                <a:solidFill>
                  <a:srgbClr val="5B6660"/>
                </a:solidFill>
                <a:latin typeface="Calibri" pitchFamily="34" charset="0"/>
                <a:ea typeface="Calibri" pitchFamily="34" charset="-122"/>
                <a:cs typeface="Calibri" pitchFamily="34" charset="-120"/>
              </a:rPr>
              <a:t>Each chunk is prepended with a short, LLM-generated summary situating it within its parent document before embedding. This gives standalone chunks the surrounding context they would otherwise lose, improving retrieval without changing the retrieval algorithm itself.</a:t>
            </a:r>
            <a:endParaRPr lang="en-US" sz="1350" dirty="0"/>
          </a:p>
        </p:txBody>
      </p:sp>
      <p:sp>
        <p:nvSpPr>
          <p:cNvPr id="20" name="Text 18"/>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BEYOND THE BASIC LOOP</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Emerging RAG Architectures</a:t>
            </a:r>
            <a:endParaRPr lang="en-US" sz="2700" dirty="0"/>
          </a:p>
        </p:txBody>
      </p:sp>
      <p:sp>
        <p:nvSpPr>
          <p:cNvPr id="5" name="Shape 3"/>
          <p:cNvSpPr/>
          <p:nvPr/>
        </p:nvSpPr>
        <p:spPr>
          <a:xfrm>
            <a:off x="868680" y="1463040"/>
            <a:ext cx="2354580" cy="4800600"/>
          </a:xfrm>
          <a:prstGeom prst="roundRect">
            <a:avLst>
              <a:gd name="adj" fmla="val 2330"/>
            </a:avLst>
          </a:prstGeom>
          <a:solidFill>
            <a:srgbClr val="FFFFFF"/>
          </a:solidFill>
          <a:ln w="12700">
            <a:solidFill>
              <a:srgbClr val="2F6B4F"/>
            </a:solidFill>
            <a:prstDash val="solid"/>
          </a:ln>
        </p:spPr>
      </p:sp>
      <p:sp>
        <p:nvSpPr>
          <p:cNvPr id="6" name="Text 4"/>
          <p:cNvSpPr/>
          <p:nvPr/>
        </p:nvSpPr>
        <p:spPr>
          <a:xfrm>
            <a:off x="1033272" y="1600200"/>
            <a:ext cx="2025396" cy="365760"/>
          </a:xfrm>
          <a:prstGeom prst="rect">
            <a:avLst/>
          </a:prstGeom>
          <a:noFill/>
          <a:ln/>
        </p:spPr>
        <p:txBody>
          <a:bodyPr wrap="square" rtlCol="0" anchor="ctr"/>
          <a:lstStyle/>
          <a:p>
            <a:pPr indent="0" marL="0">
              <a:buNone/>
            </a:pPr>
            <a:r>
              <a:rPr lang="en-US" sz="1350" b="1" dirty="0">
                <a:solidFill>
                  <a:srgbClr val="2F6B4F"/>
                </a:solidFill>
                <a:latin typeface="Calibri" pitchFamily="34" charset="0"/>
                <a:ea typeface="Calibri" pitchFamily="34" charset="-122"/>
                <a:cs typeface="Calibri" pitchFamily="34" charset="-120"/>
              </a:rPr>
              <a:t>GraphRAG</a:t>
            </a:r>
            <a:endParaRPr lang="en-US" sz="1350" dirty="0"/>
          </a:p>
        </p:txBody>
      </p:sp>
      <p:sp>
        <p:nvSpPr>
          <p:cNvPr id="7" name="Text 5"/>
          <p:cNvSpPr/>
          <p:nvPr/>
        </p:nvSpPr>
        <p:spPr>
          <a:xfrm>
            <a:off x="1033272" y="2011680"/>
            <a:ext cx="2025396" cy="4114800"/>
          </a:xfrm>
          <a:prstGeom prst="rect">
            <a:avLst/>
          </a:prstGeom>
          <a:noFill/>
          <a:ln/>
        </p:spPr>
        <p:txBody>
          <a:bodyPr wrap="square" rtlCol="0" anchor="ctr"/>
          <a:lstStyle/>
          <a:p>
            <a:pPr indent="0" marL="0">
              <a:buNone/>
            </a:pPr>
            <a:r>
              <a:rPr lang="en-US" sz="1150" dirty="0">
                <a:solidFill>
                  <a:srgbClr val="5B6660"/>
                </a:solidFill>
                <a:latin typeface="Calibri" pitchFamily="34" charset="0"/>
                <a:ea typeface="Calibri" pitchFamily="34" charset="-122"/>
                <a:cs typeface="Calibri" pitchFamily="34" charset="-120"/>
              </a:rPr>
              <a:t>Builds a knowledge graph over the corpus and retrieves connected entities and relations, not just similar passages — useful for multi-hop questions.</a:t>
            </a:r>
            <a:endParaRPr lang="en-US" sz="1150" dirty="0"/>
          </a:p>
        </p:txBody>
      </p:sp>
      <p:sp>
        <p:nvSpPr>
          <p:cNvPr id="8" name="Shape 6"/>
          <p:cNvSpPr/>
          <p:nvPr/>
        </p:nvSpPr>
        <p:spPr>
          <a:xfrm>
            <a:off x="3497580" y="1463040"/>
            <a:ext cx="2354580" cy="4800600"/>
          </a:xfrm>
          <a:prstGeom prst="roundRect">
            <a:avLst>
              <a:gd name="adj" fmla="val 2330"/>
            </a:avLst>
          </a:prstGeom>
          <a:solidFill>
            <a:srgbClr val="FFFFFF"/>
          </a:solidFill>
          <a:ln w="12700">
            <a:solidFill>
              <a:srgbClr val="2F6B4F"/>
            </a:solidFill>
            <a:prstDash val="solid"/>
          </a:ln>
        </p:spPr>
      </p:sp>
      <p:sp>
        <p:nvSpPr>
          <p:cNvPr id="9" name="Text 7"/>
          <p:cNvSpPr/>
          <p:nvPr/>
        </p:nvSpPr>
        <p:spPr>
          <a:xfrm>
            <a:off x="3662172" y="1600200"/>
            <a:ext cx="2025396" cy="365760"/>
          </a:xfrm>
          <a:prstGeom prst="rect">
            <a:avLst/>
          </a:prstGeom>
          <a:noFill/>
          <a:ln/>
        </p:spPr>
        <p:txBody>
          <a:bodyPr wrap="square" rtlCol="0" anchor="ctr"/>
          <a:lstStyle/>
          <a:p>
            <a:pPr indent="0" marL="0">
              <a:buNone/>
            </a:pPr>
            <a:r>
              <a:rPr lang="en-US" sz="1350" b="1" dirty="0">
                <a:solidFill>
                  <a:srgbClr val="2F6B4F"/>
                </a:solidFill>
                <a:latin typeface="Calibri" pitchFamily="34" charset="0"/>
                <a:ea typeface="Calibri" pitchFamily="34" charset="-122"/>
                <a:cs typeface="Calibri" pitchFamily="34" charset="-120"/>
              </a:rPr>
              <a:t>Agentic RAG</a:t>
            </a:r>
            <a:endParaRPr lang="en-US" sz="1350" dirty="0"/>
          </a:p>
        </p:txBody>
      </p:sp>
      <p:sp>
        <p:nvSpPr>
          <p:cNvPr id="10" name="Text 8"/>
          <p:cNvSpPr/>
          <p:nvPr/>
        </p:nvSpPr>
        <p:spPr>
          <a:xfrm>
            <a:off x="3662172" y="2011680"/>
            <a:ext cx="2025396" cy="4114800"/>
          </a:xfrm>
          <a:prstGeom prst="rect">
            <a:avLst/>
          </a:prstGeom>
          <a:noFill/>
          <a:ln/>
        </p:spPr>
        <p:txBody>
          <a:bodyPr wrap="square" rtlCol="0" anchor="ctr"/>
          <a:lstStyle/>
          <a:p>
            <a:pPr indent="0" marL="0">
              <a:buNone/>
            </a:pPr>
            <a:r>
              <a:rPr lang="en-US" sz="1150" dirty="0">
                <a:solidFill>
                  <a:srgbClr val="5B6660"/>
                </a:solidFill>
                <a:latin typeface="Calibri" pitchFamily="34" charset="0"/>
                <a:ea typeface="Calibri" pitchFamily="34" charset="-122"/>
                <a:cs typeface="Calibri" pitchFamily="34" charset="-120"/>
              </a:rPr>
              <a:t>The model decides when and what to retrieve, can issue multiple retrieval calls, and can use other tools alongside retrieval.</a:t>
            </a:r>
            <a:endParaRPr lang="en-US" sz="1150" dirty="0"/>
          </a:p>
        </p:txBody>
      </p:sp>
      <p:sp>
        <p:nvSpPr>
          <p:cNvPr id="11" name="Shape 9"/>
          <p:cNvSpPr/>
          <p:nvPr/>
        </p:nvSpPr>
        <p:spPr>
          <a:xfrm>
            <a:off x="6126480" y="1463040"/>
            <a:ext cx="2354580" cy="4800600"/>
          </a:xfrm>
          <a:prstGeom prst="roundRect">
            <a:avLst>
              <a:gd name="adj" fmla="val 2330"/>
            </a:avLst>
          </a:prstGeom>
          <a:solidFill>
            <a:srgbClr val="FFFFFF"/>
          </a:solidFill>
          <a:ln w="12700">
            <a:solidFill>
              <a:srgbClr val="2F6B4F"/>
            </a:solidFill>
            <a:prstDash val="solid"/>
          </a:ln>
        </p:spPr>
      </p:sp>
      <p:sp>
        <p:nvSpPr>
          <p:cNvPr id="12" name="Text 10"/>
          <p:cNvSpPr/>
          <p:nvPr/>
        </p:nvSpPr>
        <p:spPr>
          <a:xfrm>
            <a:off x="6291072" y="1600200"/>
            <a:ext cx="2025396" cy="365760"/>
          </a:xfrm>
          <a:prstGeom prst="rect">
            <a:avLst/>
          </a:prstGeom>
          <a:noFill/>
          <a:ln/>
        </p:spPr>
        <p:txBody>
          <a:bodyPr wrap="square" rtlCol="0" anchor="ctr"/>
          <a:lstStyle/>
          <a:p>
            <a:pPr indent="0" marL="0">
              <a:buNone/>
            </a:pPr>
            <a:r>
              <a:rPr lang="en-US" sz="1350" b="1" dirty="0">
                <a:solidFill>
                  <a:srgbClr val="2F6B4F"/>
                </a:solidFill>
                <a:latin typeface="Calibri" pitchFamily="34" charset="0"/>
                <a:ea typeface="Calibri" pitchFamily="34" charset="-122"/>
                <a:cs typeface="Calibri" pitchFamily="34" charset="-120"/>
              </a:rPr>
              <a:t>Corrective RAG</a:t>
            </a:r>
            <a:endParaRPr lang="en-US" sz="1350" dirty="0"/>
          </a:p>
        </p:txBody>
      </p:sp>
      <p:sp>
        <p:nvSpPr>
          <p:cNvPr id="13" name="Text 11"/>
          <p:cNvSpPr/>
          <p:nvPr/>
        </p:nvSpPr>
        <p:spPr>
          <a:xfrm>
            <a:off x="6291072" y="2011680"/>
            <a:ext cx="2025396" cy="4114800"/>
          </a:xfrm>
          <a:prstGeom prst="rect">
            <a:avLst/>
          </a:prstGeom>
          <a:noFill/>
          <a:ln/>
        </p:spPr>
        <p:txBody>
          <a:bodyPr wrap="square" rtlCol="0" anchor="ctr"/>
          <a:lstStyle/>
          <a:p>
            <a:pPr indent="0" marL="0">
              <a:buNone/>
            </a:pPr>
            <a:r>
              <a:rPr lang="en-US" sz="1150" dirty="0">
                <a:solidFill>
                  <a:srgbClr val="5B6660"/>
                </a:solidFill>
                <a:latin typeface="Calibri" pitchFamily="34" charset="0"/>
                <a:ea typeface="Calibri" pitchFamily="34" charset="-122"/>
                <a:cs typeface="Calibri" pitchFamily="34" charset="-120"/>
              </a:rPr>
              <a:t>Evaluates retrieved chunks for relevance before generation, falling back to a web search or a reformulated query when retrieval quality looks poor.</a:t>
            </a:r>
            <a:endParaRPr lang="en-US" sz="1150" dirty="0"/>
          </a:p>
        </p:txBody>
      </p:sp>
      <p:sp>
        <p:nvSpPr>
          <p:cNvPr id="14" name="Shape 12"/>
          <p:cNvSpPr/>
          <p:nvPr/>
        </p:nvSpPr>
        <p:spPr>
          <a:xfrm>
            <a:off x="8755380" y="1463040"/>
            <a:ext cx="2354580" cy="4800600"/>
          </a:xfrm>
          <a:prstGeom prst="roundRect">
            <a:avLst>
              <a:gd name="adj" fmla="val 2330"/>
            </a:avLst>
          </a:prstGeom>
          <a:solidFill>
            <a:srgbClr val="FFFFFF"/>
          </a:solidFill>
          <a:ln w="12700">
            <a:solidFill>
              <a:srgbClr val="2F6B4F"/>
            </a:solidFill>
            <a:prstDash val="solid"/>
          </a:ln>
        </p:spPr>
      </p:sp>
      <p:sp>
        <p:nvSpPr>
          <p:cNvPr id="15" name="Text 13"/>
          <p:cNvSpPr/>
          <p:nvPr/>
        </p:nvSpPr>
        <p:spPr>
          <a:xfrm>
            <a:off x="8919972" y="1600200"/>
            <a:ext cx="2025396" cy="365760"/>
          </a:xfrm>
          <a:prstGeom prst="rect">
            <a:avLst/>
          </a:prstGeom>
          <a:noFill/>
          <a:ln/>
        </p:spPr>
        <p:txBody>
          <a:bodyPr wrap="square" rtlCol="0" anchor="ctr"/>
          <a:lstStyle/>
          <a:p>
            <a:pPr indent="0" marL="0">
              <a:buNone/>
            </a:pPr>
            <a:r>
              <a:rPr lang="en-US" sz="1350" b="1" dirty="0">
                <a:solidFill>
                  <a:srgbClr val="2F6B4F"/>
                </a:solidFill>
                <a:latin typeface="Calibri" pitchFamily="34" charset="0"/>
                <a:ea typeface="Calibri" pitchFamily="34" charset="-122"/>
                <a:cs typeface="Calibri" pitchFamily="34" charset="-120"/>
              </a:rPr>
              <a:t>Adaptive RAG</a:t>
            </a:r>
            <a:endParaRPr lang="en-US" sz="1350" dirty="0"/>
          </a:p>
        </p:txBody>
      </p:sp>
      <p:sp>
        <p:nvSpPr>
          <p:cNvPr id="16" name="Text 14"/>
          <p:cNvSpPr/>
          <p:nvPr/>
        </p:nvSpPr>
        <p:spPr>
          <a:xfrm>
            <a:off x="8919972" y="2011680"/>
            <a:ext cx="2025396" cy="4114800"/>
          </a:xfrm>
          <a:prstGeom prst="rect">
            <a:avLst/>
          </a:prstGeom>
          <a:noFill/>
          <a:ln/>
        </p:spPr>
        <p:txBody>
          <a:bodyPr wrap="square" rtlCol="0" anchor="ctr"/>
          <a:lstStyle/>
          <a:p>
            <a:pPr indent="0" marL="0">
              <a:buNone/>
            </a:pPr>
            <a:r>
              <a:rPr lang="en-US" sz="1150" dirty="0">
                <a:solidFill>
                  <a:srgbClr val="5B6660"/>
                </a:solidFill>
                <a:latin typeface="Calibri" pitchFamily="34" charset="0"/>
                <a:ea typeface="Calibri" pitchFamily="34" charset="-122"/>
                <a:cs typeface="Calibri" pitchFamily="34" charset="-120"/>
              </a:rPr>
              <a:t>Routes each query to a different strategy (no retrieval, single-step retrieval, or multi-step retrieval) based on its estimated complexity.</a:t>
            </a:r>
            <a:endParaRPr lang="en-US" sz="1150" dirty="0"/>
          </a:p>
        </p:txBody>
      </p:sp>
      <p:sp>
        <p:nvSpPr>
          <p:cNvPr id="17" name="Text 15"/>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END TO END</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A Production RAG Architecture</a:t>
            </a:r>
            <a:endParaRPr lang="en-US" sz="2700" dirty="0"/>
          </a:p>
        </p:txBody>
      </p:sp>
      <p:sp>
        <p:nvSpPr>
          <p:cNvPr id="5" name="Shape 3"/>
          <p:cNvSpPr/>
          <p:nvPr/>
        </p:nvSpPr>
        <p:spPr>
          <a:xfrm>
            <a:off x="868680" y="2377440"/>
            <a:ext cx="1440180" cy="1371600"/>
          </a:xfrm>
          <a:prstGeom prst="roundRect">
            <a:avLst>
              <a:gd name="adj" fmla="val 5333"/>
            </a:avLst>
          </a:prstGeom>
          <a:solidFill>
            <a:srgbClr val="E4F0E9"/>
          </a:solidFill>
          <a:ln w="12700">
            <a:solidFill>
              <a:srgbClr val="2F6B4F"/>
            </a:solidFill>
            <a:prstDash val="solid"/>
          </a:ln>
        </p:spPr>
      </p:sp>
      <p:sp>
        <p:nvSpPr>
          <p:cNvPr id="6" name="Text 4"/>
          <p:cNvSpPr/>
          <p:nvPr/>
        </p:nvSpPr>
        <p:spPr>
          <a:xfrm>
            <a:off x="94183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Ingestion</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workers</a:t>
            </a:r>
            <a:endParaRPr lang="en-US" sz="1250" dirty="0"/>
          </a:p>
        </p:txBody>
      </p:sp>
      <p:sp>
        <p:nvSpPr>
          <p:cNvPr id="7" name="Text 5"/>
          <p:cNvSpPr/>
          <p:nvPr/>
        </p:nvSpPr>
        <p:spPr>
          <a:xfrm>
            <a:off x="230886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8" name="Shape 6"/>
          <p:cNvSpPr/>
          <p:nvPr/>
        </p:nvSpPr>
        <p:spPr>
          <a:xfrm>
            <a:off x="2628900" y="2377440"/>
            <a:ext cx="1440180" cy="1371600"/>
          </a:xfrm>
          <a:prstGeom prst="roundRect">
            <a:avLst>
              <a:gd name="adj" fmla="val 5333"/>
            </a:avLst>
          </a:prstGeom>
          <a:solidFill>
            <a:srgbClr val="E4F0E9"/>
          </a:solidFill>
          <a:ln w="12700">
            <a:solidFill>
              <a:srgbClr val="2F6B4F"/>
            </a:solidFill>
            <a:prstDash val="solid"/>
          </a:ln>
        </p:spPr>
      </p:sp>
      <p:sp>
        <p:nvSpPr>
          <p:cNvPr id="9" name="Text 7"/>
          <p:cNvSpPr/>
          <p:nvPr/>
        </p:nvSpPr>
        <p:spPr>
          <a:xfrm>
            <a:off x="270205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Vector +</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keyword index</a:t>
            </a:r>
            <a:endParaRPr lang="en-US" sz="1250" dirty="0"/>
          </a:p>
        </p:txBody>
      </p:sp>
      <p:sp>
        <p:nvSpPr>
          <p:cNvPr id="10" name="Text 8"/>
          <p:cNvSpPr/>
          <p:nvPr/>
        </p:nvSpPr>
        <p:spPr>
          <a:xfrm>
            <a:off x="406908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1" name="Shape 9"/>
          <p:cNvSpPr/>
          <p:nvPr/>
        </p:nvSpPr>
        <p:spPr>
          <a:xfrm>
            <a:off x="4389120" y="2377440"/>
            <a:ext cx="1440180" cy="1371600"/>
          </a:xfrm>
          <a:prstGeom prst="roundRect">
            <a:avLst>
              <a:gd name="adj" fmla="val 5333"/>
            </a:avLst>
          </a:prstGeom>
          <a:solidFill>
            <a:srgbClr val="E4F0E9"/>
          </a:solidFill>
          <a:ln w="12700">
            <a:solidFill>
              <a:srgbClr val="2F6B4F"/>
            </a:solidFill>
            <a:prstDash val="solid"/>
          </a:ln>
        </p:spPr>
      </p:sp>
      <p:sp>
        <p:nvSpPr>
          <p:cNvPr id="12" name="Text 10"/>
          <p:cNvSpPr/>
          <p:nvPr/>
        </p:nvSpPr>
        <p:spPr>
          <a:xfrm>
            <a:off x="446227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Retrieval</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API</a:t>
            </a:r>
            <a:endParaRPr lang="en-US" sz="1250" dirty="0"/>
          </a:p>
        </p:txBody>
      </p:sp>
      <p:sp>
        <p:nvSpPr>
          <p:cNvPr id="13" name="Text 11"/>
          <p:cNvSpPr/>
          <p:nvPr/>
        </p:nvSpPr>
        <p:spPr>
          <a:xfrm>
            <a:off x="582930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6149340" y="2377440"/>
            <a:ext cx="1440180" cy="1371600"/>
          </a:xfrm>
          <a:prstGeom prst="roundRect">
            <a:avLst>
              <a:gd name="adj" fmla="val 5333"/>
            </a:avLst>
          </a:prstGeom>
          <a:solidFill>
            <a:srgbClr val="E4F0E9"/>
          </a:solidFill>
          <a:ln w="12700">
            <a:solidFill>
              <a:srgbClr val="2F6B4F"/>
            </a:solidFill>
            <a:prstDash val="solid"/>
          </a:ln>
        </p:spPr>
      </p:sp>
      <p:sp>
        <p:nvSpPr>
          <p:cNvPr id="15" name="Text 13"/>
          <p:cNvSpPr/>
          <p:nvPr/>
        </p:nvSpPr>
        <p:spPr>
          <a:xfrm>
            <a:off x="622249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Reranker</a:t>
            </a:r>
            <a:endParaRPr lang="en-US" sz="1250" dirty="0"/>
          </a:p>
        </p:txBody>
      </p:sp>
      <p:sp>
        <p:nvSpPr>
          <p:cNvPr id="16" name="Text 14"/>
          <p:cNvSpPr/>
          <p:nvPr/>
        </p:nvSpPr>
        <p:spPr>
          <a:xfrm>
            <a:off x="758952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17" name="Shape 15"/>
          <p:cNvSpPr/>
          <p:nvPr/>
        </p:nvSpPr>
        <p:spPr>
          <a:xfrm>
            <a:off x="7909560" y="2377440"/>
            <a:ext cx="1440180" cy="1371600"/>
          </a:xfrm>
          <a:prstGeom prst="roundRect">
            <a:avLst>
              <a:gd name="adj" fmla="val 5333"/>
            </a:avLst>
          </a:prstGeom>
          <a:solidFill>
            <a:srgbClr val="E4F0E9"/>
          </a:solidFill>
          <a:ln w="12700">
            <a:solidFill>
              <a:srgbClr val="2F6B4F"/>
            </a:solidFill>
            <a:prstDash val="solid"/>
          </a:ln>
        </p:spPr>
      </p:sp>
      <p:sp>
        <p:nvSpPr>
          <p:cNvPr id="18" name="Text 16"/>
          <p:cNvSpPr/>
          <p:nvPr/>
        </p:nvSpPr>
        <p:spPr>
          <a:xfrm>
            <a:off x="798271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LLM</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gateway</a:t>
            </a:r>
            <a:endParaRPr lang="en-US" sz="1250" dirty="0"/>
          </a:p>
        </p:txBody>
      </p:sp>
      <p:sp>
        <p:nvSpPr>
          <p:cNvPr id="19" name="Text 17"/>
          <p:cNvSpPr/>
          <p:nvPr/>
        </p:nvSpPr>
        <p:spPr>
          <a:xfrm>
            <a:off x="9349740" y="2377440"/>
            <a:ext cx="320040" cy="1371600"/>
          </a:xfrm>
          <a:prstGeom prst="rect">
            <a:avLst/>
          </a:prstGeom>
          <a:noFill/>
          <a:ln/>
        </p:spPr>
        <p:txBody>
          <a:bodyPr wrap="square" rtlCol="0" anchor="ctr"/>
          <a:lstStyle/>
          <a:p>
            <a:pPr algn="ctr" indent="0" marL="0">
              <a:buNone/>
            </a:pPr>
            <a:r>
              <a:rPr lang="en-US" sz="2000" b="1" dirty="0">
                <a:solidFill>
                  <a:srgbClr val="2F6B4F"/>
                </a:solidFill>
                <a:latin typeface="Calibri" pitchFamily="34" charset="0"/>
                <a:ea typeface="Calibri" pitchFamily="34" charset="-122"/>
                <a:cs typeface="Calibri" pitchFamily="34" charset="-120"/>
              </a:rPr>
              <a:t>&gt;</a:t>
            </a:r>
            <a:endParaRPr lang="en-US" sz="2000" dirty="0"/>
          </a:p>
        </p:txBody>
      </p:sp>
      <p:sp>
        <p:nvSpPr>
          <p:cNvPr id="20" name="Shape 18"/>
          <p:cNvSpPr/>
          <p:nvPr/>
        </p:nvSpPr>
        <p:spPr>
          <a:xfrm>
            <a:off x="9669780" y="2377440"/>
            <a:ext cx="1440180" cy="1371600"/>
          </a:xfrm>
          <a:prstGeom prst="roundRect">
            <a:avLst>
              <a:gd name="adj" fmla="val 5333"/>
            </a:avLst>
          </a:prstGeom>
          <a:solidFill>
            <a:srgbClr val="E4F0E9"/>
          </a:solidFill>
          <a:ln w="12700">
            <a:solidFill>
              <a:srgbClr val="2F6B4F"/>
            </a:solidFill>
            <a:prstDash val="solid"/>
          </a:ln>
        </p:spPr>
      </p:sp>
      <p:sp>
        <p:nvSpPr>
          <p:cNvPr id="21" name="Text 19"/>
          <p:cNvSpPr/>
          <p:nvPr/>
        </p:nvSpPr>
        <p:spPr>
          <a:xfrm>
            <a:off x="9742932" y="2468880"/>
            <a:ext cx="1293876" cy="1188720"/>
          </a:xfrm>
          <a:prstGeom prst="rect">
            <a:avLst/>
          </a:prstGeom>
          <a:noFill/>
          <a:ln/>
        </p:spPr>
        <p:txBody>
          <a:bodyPr wrap="square" rtlCol="0" anchor="ctr"/>
          <a:lstStyle/>
          <a:p>
            <a:pPr algn="ctr" indent="0" marL="0">
              <a:buNone/>
            </a:pPr>
            <a:r>
              <a:rPr lang="en-US" sz="1250" b="1" dirty="0">
                <a:solidFill>
                  <a:srgbClr val="1F4D38"/>
                </a:solidFill>
                <a:latin typeface="Calibri" pitchFamily="34" charset="0"/>
                <a:ea typeface="Calibri" pitchFamily="34" charset="-122"/>
                <a:cs typeface="Calibri" pitchFamily="34" charset="-120"/>
              </a:rPr>
              <a:t>Response +</a:t>
            </a:r>
            <a:endParaRPr lang="en-US" sz="1250" dirty="0"/>
          </a:p>
          <a:p>
            <a:pPr algn="ctr" indent="0" marL="0">
              <a:buNone/>
            </a:pPr>
            <a:r>
              <a:rPr lang="en-US" sz="1250" b="1" dirty="0">
                <a:solidFill>
                  <a:srgbClr val="1F4D38"/>
                </a:solidFill>
                <a:latin typeface="Calibri" pitchFamily="34" charset="0"/>
                <a:ea typeface="Calibri" pitchFamily="34" charset="-122"/>
                <a:cs typeface="Calibri" pitchFamily="34" charset="-120"/>
              </a:rPr>
              <a:t>citations</a:t>
            </a:r>
            <a:endParaRPr lang="en-US" sz="1250" dirty="0"/>
          </a:p>
        </p:txBody>
      </p:sp>
      <p:sp>
        <p:nvSpPr>
          <p:cNvPr id="22" name="Text 20"/>
          <p:cNvSpPr/>
          <p:nvPr/>
        </p:nvSpPr>
        <p:spPr>
          <a:xfrm>
            <a:off x="868680" y="4114800"/>
            <a:ext cx="10241280" cy="1371600"/>
          </a:xfrm>
          <a:prstGeom prst="rect">
            <a:avLst/>
          </a:prstGeom>
          <a:noFill/>
          <a:ln/>
        </p:spPr>
        <p:txBody>
          <a:bodyPr wrap="square" rtlCol="0" anchor="ctr"/>
          <a:lstStyle/>
          <a:p>
            <a:pPr indent="0" marL="0">
              <a:buNone/>
            </a:pPr>
            <a:r>
              <a:rPr lang="en-US" sz="1350" dirty="0">
                <a:solidFill>
                  <a:srgbClr val="5B6660"/>
                </a:solidFill>
                <a:latin typeface="Calibri" pitchFamily="34" charset="0"/>
                <a:ea typeface="Calibri" pitchFamily="34" charset="-122"/>
                <a:cs typeface="Calibri" pitchFamily="34" charset="-120"/>
              </a:rPr>
              <a:t>In production, ingestion runs as an asynchronous batch or streaming job, decoupled from the online query path. The query path itself is usually a thin, low-latency service: retrieve, rerank, construct the prompt, call the LLM, and return the answer with citations.</a:t>
            </a:r>
            <a:endParaRPr lang="en-US" sz="1350" dirty="0"/>
          </a:p>
        </p:txBody>
      </p:sp>
      <p:sp>
        <p:nvSpPr>
          <p:cNvPr id="23" name="Text 21"/>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SERVING CONCERNS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Latency, Caching &amp; Scalability</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Where latency comes from.  </a:t>
            </a:r>
            <a:pPr indent="0" marL="0">
              <a:buNone/>
            </a:pPr>
            <a:r>
              <a:rPr lang="en-US" sz="1450" dirty="0">
                <a:solidFill>
                  <a:srgbClr val="5B6660"/>
                </a:solidFill>
                <a:latin typeface="Calibri" pitchFamily="34" charset="0"/>
                <a:ea typeface="Calibri" pitchFamily="34" charset="-122"/>
                <a:cs typeface="Calibri" pitchFamily="34" charset="-120"/>
              </a:rPr>
              <a:t>Generation of long outputs typically dominates total latency; query embedding and vector search add a comparatively small amount, but it is still user-visible.</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Caching.  </a:t>
            </a:r>
            <a:pPr indent="0" marL="0">
              <a:buNone/>
            </a:pPr>
            <a:r>
              <a:rPr lang="en-US" sz="1450" dirty="0">
                <a:solidFill>
                  <a:srgbClr val="5B6660"/>
                </a:solidFill>
                <a:latin typeface="Calibri" pitchFamily="34" charset="0"/>
                <a:ea typeface="Calibri" pitchFamily="34" charset="-122"/>
                <a:cs typeface="Calibri" pitchFamily="34" charset="-120"/>
              </a:rPr>
              <a:t>Caching embeddings for repeated or similar queries, and caching full answers for frequently asked questions, both reduce average latency and cost.</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Index rebuild cost.  </a:t>
            </a:r>
            <a:pPr indent="0" marL="0">
              <a:buNone/>
            </a:pPr>
            <a:r>
              <a:rPr lang="en-US" sz="1450" dirty="0">
                <a:solidFill>
                  <a:srgbClr val="5B6660"/>
                </a:solidFill>
                <a:latin typeface="Calibri" pitchFamily="34" charset="0"/>
                <a:ea typeface="Calibri" pitchFamily="34" charset="-122"/>
                <a:cs typeface="Calibri" pitchFamily="34" charset="-120"/>
              </a:rPr>
              <a:t>A detailed index (e.g., HNSW) gives high accuracy and fast queries but is slower and more memory-intensive to build; simpler indexes (e.g., LSH) build faster at the cost of query accuracy.</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Scaling the vector store.  </a:t>
            </a:r>
            <a:pPr indent="0" marL="0">
              <a:buNone/>
            </a:pPr>
            <a:r>
              <a:rPr lang="en-US" sz="1450" dirty="0">
                <a:solidFill>
                  <a:srgbClr val="5B6660"/>
                </a:solidFill>
                <a:latin typeface="Calibri" pitchFamily="34" charset="0"/>
                <a:ea typeface="Calibri" pitchFamily="34" charset="-122"/>
                <a:cs typeface="Calibri" pitchFamily="34" charset="-120"/>
              </a:rPr>
              <a:t>Vector storage and search spending can reach a meaningful fraction of total model API spending at scale, so index choice is a real cost decision, not only a quality one.</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KEEPING RAG HEALTHY IN PRODUCTION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Monitoring, Observability &amp; Failure Modes</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Track retrieval quality continuously.  </a:t>
            </a:r>
            <a:pPr indent="0" marL="0">
              <a:buNone/>
            </a:pPr>
            <a:r>
              <a:rPr lang="en-US" sz="1450" dirty="0">
                <a:solidFill>
                  <a:srgbClr val="5B6660"/>
                </a:solidFill>
                <a:latin typeface="Calibri" pitchFamily="34" charset="0"/>
                <a:ea typeface="Calibri" pitchFamily="34" charset="-122"/>
                <a:cs typeface="Calibri" pitchFamily="34" charset="-120"/>
              </a:rPr>
              <a:t>Sample production queries and periodically re-score context precision, not only at launch time.</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Track groundedness.  </a:t>
            </a:r>
            <a:pPr indent="0" marL="0">
              <a:buNone/>
            </a:pPr>
            <a:r>
              <a:rPr lang="en-US" sz="1450" dirty="0">
                <a:solidFill>
                  <a:srgbClr val="5B6660"/>
                </a:solidFill>
                <a:latin typeface="Calibri" pitchFamily="34" charset="0"/>
                <a:ea typeface="Calibri" pitchFamily="34" charset="-122"/>
                <a:cs typeface="Calibri" pitchFamily="34" charset="-120"/>
              </a:rPr>
              <a:t>Monitor whether generated answers still cite and match retrieved passages as the corpus and query distribution drift over time.</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Common failure modes.  </a:t>
            </a:r>
            <a:pPr indent="0" marL="0">
              <a:buNone/>
            </a:pPr>
            <a:r>
              <a:rPr lang="en-US" sz="1450" dirty="0">
                <a:solidFill>
                  <a:srgbClr val="5B6660"/>
                </a:solidFill>
                <a:latin typeface="Calibri" pitchFamily="34" charset="0"/>
                <a:ea typeface="Calibri" pitchFamily="34" charset="-122"/>
                <a:cs typeface="Calibri" pitchFamily="34" charset="-120"/>
              </a:rPr>
              <a:t>Stale or duplicated index entries, chunk boundaries that split key facts, retrieval collapse where the retriever always returns the same documents, and silently degraded embeddings after a model swap.</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Index hot-swapping as a feature.  </a:t>
            </a:r>
            <a:pPr indent="0" marL="0">
              <a:buNone/>
            </a:pPr>
            <a:r>
              <a:rPr lang="en-US" sz="1450" dirty="0">
                <a:solidFill>
                  <a:srgbClr val="5B6660"/>
                </a:solidFill>
                <a:latin typeface="Calibri" pitchFamily="34" charset="0"/>
                <a:ea typeface="Calibri" pitchFamily="34" charset="-122"/>
                <a:cs typeface="Calibri" pitchFamily="34" charset="-120"/>
              </a:rPr>
              <a:t>Because non-parametric memory can be replaced without retraining, index updates should be monitored like a deployment, with the ability to roll back.</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WHAT CAN GO WRONG</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Security Considerations</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Prompt injection via retrieved content.  </a:t>
            </a:r>
            <a:pPr indent="0" marL="0">
              <a:buNone/>
            </a:pPr>
            <a:r>
              <a:rPr lang="en-US" sz="1450" dirty="0">
                <a:solidFill>
                  <a:srgbClr val="5B6660"/>
                </a:solidFill>
                <a:latin typeface="Calibri" pitchFamily="34" charset="0"/>
                <a:ea typeface="Calibri" pitchFamily="34" charset="-122"/>
                <a:cs typeface="Calibri" pitchFamily="34" charset="-120"/>
              </a:rPr>
              <a:t>A malicious or compromised document in the index can contain instructions aimed at the model, not the user; retrieved text should be treated as untrusted data.</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Data leakage across users.  </a:t>
            </a:r>
            <a:pPr indent="0" marL="0">
              <a:buNone/>
            </a:pPr>
            <a:r>
              <a:rPr lang="en-US" sz="1450" dirty="0">
                <a:solidFill>
                  <a:srgbClr val="5B6660"/>
                </a:solidFill>
                <a:latin typeface="Calibri" pitchFamily="34" charset="0"/>
                <a:ea typeface="Calibri" pitchFamily="34" charset="-122"/>
                <a:cs typeface="Calibri" pitchFamily="34" charset="-120"/>
              </a:rPr>
              <a:t>In multi-tenant systems, retrieval must respect access control, so one user's private documents are never retrievable by another.</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Sensitive information in chunks.  </a:t>
            </a:r>
            <a:pPr indent="0" marL="0">
              <a:buNone/>
            </a:pPr>
            <a:r>
              <a:rPr lang="en-US" sz="1450" dirty="0">
                <a:solidFill>
                  <a:srgbClr val="5B6660"/>
                </a:solidFill>
                <a:latin typeface="Calibri" pitchFamily="34" charset="0"/>
                <a:ea typeface="Calibri" pitchFamily="34" charset="-122"/>
                <a:cs typeface="Calibri" pitchFamily="34" charset="-120"/>
              </a:rPr>
              <a:t>Ingestion pipelines need a policy for PII and secrets before they are ever embedded and indexed.</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Index integrity.  </a:t>
            </a:r>
            <a:pPr indent="0" marL="0">
              <a:buNone/>
            </a:pPr>
            <a:r>
              <a:rPr lang="en-US" sz="1450" dirty="0">
                <a:solidFill>
                  <a:srgbClr val="5B6660"/>
                </a:solidFill>
                <a:latin typeface="Calibri" pitchFamily="34" charset="0"/>
                <a:ea typeface="Calibri" pitchFamily="34" charset="-122"/>
                <a:cs typeface="Calibri" pitchFamily="34" charset="-120"/>
              </a:rPr>
              <a:t>Write access to the vector store should be as tightly controlled as write access to a production database.</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731520" y="2651760"/>
            <a:ext cx="9144000" cy="457200"/>
          </a:xfrm>
          <a:prstGeom prst="rect">
            <a:avLst/>
          </a:prstGeom>
          <a:noFill/>
          <a:ln/>
        </p:spPr>
        <p:txBody>
          <a:bodyPr wrap="square" rtlCol="0" anchor="ctr"/>
          <a:lstStyle/>
          <a:p>
            <a:pPr indent="0" marL="0">
              <a:buNone/>
            </a:pPr>
            <a:r>
              <a:rPr lang="en-US" sz="1500" spc="300" kern="0" dirty="0">
                <a:solidFill>
                  <a:srgbClr val="7FBF9E"/>
                </a:solidFill>
                <a:latin typeface="Courier New" pitchFamily="34" charset="0"/>
                <a:ea typeface="Courier New" pitchFamily="34" charset="-122"/>
                <a:cs typeface="Courier New" pitchFamily="34" charset="-120"/>
              </a:rPr>
              <a:t>PART 5</a:t>
            </a:r>
            <a:endParaRPr lang="en-US" sz="1500" dirty="0"/>
          </a:p>
        </p:txBody>
      </p:sp>
      <p:sp>
        <p:nvSpPr>
          <p:cNvPr id="3" name="Text 1"/>
          <p:cNvSpPr/>
          <p:nvPr/>
        </p:nvSpPr>
        <p:spPr>
          <a:xfrm>
            <a:off x="731520" y="3108960"/>
            <a:ext cx="10515600" cy="1280160"/>
          </a:xfrm>
          <a:prstGeom prst="rect">
            <a:avLst/>
          </a:prstGeom>
          <a:noFill/>
          <a:ln/>
        </p:spPr>
        <p:txBody>
          <a:bodyPr wrap="square" rtlCol="0" anchor="ctr"/>
          <a:lstStyle/>
          <a:p>
            <a:pPr indent="0" marL="0">
              <a:buNone/>
            </a:pPr>
            <a:r>
              <a:rPr lang="en-US" sz="3800" b="1" dirty="0">
                <a:solidFill>
                  <a:srgbClr val="F5F2E7"/>
                </a:solidFill>
                <a:latin typeface="Cambria" pitchFamily="34" charset="0"/>
                <a:ea typeface="Cambria" pitchFamily="34" charset="-122"/>
                <a:cs typeface="Cambria" pitchFamily="34" charset="-120"/>
              </a:rPr>
              <a:t>Delivery Roadmap</a:t>
            </a:r>
            <a:endParaRPr lang="en-US" sz="3800" dirty="0"/>
          </a:p>
        </p:txBody>
      </p:sp>
      <p:sp>
        <p:nvSpPr>
          <p:cNvPr id="4" name="Text 2"/>
          <p:cNvSpPr/>
          <p:nvPr/>
        </p:nvSpPr>
        <p:spPr>
          <a:xfrm>
            <a:off x="731520" y="4251960"/>
            <a:ext cx="9144000" cy="731520"/>
          </a:xfrm>
          <a:prstGeom prst="rect">
            <a:avLst/>
          </a:prstGeom>
          <a:noFill/>
          <a:ln/>
        </p:spPr>
        <p:txBody>
          <a:bodyPr wrap="square" rtlCol="0" anchor="ctr"/>
          <a:lstStyle/>
          <a:p>
            <a:pPr indent="0" marL="0">
              <a:buNone/>
            </a:pPr>
            <a:r>
              <a:rPr lang="en-US" sz="1500" dirty="0">
                <a:solidFill>
                  <a:srgbClr val="AEB8AC"/>
                </a:solidFill>
                <a:latin typeface="Calibri" pitchFamily="34" charset="0"/>
                <a:ea typeface="Calibri" pitchFamily="34" charset="-122"/>
                <a:cs typeface="Calibri" pitchFamily="34" charset="-120"/>
              </a:rPr>
              <a:t>Shipping a production-grade RAG system, the agile way, for organizations like Orange, Thales, or Airbus.</a:t>
            </a:r>
            <a:endParaRPr lang="en-US" sz="1500" dirty="0"/>
          </a:p>
        </p:txBody>
      </p:sp>
      <p:sp>
        <p:nvSpPr>
          <p:cNvPr id="5"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6E8478"/>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METHODOLOGY</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Delivery Approach &amp; Team</a:t>
            </a:r>
            <a:endParaRPr lang="en-US" sz="2700" dirty="0"/>
          </a:p>
        </p:txBody>
      </p:sp>
      <p:sp>
        <p:nvSpPr>
          <p:cNvPr id="5" name="Text 3"/>
          <p:cNvSpPr/>
          <p:nvPr/>
        </p:nvSpPr>
        <p:spPr>
          <a:xfrm>
            <a:off x="868680" y="1417320"/>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Framework: Scrum, 2-week sprints.  </a:t>
            </a:r>
            <a:pPr indent="0" marL="0">
              <a:buNone/>
            </a:pPr>
            <a:r>
              <a:rPr lang="en-US" sz="1450" dirty="0">
                <a:solidFill>
                  <a:srgbClr val="5B6660"/>
                </a:solidFill>
                <a:latin typeface="Calibri" pitchFamily="34" charset="0"/>
                <a:ea typeface="Calibri" pitchFamily="34" charset="-122"/>
                <a:cs typeface="Calibri" pitchFamily="34" charset="-120"/>
              </a:rPr>
              <a:t>A walking-skeleton MVP ships in Sprint 1; every following sprint hardens one dimension of the system (ingestion, retrieval, generation, evaluation, security, observability).</a:t>
            </a:r>
            <a:endParaRPr lang="en-US" sz="1550" dirty="0"/>
          </a:p>
        </p:txBody>
      </p:sp>
      <p:sp>
        <p:nvSpPr>
          <p:cNvPr id="6" name="Text 4"/>
          <p:cNvSpPr/>
          <p:nvPr/>
        </p:nvSpPr>
        <p:spPr>
          <a:xfrm>
            <a:off x="868680" y="2322576"/>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Core team.  </a:t>
            </a:r>
            <a:pPr indent="0" marL="0">
              <a:buNone/>
            </a:pPr>
            <a:r>
              <a:rPr lang="en-US" sz="1450" dirty="0">
                <a:solidFill>
                  <a:srgbClr val="5B6660"/>
                </a:solidFill>
                <a:latin typeface="Calibri" pitchFamily="34" charset="0"/>
                <a:ea typeface="Calibri" pitchFamily="34" charset="-122"/>
                <a:cs typeface="Calibri" pitchFamily="34" charset="-120"/>
              </a:rPr>
              <a:t>1 Tech Lead, 1 Product Owner, 2–3 ML/data engineers, 1 backend engineer, 1 frontend engineer, 1 DevOps/MLOps engineer.</a:t>
            </a:r>
            <a:endParaRPr lang="en-US" sz="1550" dirty="0"/>
          </a:p>
        </p:txBody>
      </p:sp>
      <p:sp>
        <p:nvSpPr>
          <p:cNvPr id="7" name="Text 5"/>
          <p:cNvSpPr/>
          <p:nvPr/>
        </p:nvSpPr>
        <p:spPr>
          <a:xfrm>
            <a:off x="868680" y="3227832"/>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Part-time contributors.  </a:t>
            </a:r>
            <a:pPr indent="0" marL="0">
              <a:buNone/>
            </a:pPr>
            <a:r>
              <a:rPr lang="en-US" sz="1450" dirty="0">
                <a:solidFill>
                  <a:srgbClr val="5B6660"/>
                </a:solidFill>
                <a:latin typeface="Calibri" pitchFamily="34" charset="0"/>
                <a:ea typeface="Calibri" pitchFamily="34" charset="-122"/>
                <a:cs typeface="Calibri" pitchFamily="34" charset="-120"/>
              </a:rPr>
              <a:t>1 security/compliance referent, 1 data governance/legal reviewer, 1 business SME per domain for evaluation and sign-off.</a:t>
            </a:r>
            <a:endParaRPr lang="en-US" sz="1550" dirty="0"/>
          </a:p>
        </p:txBody>
      </p:sp>
      <p:sp>
        <p:nvSpPr>
          <p:cNvPr id="8" name="Text 6"/>
          <p:cNvSpPr/>
          <p:nvPr/>
        </p:nvSpPr>
        <p:spPr>
          <a:xfrm>
            <a:off x="868680" y="4133088"/>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Ceremonies.  </a:t>
            </a:r>
            <a:pPr indent="0" marL="0">
              <a:buNone/>
            </a:pPr>
            <a:r>
              <a:rPr lang="en-US" sz="1450" dirty="0">
                <a:solidFill>
                  <a:srgbClr val="5B6660"/>
                </a:solidFill>
                <a:latin typeface="Calibri" pitchFamily="34" charset="0"/>
                <a:ea typeface="Calibri" pitchFamily="34" charset="-122"/>
                <a:cs typeface="Calibri" pitchFamily="34" charset="-120"/>
              </a:rPr>
              <a:t>Daily standup, sprint planning, sprint review with a live demo, retrospective; backlog refinement mid-sprint.</a:t>
            </a:r>
            <a:endParaRPr lang="en-US" sz="1550" dirty="0"/>
          </a:p>
        </p:txBody>
      </p:sp>
      <p:sp>
        <p:nvSpPr>
          <p:cNvPr id="9" name="Text 7"/>
          <p:cNvSpPr/>
          <p:nvPr/>
        </p:nvSpPr>
        <p:spPr>
          <a:xfrm>
            <a:off x="868680" y="5038344"/>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Definition of Ready.  </a:t>
            </a:r>
            <a:pPr indent="0" marL="0">
              <a:buNone/>
            </a:pPr>
            <a:r>
              <a:rPr lang="en-US" sz="1450" dirty="0">
                <a:solidFill>
                  <a:srgbClr val="5B6660"/>
                </a:solidFill>
                <a:latin typeface="Calibri" pitchFamily="34" charset="0"/>
                <a:ea typeface="Calibri" pitchFamily="34" charset="-122"/>
                <a:cs typeface="Calibri" pitchFamily="34" charset="-120"/>
              </a:rPr>
              <a:t>A ticket enters a sprint only once its acceptance criteria, data source, and access rights are confirmed — ambiguous data-access tickets are the single biggest source of delay in this kind of project.</a:t>
            </a:r>
            <a:endParaRPr lang="en-US" sz="1550" dirty="0"/>
          </a:p>
        </p:txBody>
      </p:sp>
      <p:sp>
        <p:nvSpPr>
          <p:cNvPr id="10" name="Shape 8"/>
          <p:cNvSpPr/>
          <p:nvPr/>
        </p:nvSpPr>
        <p:spPr>
          <a:xfrm>
            <a:off x="868680" y="5989320"/>
            <a:ext cx="10241280" cy="502920"/>
          </a:xfrm>
          <a:prstGeom prst="roundRect">
            <a:avLst>
              <a:gd name="adj" fmla="val 10909"/>
            </a:avLst>
          </a:prstGeom>
          <a:solidFill>
            <a:srgbClr val="E4F0E9"/>
          </a:solidFill>
          <a:ln/>
        </p:spPr>
      </p:sp>
      <p:sp>
        <p:nvSpPr>
          <p:cNvPr id="11" name="Text 9"/>
          <p:cNvSpPr/>
          <p:nvPr/>
        </p:nvSpPr>
        <p:spPr>
          <a:xfrm>
            <a:off x="1051560" y="5989320"/>
            <a:ext cx="9875520" cy="502920"/>
          </a:xfrm>
          <a:prstGeom prst="rect">
            <a:avLst/>
          </a:prstGeom>
          <a:noFill/>
          <a:ln/>
        </p:spPr>
        <p:txBody>
          <a:bodyPr wrap="square" rtlCol="0" anchor="ctr"/>
          <a:lstStyle/>
          <a:p>
            <a:pPr indent="0" marL="0">
              <a:buNone/>
            </a:pPr>
            <a:r>
              <a:rPr lang="en-US" sz="1250" i="1" dirty="0">
                <a:solidFill>
                  <a:srgbClr val="1F4D38"/>
                </a:solidFill>
                <a:latin typeface="Calibri" pitchFamily="34" charset="0"/>
                <a:ea typeface="Calibri" pitchFamily="34" charset="-122"/>
                <a:cs typeface="Calibri" pitchFamily="34" charset="-120"/>
              </a:rPr>
              <a:t>Principle: prove the full loop end to end before optimizing any single component — a mediocre answer produced by the whole pipeline beats a perfect retriever with nothing to call it.</a:t>
            </a:r>
            <a:endParaRPr lang="en-US" sz="1250" dirty="0"/>
          </a:p>
        </p:txBody>
      </p:sp>
      <p:sp>
        <p:nvSpPr>
          <p:cNvPr id="12" name="Text 10"/>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PRODUCT BACKLOG STRUCTURE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The Backlog, Organized in Epics</a:t>
            </a:r>
            <a:endParaRPr lang="en-US" sz="27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4937760"/>
                <a:gridCol w="5943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Epic</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Focus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 — Platform Foundations &amp; Security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Kubernetes, CI/CD, secrets, SSO, network isolation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 — Data Ingestion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Connectors, parsing, OCR, chunking, metadata, ACL tagging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 — Embedding &amp; Indexing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Self-hosted embeddings, FAISS, keyword index, ACL-aware filtering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 — Retrieval Service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Hybrid search, reranking, multi-query, caching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 — Generation &amp; Orchestration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Self-hosted LLM, prompts, guardrails, citations, memory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 — API &amp; Frontend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Orchestration API, chat UI, source viewer, feedback capture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 — Evaluation &amp; QA</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Gold set, retrieval/generation metrics, CI quality gate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 — MLOps &amp; Observability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Logging, dashboards, tracing, alerting, model registry, FinOps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 — Security, Compliance &amp; Adoption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Classification, audit trail, pentest, governance, rollout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TICKETS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Backlog — Epic A: Platform Foundations &amp; Security</a:t>
            </a:r>
            <a:endParaRPr lang="en-US" sz="27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097280"/>
                <a:gridCol w="8412480"/>
                <a:gridCol w="1371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Ticket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A1</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Set up Git repo, branching model, CI pipeline (lint / test / build)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Provision Kubernetes clusters — dev / staging / prod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Infrastructure as Code (Terraform + Helm charts)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Secrets management (HashiCorp Vault)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SSO / IAM integration (Keycloak, SAML/OIDC)</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A6</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Network isolation — no outbound calls to public AI APIs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A7</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Private, scanned container registry &amp; hardened base images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TICKETS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Backlog — Epic B: Data Ingestion</a:t>
            </a:r>
            <a:endParaRPr lang="en-US" sz="27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097280"/>
                <a:gridCol w="8412480"/>
                <a:gridCol w="1371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Ticket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B1</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Inventory &amp; connect document sources (GED, SharePoint, file shares)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PDF / Office parsing pipeline (PyMuPDF, unstructured)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OCR pipeline for scanned documents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Text cleaning &amp; normalization module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Configurable chunking service (recursive, overlap)</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B6</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Metadata extraction (source, date, author, classification)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B7</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Per-document ACL / classification tagging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Ingestion orchestration (Airflow DAGs)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B9</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Incremental sync / change detection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TICKETS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Backlog — Epic C: Embedding &amp; Indexing</a:t>
            </a:r>
            <a:endParaRPr lang="en-US" sz="27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097280"/>
                <a:gridCol w="8412480"/>
                <a:gridCol w="1371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Ticket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Deploy self-hosted embedding model (BGE-M3) endpoint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Batch-embed the initial corpus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Build &amp; persist the FAISS index</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Index versioning &amp; rollback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Deploy keyword index (OpenSearch) alongside FAISS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C6</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Access-control-aware filtering at index level</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TICKETS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Backlog — Epic D: Retrieval Service</a:t>
            </a:r>
            <a:endParaRPr lang="en-US" sz="27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097280"/>
                <a:gridCol w="8412480"/>
                <a:gridCol w="1371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Ticket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Retrieval microservice (FastAPI) wrapping FAISS + OpenSearch</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Hybrid search + reciprocal rank fusion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Cross-encoder reranker service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Multi-query reformulation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Retrieval result caching (Redis)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TICKETS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Backlog — Epic E: Generation &amp; Orchestration</a:t>
            </a:r>
            <a:endParaRPr lang="en-US" sz="27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097280"/>
                <a:gridCol w="8412480"/>
                <a:gridCol w="1371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Ticket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E1</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Deploy self-hosted LLM via vLLM (Llama 3 / Mistral)</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Prompt template management &amp; versioning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Guardrails — PII redaction, injection filtering, output moderation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Citation formatting &amp; source linking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Session / conversation memory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TICKETS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Backlog — Epic F: API &amp; Frontend</a:t>
            </a:r>
            <a:endParaRPr lang="en-US" sz="27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097280"/>
                <a:gridCol w="8412480"/>
                <a:gridCol w="1371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Ticket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Orchestration API (FastAPI) — glue retrieval + generation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Chat UI — Streamlit MVP, then React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Source viewer (excerpt, page, PDF preview)</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User feedback capture (thumbs up / down)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TICKETS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Backlog — Epic G: Evaluation &amp; QA</a:t>
            </a:r>
            <a:endParaRPr lang="en-US" sz="27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097280"/>
                <a:gridCol w="8412480"/>
                <a:gridCol w="1371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Ticket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G1</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Curate a gold Q&amp;A evaluation set per business domain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Automated retrieval evaluation (precision / recall, RAGAS)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Automated generation evaluation (faithfulness, LLM-as-judge)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Regression test gate in CI — blocks deploy on quality drop</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Human-in-the-loop review workflow for flagged answers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TICKETS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Backlog — Epic H: MLOps &amp; Observability</a:t>
            </a:r>
            <a:endParaRPr lang="en-US" sz="27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097280"/>
                <a:gridCol w="8412480"/>
                <a:gridCol w="1371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Ticket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H1</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Centralized logging (Loki / ELK) across all stages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Metrics &amp; dashboards (Prometheus / Grafana)</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Distributed tracing (OpenTelemetry)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Alerting on latency / error / quality thresholds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Model &amp; index registry (MLflow)</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H6</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Cost / FinOps dashboard (GPU hours, tokens)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67</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TICKETS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Backlog — Epic I: Security, Compliance &amp; Adoption</a:t>
            </a:r>
            <a:endParaRPr lang="en-US" sz="27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097280"/>
                <a:gridCol w="8412480"/>
                <a:gridCol w="137160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ID</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Ticket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Pts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I1</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Data classification policy &amp; enforcement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Full audit trail (query, retrieved docs, answer)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Security review / penetration test before go-live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GDPR &amp; data retention policy implementation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AI governance board review &amp; model card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I6</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Sovereign hosting validation (on-prem / SecNumCloud)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I7</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Technical documentation &amp; runbooks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I8</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User training &amp; onboarding materials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I9</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Phased rollout / change management plan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 17 WEEKS TO PRODUCTION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Sprint Roadmap</a:t>
            </a:r>
            <a:endParaRPr lang="en-US" sz="27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554480"/>
                <a:gridCol w="3931920"/>
                <a:gridCol w="539496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Sprint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Goal</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Key tickets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0 (1 wk)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Bootstrap the platform</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A1, A2, A3, A4, A7</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 (2 wk)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Walking skeleton — one query, end to end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B2, B4, B5, C1, C3, D1, E1, F1, F2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2 (2 wk)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Real ingestion at scale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B1, B3, B6, B8, B9</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3 (2 wk)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Retrieval quality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C5, C6, D2, D3, D4, D5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4 (2 wk)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Generation hardening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E2, E3, E4, E5, F3, F4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 (2 wk)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Evaluation &amp; quality gates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G1, G2, G3, G4, G5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6 (2 wk)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Access control &amp; compliance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B7, A5, A6, I1, I2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7 (2 wk)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Observability &amp; MLOps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H1, H2, H3, H4, H5, H6</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 (2 wk)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Production go-live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I3, I4, I5, I6, I7, I8, I9</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09360"/>
            <a:ext cx="10881360" cy="365760"/>
          </a:xfrm>
          <a:prstGeom prst="rect">
            <a:avLst/>
          </a:prstGeom>
          <a:noFill/>
          <a:ln/>
        </p:spPr>
        <p:txBody>
          <a:bodyPr wrap="square" rtlCol="0" anchor="ctr"/>
          <a:lstStyle/>
          <a:p>
            <a:pPr indent="0" marL="0">
              <a:buNone/>
            </a:pPr>
            <a:r>
              <a:rPr lang="en-US" sz="1150" i="1" dirty="0">
                <a:solidFill>
                  <a:srgbClr val="5B6660"/>
                </a:solidFill>
                <a:latin typeface="Calibri" pitchFamily="34" charset="0"/>
                <a:ea typeface="Calibri" pitchFamily="34" charset="-122"/>
                <a:cs typeface="Calibri" pitchFamily="34" charset="-120"/>
              </a:rPr>
              <a:t>Sprints 4–8 run security, evaluation, and observability work in parallel with feature sprints — not sequentially at the end — to avoid last-minute go-live delays.</a:t>
            </a:r>
            <a:endParaRPr lang="en-US" sz="1150" dirty="0"/>
          </a:p>
        </p:txBody>
      </p:sp>
      <p:sp>
        <p:nvSpPr>
          <p:cNvPr id="7" name="Text 4"/>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TECHNOLOGY CHOICES &amp; JUSTIFICATION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Tech Stack — Data &amp; AI Layer</a:t>
            </a:r>
            <a:endParaRPr lang="en-US" sz="27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103120"/>
                <a:gridCol w="3017520"/>
                <a:gridCol w="576072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Technology</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Parsing / OCR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PyMuPDF, unstructured.io, Tesseract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Open-source and self-hostable — no document ever leaves the internal perimeter.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ETL orchestration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Apache Airflow</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Mature scheduling, retries, and monitoring; already familiar to most enterprise data teams.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Embedding model</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BGE-M3 (self-hosted)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Open weights (MIT), strong multilingual retrieval, dense + sparse + multi-vector in one model.</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Embedding serving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Text Embeddings Inference (TEI)</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Production-grade throughput for open embedding models without building a custom server.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Vector index</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FAISS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Full control, proven at billion-vector scale, runs entirely on infrastructure you own.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Keyword index</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OpenSearch</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Enterprise-proven, native hybrid search, often already deployed internally.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Reranker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BGE-Reranker (self-hosted)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Meaningful precision gain over single-stage retrieval, no data sent externally.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LLM serving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vLLM (Llama 3 / Mistral / Qwen)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High-throughput self-hosted inference — sensitive prompts never leave the network.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Orchestration code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Thin custom Python layer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Full auditability of every call; simplifies security review versus a black-box framework.</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70</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LANGCHAIN / LLAMAINDEX / LANGGRAPH</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Do You Actually Need Them?</a:t>
            </a:r>
            <a:endParaRPr lang="en-US" sz="2700" dirty="0"/>
          </a:p>
        </p:txBody>
      </p:sp>
      <p:sp>
        <p:nvSpPr>
          <p:cNvPr id="5" name="Text 3"/>
          <p:cNvSpPr/>
          <p:nvPr/>
        </p:nvSpPr>
        <p:spPr>
          <a:xfrm>
            <a:off x="868680" y="1554480"/>
            <a:ext cx="10241280" cy="1188720"/>
          </a:xfrm>
          <a:prstGeom prst="rect">
            <a:avLst/>
          </a:prstGeom>
          <a:noFill/>
          <a:ln/>
        </p:spPr>
        <p:txBody>
          <a:bodyPr wrap="square" rtlCol="0" anchor="ctr"/>
          <a:lstStyle/>
          <a:p>
            <a:pPr algn="l" indent="0" marL="0">
              <a:buNone/>
            </a:pPr>
            <a:r>
              <a:rPr lang="en-US" sz="2600" b="1" dirty="0">
                <a:solidFill>
                  <a:srgbClr val="2F6B4F"/>
                </a:solidFill>
                <a:latin typeface="Cambria" pitchFamily="34" charset="0"/>
                <a:ea typeface="Cambria" pitchFamily="34" charset="-122"/>
                <a:cs typeface="Cambria" pitchFamily="34" charset="-120"/>
              </a:rPr>
              <a:t>No. This entire pipeline runs on plain Python: PyMuPDF, custom chunking, BGE-M3, FAISS, an f-string prompt, and a direct call to vLLM.</a:t>
            </a:r>
            <a:endParaRPr lang="en-US" sz="2600" dirty="0"/>
          </a:p>
        </p:txBody>
      </p:sp>
      <p:sp>
        <p:nvSpPr>
          <p:cNvPr id="6" name="Text 4"/>
          <p:cNvSpPr/>
          <p:nvPr/>
        </p:nvSpPr>
        <p:spPr>
          <a:xfrm>
            <a:off x="868680" y="2697480"/>
            <a:ext cx="10241280" cy="548640"/>
          </a:xfrm>
          <a:prstGeom prst="rect">
            <a:avLst/>
          </a:prstGeom>
          <a:noFill/>
          <a:ln/>
        </p:spPr>
        <p:txBody>
          <a:bodyPr wrap="square" rtlCol="0" anchor="ctr"/>
          <a:lstStyle/>
          <a:p>
            <a:pPr indent="0" marL="0">
              <a:buNone/>
            </a:pPr>
            <a:r>
              <a:rPr lang="en-US" sz="1350" i="1" dirty="0">
                <a:solidFill>
                  <a:srgbClr val="5B6660"/>
                </a:solidFill>
                <a:latin typeface="Calibri" pitchFamily="34" charset="0"/>
                <a:ea typeface="Calibri" pitchFamily="34" charset="-122"/>
                <a:cs typeface="Calibri" pitchFamily="34" charset="-120"/>
              </a:rPr>
              <a:t>None of the three frameworks are a dependency of the architecture in this course — they are optional accelerators, not requirements. Treat each one as a build-vs-buy decision, not a default.</a:t>
            </a:r>
            <a:endParaRPr lang="en-US" sz="1350" dirty="0"/>
          </a:p>
        </p:txBody>
      </p:sp>
      <p:sp>
        <p:nvSpPr>
          <p:cNvPr id="7" name="Text 5"/>
          <p:cNvSpPr/>
          <p:nvPr/>
        </p:nvSpPr>
        <p:spPr>
          <a:xfrm>
            <a:off x="868680" y="3429000"/>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LlamaIndex saves time  </a:t>
            </a:r>
            <a:pPr indent="0" marL="0">
              <a:buNone/>
            </a:pPr>
            <a:r>
              <a:rPr lang="en-US" sz="1350" dirty="0">
                <a:solidFill>
                  <a:srgbClr val="5B6660"/>
                </a:solidFill>
                <a:latin typeface="Calibri" pitchFamily="34" charset="0"/>
                <a:ea typeface="Calibri" pitchFamily="34" charset="-122"/>
                <a:cs typeface="Calibri" pitchFamily="34" charset="-120"/>
              </a:rPr>
              <a:t>only if you have many heterogeneous sources; with 3–4 sources (GED, SharePoint, file shares), writing the parsers yourself is a day of work, not a project.</a:t>
            </a:r>
            <a:endParaRPr lang="en-US" sz="1400" dirty="0"/>
          </a:p>
        </p:txBody>
      </p:sp>
      <p:sp>
        <p:nvSpPr>
          <p:cNvPr id="8" name="Text 6"/>
          <p:cNvSpPr/>
          <p:nvPr/>
        </p:nvSpPr>
        <p:spPr>
          <a:xfrm>
            <a:off x="868680" y="3995928"/>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LangChain saves time  </a:t>
            </a:r>
            <a:pPr indent="0" marL="0">
              <a:buNone/>
            </a:pPr>
            <a:r>
              <a:rPr lang="en-US" sz="1350" dirty="0">
                <a:solidFill>
                  <a:srgbClr val="5B6660"/>
                </a:solidFill>
                <a:latin typeface="Calibri" pitchFamily="34" charset="0"/>
                <a:ea typeface="Calibri" pitchFamily="34" charset="-122"/>
                <a:cs typeface="Calibri" pitchFamily="34" charset="-120"/>
              </a:rPr>
              <a:t>only for wiring a quick prototype; on the critical path, a plain function call does the same job with nothing to audit.</a:t>
            </a:r>
            <a:endParaRPr lang="en-US" sz="1400" dirty="0"/>
          </a:p>
        </p:txBody>
      </p:sp>
      <p:sp>
        <p:nvSpPr>
          <p:cNvPr id="9" name="Text 7"/>
          <p:cNvSpPr/>
          <p:nvPr/>
        </p:nvSpPr>
        <p:spPr>
          <a:xfrm>
            <a:off x="868680" y="4562856"/>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LangGraph is the one exception:  </a:t>
            </a:r>
            <a:pPr indent="0" marL="0">
              <a:buNone/>
            </a:pPr>
            <a:r>
              <a:rPr lang="en-US" sz="1350" dirty="0">
                <a:solidFill>
                  <a:srgbClr val="5B6660"/>
                </a:solidFill>
                <a:latin typeface="Calibri" pitchFamily="34" charset="0"/>
                <a:ea typeface="Calibri" pitchFamily="34" charset="-122"/>
                <a:cs typeface="Calibri" pitchFamily="34" charset="-120"/>
              </a:rPr>
              <a:t>rebuilding a robust state machine with retries, state persistence, and human-in-the-loop for Corrective/Adaptive RAG is real engineering effort — here the framework can genuinely save weeks.</a:t>
            </a:r>
            <a:endParaRPr lang="en-US" sz="1400" dirty="0"/>
          </a:p>
        </p:txBody>
      </p:sp>
      <p:sp>
        <p:nvSpPr>
          <p:cNvPr id="10" name="Text 8"/>
          <p:cNvSpPr/>
          <p:nvPr/>
        </p:nvSpPr>
        <p:spPr>
          <a:xfrm>
            <a:off x="868680" y="5129784"/>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Why regulated environments often skip them anyway:  </a:t>
            </a:r>
            <a:pPr indent="0" marL="0">
              <a:buNone/>
            </a:pPr>
            <a:r>
              <a:rPr lang="en-US" sz="1350" dirty="0">
                <a:solidFill>
                  <a:srgbClr val="5B6660"/>
                </a:solidFill>
                <a:latin typeface="Calibri" pitchFamily="34" charset="0"/>
                <a:ea typeface="Calibri" pitchFamily="34" charset="-122"/>
                <a:cs typeface="Calibri" pitchFamily="34" charset="-120"/>
              </a:rPr>
              <a:t>a large, fast-moving dependency tree means more CVEs to track and a harder SBOM to get signed off; a security reviewer can read 200 lines of custom code far more easily than a callback-based abstraction.</a:t>
            </a:r>
            <a:endParaRPr lang="en-US" sz="140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TECHNOLOGY CHOICES &amp; JUSTIFICATION</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Tech Stack — Platform &amp; Enterprise Layer</a:t>
            </a:r>
            <a:endParaRPr lang="en-US" sz="27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103120"/>
                <a:gridCol w="3017520"/>
                <a:gridCol w="576072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Technology</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Hosting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On-premise, or SecNumCloud-qualified sovereign cloud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Meets ANSSI / French data-sovereignty rules for sensitive or export-controlled data.</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Container orchestration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Kubernetes (often OpenShift)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Standard in large enterprise IT; strict namespace isolation and RBAC.</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CI/CD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GitLab CI, self-hosted runners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Already the default in most large French enterprises; artifacts stay in-perimeter.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Secrets management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HashiCorp Vault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Centralized, auditable secret storage integrated with enterprise IAM.</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Auth / SSO</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Keycloak (SAML / OIDC)</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Integrates with the existing corporate identity provider for per-user access control.</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Observability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Prometheus, Grafana, Loki, OpenTelemetry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Open-source, self-hosted, already familiar to most enterprise SRE teams.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Model / index registry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MLflow</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Tracks which model and index version produced which answer — essential for audit.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API gateway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Kong or internal enterprise gateway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Central rate limiting, authentication, and usage monitoring across business units.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Frontend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Streamlit (MVP) → React (production)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Fast to prototype, then aligned with the company's existing UX standards.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72</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THE NON-NEGOTIABLE CONSTRAINT</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Why Everything Is Self-Hosted</a:t>
            </a:r>
            <a:endParaRPr lang="en-US" sz="2700" dirty="0"/>
          </a:p>
        </p:txBody>
      </p:sp>
      <p:sp>
        <p:nvSpPr>
          <p:cNvPr id="5" name="Text 3"/>
          <p:cNvSpPr/>
          <p:nvPr/>
        </p:nvSpPr>
        <p:spPr>
          <a:xfrm>
            <a:off x="868680" y="1554480"/>
            <a:ext cx="10241280" cy="1188720"/>
          </a:xfrm>
          <a:prstGeom prst="rect">
            <a:avLst/>
          </a:prstGeom>
          <a:noFill/>
          <a:ln/>
        </p:spPr>
        <p:txBody>
          <a:bodyPr wrap="square" rtlCol="0" anchor="ctr"/>
          <a:lstStyle/>
          <a:p>
            <a:pPr algn="l" indent="0" marL="0">
              <a:buNone/>
            </a:pPr>
            <a:r>
              <a:rPr lang="en-US" sz="2600" b="1" dirty="0">
                <a:solidFill>
                  <a:srgbClr val="2F6B4F"/>
                </a:solidFill>
                <a:latin typeface="Cambria" pitchFamily="34" charset="0"/>
                <a:ea typeface="Cambria" pitchFamily="34" charset="-122"/>
                <a:cs typeface="Cambria" pitchFamily="34" charset="-120"/>
              </a:rPr>
              <a:t>Every model, every index, every document stays inside the company's own infrastructure.</a:t>
            </a:r>
            <a:endParaRPr lang="en-US" sz="2600" dirty="0"/>
          </a:p>
        </p:txBody>
      </p:sp>
      <p:sp>
        <p:nvSpPr>
          <p:cNvPr id="6" name="Text 4"/>
          <p:cNvSpPr/>
          <p:nvPr/>
        </p:nvSpPr>
        <p:spPr>
          <a:xfrm>
            <a:off x="868680" y="2697480"/>
            <a:ext cx="10241280" cy="548640"/>
          </a:xfrm>
          <a:prstGeom prst="rect">
            <a:avLst/>
          </a:prstGeom>
          <a:noFill/>
          <a:ln/>
        </p:spPr>
        <p:txBody>
          <a:bodyPr wrap="square" rtlCol="0" anchor="ctr"/>
          <a:lstStyle/>
          <a:p>
            <a:pPr indent="0" marL="0">
              <a:buNone/>
            </a:pPr>
            <a:r>
              <a:rPr lang="en-US" sz="1350" i="1" dirty="0">
                <a:solidFill>
                  <a:srgbClr val="5B6660"/>
                </a:solidFill>
                <a:latin typeface="Calibri" pitchFamily="34" charset="0"/>
                <a:ea typeface="Calibri" pitchFamily="34" charset="-122"/>
                <a:cs typeface="Calibri" pitchFamily="34" charset="-120"/>
              </a:rPr>
              <a:t>For organizations handling defense, aerospace, or telecom-infrastructure data, sending prompts or documents to an external SaaS LLM API is rarely a choice — it is a line the contract and the regulator do not allow crossing.</a:t>
            </a:r>
            <a:endParaRPr lang="en-US" sz="1350" dirty="0"/>
          </a:p>
        </p:txBody>
      </p:sp>
      <p:sp>
        <p:nvSpPr>
          <p:cNvPr id="7" name="Text 5"/>
          <p:cNvSpPr/>
          <p:nvPr/>
        </p:nvSpPr>
        <p:spPr>
          <a:xfrm>
            <a:off x="868680" y="3429000"/>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Regulatory driver:  </a:t>
            </a:r>
            <a:pPr indent="0" marL="0">
              <a:buNone/>
            </a:pPr>
            <a:r>
              <a:rPr lang="en-US" sz="1350" dirty="0">
                <a:solidFill>
                  <a:srgbClr val="5B6660"/>
                </a:solidFill>
                <a:latin typeface="Calibri" pitchFamily="34" charset="0"/>
                <a:ea typeface="Calibri" pitchFamily="34" charset="-122"/>
                <a:cs typeface="Calibri" pitchFamily="34" charset="-120"/>
              </a:rPr>
              <a:t>ANSSI recommendations and SecNumCloud qualification push sensitive workloads toward sovereign or on-premise hosting.</a:t>
            </a:r>
            <a:endParaRPr lang="en-US" sz="1400" dirty="0"/>
          </a:p>
        </p:txBody>
      </p:sp>
      <p:sp>
        <p:nvSpPr>
          <p:cNvPr id="8" name="Text 6"/>
          <p:cNvSpPr/>
          <p:nvPr/>
        </p:nvSpPr>
        <p:spPr>
          <a:xfrm>
            <a:off x="868680" y="3995928"/>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Contractual driver:  </a:t>
            </a:r>
            <a:pPr indent="0" marL="0">
              <a:buNone/>
            </a:pPr>
            <a:r>
              <a:rPr lang="en-US" sz="1350" dirty="0">
                <a:solidFill>
                  <a:srgbClr val="5B6660"/>
                </a:solidFill>
                <a:latin typeface="Calibri" pitchFamily="34" charset="0"/>
                <a:ea typeface="Calibri" pitchFamily="34" charset="-122"/>
                <a:cs typeface="Calibri" pitchFamily="34" charset="-120"/>
              </a:rPr>
              <a:t>defense and export-controlled programs can prohibit any transfer of technical data outside approved, audited environments.</a:t>
            </a:r>
            <a:endParaRPr lang="en-US" sz="1400" dirty="0"/>
          </a:p>
        </p:txBody>
      </p:sp>
      <p:sp>
        <p:nvSpPr>
          <p:cNvPr id="9" name="Text 7"/>
          <p:cNvSpPr/>
          <p:nvPr/>
        </p:nvSpPr>
        <p:spPr>
          <a:xfrm>
            <a:off x="868680" y="4562856"/>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Practical consequence:  </a:t>
            </a:r>
            <a:pPr indent="0" marL="0">
              <a:buNone/>
            </a:pPr>
            <a:r>
              <a:rPr lang="en-US" sz="1350" dirty="0">
                <a:solidFill>
                  <a:srgbClr val="5B6660"/>
                </a:solidFill>
                <a:latin typeface="Calibri" pitchFamily="34" charset="0"/>
                <a:ea typeface="Calibri" pitchFamily="34" charset="-122"/>
                <a:cs typeface="Calibri" pitchFamily="34" charset="-120"/>
              </a:rPr>
              <a:t>open-weight models (BGE-M3, Llama 3, Mistral) plus self-hosted serving are the only compliant option here, not a cost-saving preference.</a:t>
            </a:r>
            <a:endParaRPr lang="en-US" sz="1400" dirty="0"/>
          </a:p>
        </p:txBody>
      </p:sp>
      <p:sp>
        <p:nvSpPr>
          <p:cNvPr id="10" name="Text 8"/>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WHAT “DONE” ACTUALLY MEANS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Definition of Done &amp; Quality Gates</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A ticket is Done  </a:t>
            </a:r>
            <a:pPr indent="0" marL="0">
              <a:buNone/>
            </a:pPr>
            <a:r>
              <a:rPr lang="en-US" sz="1450" dirty="0">
                <a:solidFill>
                  <a:srgbClr val="5B6660"/>
                </a:solidFill>
                <a:latin typeface="Calibri" pitchFamily="34" charset="0"/>
                <a:ea typeface="Calibri" pitchFamily="34" charset="-122"/>
                <a:cs typeface="Calibri" pitchFamily="34" charset="-120"/>
              </a:rPr>
              <a:t>only when code is reviewed and merged, CI tests pass, it is deployed to staging and smoke-tested, and — for anything touching retrieval or generation — the regression evaluation suite shows no quality drop.</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A sprint is Done  </a:t>
            </a:r>
            <a:pPr indent="0" marL="0">
              <a:buNone/>
            </a:pPr>
            <a:r>
              <a:rPr lang="en-US" sz="1450" dirty="0">
                <a:solidFill>
                  <a:srgbClr val="5B6660"/>
                </a:solidFill>
                <a:latin typeface="Calibri" pitchFamily="34" charset="0"/>
                <a:ea typeface="Calibri" pitchFamily="34" charset="-122"/>
                <a:cs typeface="Calibri" pitchFamily="34" charset="-120"/>
              </a:rPr>
              <a:t>only when the sprint goal is demoable end to end in front of the Product Owner, not just individually tested ticket by ticket.</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The system is production-ready  </a:t>
            </a:r>
            <a:pPr indent="0" marL="0">
              <a:buNone/>
            </a:pPr>
            <a:r>
              <a:rPr lang="en-US" sz="1450" dirty="0">
                <a:solidFill>
                  <a:srgbClr val="5B6660"/>
                </a:solidFill>
                <a:latin typeface="Calibri" pitchFamily="34" charset="0"/>
                <a:ea typeface="Calibri" pitchFamily="34" charset="-122"/>
                <a:cs typeface="Calibri" pitchFamily="34" charset="-120"/>
              </a:rPr>
              <a:t>only once the security review is signed off, the AI governance board has approved the model card, and sovereign hosting has been validated.</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No ticket touching real documents  </a:t>
            </a:r>
            <a:pPr indent="0" marL="0">
              <a:buNone/>
            </a:pPr>
            <a:r>
              <a:rPr lang="en-US" sz="1450" dirty="0">
                <a:solidFill>
                  <a:srgbClr val="5B6660"/>
                </a:solidFill>
                <a:latin typeface="Calibri" pitchFamily="34" charset="0"/>
                <a:ea typeface="Calibri" pitchFamily="34" charset="-122"/>
                <a:cs typeface="Calibri" pitchFamily="34" charset="-120"/>
              </a:rPr>
              <a:t>is started before ACL tagging (B7) and the classification policy (I1) are in place — data governance is a blocker, not an afterthought.</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74</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TECH LEAD'S WATCH LIST</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Risk Register</a:t>
            </a:r>
            <a:endParaRPr lang="en-US" sz="27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3840480"/>
                <a:gridCol w="1280160"/>
                <a:gridCol w="5760720"/>
              </a:tblGrid>
              <a:tr h="457200">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Risk</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Impact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Mitigation</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Hallucination on a critical technical answer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Strict context-only prompting, faithfulness gate (G3), mandatory citations (E4)</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Sensitive data leaked via a poisoned ingested document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Guardrails (E3), ACL-aware retrieval (C6), full audit trail (I2)</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GPU capacity shortage for self-hosted LLM</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Early capacity planning (Sprint 0), quantized models, caching (D5)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Evaluation set biased toward one business domain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Multi-domain gold set (G1), refreshed with production feedback (G5)</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Security certification delays go-live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Start security &amp; governance review in Sprint 4, not at the end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Index staleness after document updates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Low/Med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Incremental sync (B9), index versioning (C4), monitored SLAs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75</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WHAT COMES AFTER GO-LIVE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Perspectives: Beyond the Roadmap</a:t>
            </a:r>
            <a:endParaRPr lang="en-US" sz="2700" dirty="0"/>
          </a:p>
        </p:txBody>
      </p:sp>
      <p:sp>
        <p:nvSpPr>
          <p:cNvPr id="5" name="Text 3"/>
          <p:cNvSpPr/>
          <p:nvPr/>
        </p:nvSpPr>
        <p:spPr>
          <a:xfrm>
            <a:off x="868680" y="1417320"/>
            <a:ext cx="10241280" cy="68122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Fine-tune embeddings and reranker  </a:t>
            </a:r>
            <a:pPr indent="0" marL="0">
              <a:buNone/>
            </a:pPr>
            <a:r>
              <a:rPr lang="en-US" sz="1450" dirty="0">
                <a:solidFill>
                  <a:srgbClr val="5B6660"/>
                </a:solidFill>
                <a:latin typeface="Calibri" pitchFamily="34" charset="0"/>
                <a:ea typeface="Calibri" pitchFamily="34" charset="-122"/>
                <a:cs typeface="Calibri" pitchFamily="34" charset="-120"/>
              </a:rPr>
              <a:t>on internal domain vocabulary (maintenance manuals, technical specs) once enough production feedback has accumulated.</a:t>
            </a:r>
            <a:endParaRPr lang="en-US" sz="1550" dirty="0"/>
          </a:p>
        </p:txBody>
      </p:sp>
      <p:sp>
        <p:nvSpPr>
          <p:cNvPr id="6" name="Text 4"/>
          <p:cNvSpPr/>
          <p:nvPr/>
        </p:nvSpPr>
        <p:spPr>
          <a:xfrm>
            <a:off x="868680" y="2171700"/>
            <a:ext cx="10241280" cy="68122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Extend to GraphRAG  </a:t>
            </a:r>
            <a:pPr indent="0" marL="0">
              <a:buNone/>
            </a:pPr>
            <a:r>
              <a:rPr lang="en-US" sz="1450" dirty="0">
                <a:solidFill>
                  <a:srgbClr val="5B6660"/>
                </a:solidFill>
                <a:latin typeface="Calibri" pitchFamily="34" charset="0"/>
                <a:ea typeface="Calibri" pitchFamily="34" charset="-122"/>
                <a:cs typeface="Calibri" pitchFamily="34" charset="-120"/>
              </a:rPr>
              <a:t>for multi-hop technical questions that span several cross-referenced documents.</a:t>
            </a:r>
            <a:endParaRPr lang="en-US" sz="1550" dirty="0"/>
          </a:p>
        </p:txBody>
      </p:sp>
      <p:sp>
        <p:nvSpPr>
          <p:cNvPr id="7" name="Text 5"/>
          <p:cNvSpPr/>
          <p:nvPr/>
        </p:nvSpPr>
        <p:spPr>
          <a:xfrm>
            <a:off x="868680" y="2926080"/>
            <a:ext cx="10241280" cy="68122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Move toward agentic RAG  </a:t>
            </a:r>
            <a:pPr indent="0" marL="0">
              <a:buNone/>
            </a:pPr>
            <a:r>
              <a:rPr lang="en-US" sz="1450" dirty="0">
                <a:solidFill>
                  <a:srgbClr val="5B6660"/>
                </a:solidFill>
                <a:latin typeface="Calibri" pitchFamily="34" charset="0"/>
                <a:ea typeface="Calibri" pitchFamily="34" charset="-122"/>
                <a:cs typeface="Calibri" pitchFamily="34" charset="-120"/>
              </a:rPr>
              <a:t>connected to internal systems (PLM, ERP, ticketing) so the assistant can act, not only answer.</a:t>
            </a:r>
            <a:endParaRPr lang="en-US" sz="1550" dirty="0"/>
          </a:p>
        </p:txBody>
      </p:sp>
      <p:sp>
        <p:nvSpPr>
          <p:cNvPr id="8" name="Text 6"/>
          <p:cNvSpPr/>
          <p:nvPr/>
        </p:nvSpPr>
        <p:spPr>
          <a:xfrm>
            <a:off x="868680" y="3680460"/>
            <a:ext cx="10241280" cy="68122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Explore federated RAG  </a:t>
            </a:r>
            <a:pPr indent="0" marL="0">
              <a:buNone/>
            </a:pPr>
            <a:r>
              <a:rPr lang="en-US" sz="1450" dirty="0">
                <a:solidFill>
                  <a:srgbClr val="5B6660"/>
                </a:solidFill>
                <a:latin typeface="Calibri" pitchFamily="34" charset="0"/>
                <a:ea typeface="Calibri" pitchFamily="34" charset="-122"/>
                <a:cs typeface="Calibri" pitchFamily="34" charset="-120"/>
              </a:rPr>
              <a:t>across subsidiaries or business units, sharing retrieval capability without centralizing raw documents.</a:t>
            </a:r>
            <a:endParaRPr lang="en-US" sz="1550" dirty="0"/>
          </a:p>
        </p:txBody>
      </p:sp>
      <p:sp>
        <p:nvSpPr>
          <p:cNvPr id="9" name="Text 7"/>
          <p:cNvSpPr/>
          <p:nvPr/>
        </p:nvSpPr>
        <p:spPr>
          <a:xfrm>
            <a:off x="868680" y="4434840"/>
            <a:ext cx="10241280" cy="68122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Package an offline / edge variant  </a:t>
            </a:r>
            <a:pPr indent="0" marL="0">
              <a:buNone/>
            </a:pPr>
            <a:r>
              <a:rPr lang="en-US" sz="1450" dirty="0">
                <a:solidFill>
                  <a:srgbClr val="5B6660"/>
                </a:solidFill>
                <a:latin typeface="Calibri" pitchFamily="34" charset="0"/>
                <a:ea typeface="Calibri" pitchFamily="34" charset="-122"/>
                <a:cs typeface="Calibri" pitchFamily="34" charset="-120"/>
              </a:rPr>
              <a:t>for field use — maintenance technicians or on-site engineers with intermittent connectivity.</a:t>
            </a:r>
            <a:endParaRPr lang="en-US" sz="1550" dirty="0"/>
          </a:p>
        </p:txBody>
      </p:sp>
      <p:sp>
        <p:nvSpPr>
          <p:cNvPr id="10" name="Text 8"/>
          <p:cNvSpPr/>
          <p:nvPr/>
        </p:nvSpPr>
        <p:spPr>
          <a:xfrm>
            <a:off x="868680" y="5189220"/>
            <a:ext cx="10241280" cy="68122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Track the sovereign LLM landscape  </a:t>
            </a:r>
            <a:pPr indent="0" marL="0">
              <a:buNone/>
            </a:pPr>
            <a:r>
              <a:rPr lang="en-US" sz="1450" dirty="0">
                <a:solidFill>
                  <a:srgbClr val="5B6660"/>
                </a:solidFill>
                <a:latin typeface="Calibri" pitchFamily="34" charset="0"/>
                <a:ea typeface="Calibri" pitchFamily="34" charset="-122"/>
                <a:cs typeface="Calibri" pitchFamily="34" charset="-120"/>
              </a:rPr>
              <a:t>as it matures, as a lower-risk path to replace or complement the current self-hosted models.</a:t>
            </a:r>
            <a:endParaRPr lang="en-US" sz="1550" dirty="0"/>
          </a:p>
        </p:txBody>
      </p:sp>
      <p:sp>
        <p:nvSpPr>
          <p:cNvPr id="11" name="Text 9"/>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76</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731520" y="2651760"/>
            <a:ext cx="9144000" cy="457200"/>
          </a:xfrm>
          <a:prstGeom prst="rect">
            <a:avLst/>
          </a:prstGeom>
          <a:noFill/>
          <a:ln/>
        </p:spPr>
        <p:txBody>
          <a:bodyPr wrap="square" rtlCol="0" anchor="ctr"/>
          <a:lstStyle/>
          <a:p>
            <a:pPr indent="0" marL="0">
              <a:buNone/>
            </a:pPr>
            <a:r>
              <a:rPr lang="en-US" sz="1500" spc="300" kern="0" dirty="0">
                <a:solidFill>
                  <a:srgbClr val="7FBF9E"/>
                </a:solidFill>
                <a:latin typeface="Courier New" pitchFamily="34" charset="0"/>
                <a:ea typeface="Courier New" pitchFamily="34" charset="-122"/>
                <a:cs typeface="Courier New" pitchFamily="34" charset="-120"/>
              </a:rPr>
              <a:t>PART 6</a:t>
            </a:r>
            <a:endParaRPr lang="en-US" sz="1500" dirty="0"/>
          </a:p>
        </p:txBody>
      </p:sp>
      <p:sp>
        <p:nvSpPr>
          <p:cNvPr id="3" name="Text 1"/>
          <p:cNvSpPr/>
          <p:nvPr/>
        </p:nvSpPr>
        <p:spPr>
          <a:xfrm>
            <a:off x="731520" y="3108960"/>
            <a:ext cx="10515600" cy="1280160"/>
          </a:xfrm>
          <a:prstGeom prst="rect">
            <a:avLst/>
          </a:prstGeom>
          <a:noFill/>
          <a:ln/>
        </p:spPr>
        <p:txBody>
          <a:bodyPr wrap="square" rtlCol="0" anchor="ctr"/>
          <a:lstStyle/>
          <a:p>
            <a:pPr indent="0" marL="0">
              <a:buNone/>
            </a:pPr>
            <a:r>
              <a:rPr lang="en-US" sz="3800" b="1" dirty="0">
                <a:solidFill>
                  <a:srgbClr val="F5F2E7"/>
                </a:solidFill>
                <a:latin typeface="Cambria" pitchFamily="34" charset="0"/>
                <a:ea typeface="Cambria" pitchFamily="34" charset="-122"/>
                <a:cs typeface="Cambria" pitchFamily="34" charset="-120"/>
              </a:rPr>
              <a:t>Synthesis &amp; Reference</a:t>
            </a:r>
            <a:endParaRPr lang="en-US" sz="3800" dirty="0"/>
          </a:p>
        </p:txBody>
      </p:sp>
      <p:sp>
        <p:nvSpPr>
          <p:cNvPr id="4" name="Text 2"/>
          <p:cNvSpPr/>
          <p:nvPr/>
        </p:nvSpPr>
        <p:spPr>
          <a:xfrm>
            <a:off x="731520" y="4251960"/>
            <a:ext cx="9144000" cy="731520"/>
          </a:xfrm>
          <a:prstGeom prst="rect">
            <a:avLst/>
          </a:prstGeom>
          <a:noFill/>
          <a:ln/>
        </p:spPr>
        <p:txBody>
          <a:bodyPr wrap="square" rtlCol="0" anchor="ctr"/>
          <a:lstStyle/>
          <a:p>
            <a:pPr indent="0" marL="0">
              <a:buNone/>
            </a:pPr>
            <a:r>
              <a:rPr lang="en-US" sz="1500" dirty="0">
                <a:solidFill>
                  <a:srgbClr val="AEB8AC"/>
                </a:solidFill>
                <a:latin typeface="Calibri" pitchFamily="34" charset="0"/>
                <a:ea typeface="Calibri" pitchFamily="34" charset="-122"/>
                <a:cs typeface="Calibri" pitchFamily="34" charset="-120"/>
              </a:rPr>
              <a:t>Comparisons, limitations, takeaways, and terminology.</a:t>
            </a:r>
            <a:endParaRPr lang="en-US" sz="1500" dirty="0"/>
          </a:p>
        </p:txBody>
      </p:sp>
      <p:sp>
        <p:nvSpPr>
          <p:cNvPr id="5"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6E8478"/>
                </a:solidFill>
                <a:latin typeface="Calibri" pitchFamily="34" charset="0"/>
                <a:ea typeface="Calibri" pitchFamily="34" charset="-122"/>
                <a:cs typeface="Calibri" pitchFamily="34" charset="-120"/>
              </a:rPr>
              <a:t>77</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TWO WAYS TO ADD KNOWLEDGE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RAG vs Fine-Tuning</a:t>
            </a:r>
            <a:endParaRPr lang="en-US" sz="27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468880"/>
                <a:gridCol w="4572000"/>
                <a:gridCol w="4572000"/>
              </a:tblGrid>
              <a:tr h="457200">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RAG</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Fine-tuning</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Update speed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Immediate — edit the index</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Requires a new training run</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Interpretability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 — answers cite real sources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Low — knowledge is baked into weights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Fast-changing or private factual knowledge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Teaching a model a new skill, style, or format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Cost profile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Ongoing retrieval + indexing infrastructure cost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Upfront training cost, cheaper to serve after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Can be combined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Yes — a fine-tuned model can also use RAG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Yes — same as left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78</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FAISS VS CHROMADB VS QDRANT</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Vector Database Comparison</a:t>
            </a:r>
            <a:endParaRPr lang="en-US" sz="27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1920240"/>
                <a:gridCol w="3200400"/>
                <a:gridCol w="2926080"/>
                <a:gridCol w="2926080"/>
              </a:tblGrid>
              <a:tr h="457200">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FAISS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ChromaDB</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Qdrant</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Library, not a server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Lightweight embedded / server database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Full server-based vector database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Single-machine, high control, custom pipelines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Fast local prototyping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Production deployments needing filtering, sharding, and an API</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Hybrid search</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Manual (combine with BM25 yourself)</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Basic support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Native support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Operational overhead</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You manage persistence and scaling</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Low for small scale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Higher, but built for scale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79</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OPENAI VS BGE-M3 VS E5</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Embedding Model Comparison</a:t>
            </a:r>
            <a:endParaRPr lang="en-US" sz="27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914400"/>
        </p:xfrm>
        <a:graphic>
          <a:graphicData uri="http://schemas.openxmlformats.org/drawingml/2006/table">
            <a:tbl>
              <a:tblPr/>
              <a:tblGrid>
                <a:gridCol w="2286000"/>
                <a:gridCol w="3200400"/>
                <a:gridCol w="3200400"/>
                <a:gridCol w="3200400"/>
              </a:tblGrid>
              <a:tr h="457200">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OpenAI embeddings</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BGE-M3</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250" b="1" dirty="0">
                          <a:solidFill>
                            <a:srgbClr val="F5F2E7"/>
                          </a:solidFill>
                          <a:latin typeface="Calibri" pitchFamily="34" charset="0"/>
                          <a:ea typeface="Calibri" pitchFamily="34" charset="-122"/>
                          <a:cs typeface="Calibri" pitchFamily="34" charset="-120"/>
                        </a:rPr>
                        <a:t>E5</a:t>
                      </a:r>
                      <a:endParaRPr lang="en-US" sz="125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API only, closed weights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Open weights, self-hostable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Open weights, self-hostable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Retrieval modes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Dense only</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Dense, sparse, and multi-vector in one model</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Dense (cross-lingual variants available)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Context length</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8,191 tokens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Up to 8,192 tokens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Typically 512 tokens (base variants)</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Good fit for this project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Simple to start, ongoing API cost</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Self-hosted, MIT license, ready for hybrid search</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Strong cross-lingual performance</a:t>
                      </a:r>
                      <a:endParaRPr lang="en-US" sz="1200" dirty="0">
                        <a:latin typeface="Calibri" charset="0"/>
                        <a:ea typeface="Calibri" charset="0"/>
                        <a:cs typeface="Calibri" charset="0"/>
                      </a:endParaRPr>
                    </a:p>
                  </a:txBody>
                  <a:tcPr marL="91440" marR="91440" marT="45720" marB="45720" anchor="ctr">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80</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HONEST TRADE-OFFS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Current Limitations of RAG</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Retrieval failures cascade.  </a:t>
            </a:r>
            <a:pPr indent="0" marL="0">
              <a:buNone/>
            </a:pPr>
            <a:r>
              <a:rPr lang="en-US" sz="1450" dirty="0">
                <a:solidFill>
                  <a:srgbClr val="5B6660"/>
                </a:solidFill>
                <a:latin typeface="Calibri" pitchFamily="34" charset="0"/>
                <a:ea typeface="Calibri" pitchFamily="34" charset="-122"/>
                <a:cs typeface="Calibri" pitchFamily="34" charset="-120"/>
              </a:rPr>
              <a:t>If the retriever misses the relevant chunk, the generator has no way to recover the missing fact on its own.</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Chunking is a lossy compression step.  </a:t>
            </a:r>
            <a:pPr indent="0" marL="0">
              <a:buNone/>
            </a:pPr>
            <a:r>
              <a:rPr lang="en-US" sz="1450" dirty="0">
                <a:solidFill>
                  <a:srgbClr val="5B6660"/>
                </a:solidFill>
                <a:latin typeface="Calibri" pitchFamily="34" charset="0"/>
                <a:ea typeface="Calibri" pitchFamily="34" charset="-122"/>
                <a:cs typeface="Calibri" pitchFamily="34" charset="-120"/>
              </a:rPr>
              <a:t>Any fixed chunking strategy will occasionally split or separate facts that belong together.</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Latency and cost stack up.  </a:t>
            </a:r>
            <a:pPr indent="0" marL="0">
              <a:buNone/>
            </a:pPr>
            <a:r>
              <a:rPr lang="en-US" sz="1450" dirty="0">
                <a:solidFill>
                  <a:srgbClr val="5B6660"/>
                </a:solidFill>
                <a:latin typeface="Calibri" pitchFamily="34" charset="0"/>
                <a:ea typeface="Calibri" pitchFamily="34" charset="-122"/>
                <a:cs typeface="Calibri" pitchFamily="34" charset="-120"/>
              </a:rPr>
              <a:t>Embedding, vector search, optional reranking, and generation all add to the response time and the bill.</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Evaluation is still hard.  </a:t>
            </a:r>
            <a:pPr indent="0" marL="0">
              <a:buNone/>
            </a:pPr>
            <a:r>
              <a:rPr lang="en-US" sz="1450" dirty="0">
                <a:solidFill>
                  <a:srgbClr val="5B6660"/>
                </a:solidFill>
                <a:latin typeface="Calibri" pitchFamily="34" charset="0"/>
                <a:ea typeface="Calibri" pitchFamily="34" charset="-122"/>
                <a:cs typeface="Calibri" pitchFamily="34" charset="-120"/>
              </a:rPr>
              <a:t>Faithfulness and relevance judgments often rely on LLM-as-judge methods, which are convenient but not infallible.</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81</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OPEN QUESTIONS</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Future Research Directions</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Tighter retriever-generator integration.  </a:t>
            </a:r>
            <a:pPr indent="0" marL="0">
              <a:buNone/>
            </a:pPr>
            <a:r>
              <a:rPr lang="en-US" sz="1450" dirty="0">
                <a:solidFill>
                  <a:srgbClr val="5B6660"/>
                </a:solidFill>
                <a:latin typeface="Calibri" pitchFamily="34" charset="0"/>
                <a:ea typeface="Calibri" pitchFamily="34" charset="-122"/>
                <a:cs typeface="Calibri" pitchFamily="34" charset="-120"/>
              </a:rPr>
              <a:t>Whether jointly training both components end-to-end, as in the original RAG paper, becomes standard practice again.</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Better long-context and retrieval synergy.  </a:t>
            </a:r>
            <a:pPr indent="0" marL="0">
              <a:buNone/>
            </a:pPr>
            <a:r>
              <a:rPr lang="en-US" sz="1450" dirty="0">
                <a:solidFill>
                  <a:srgbClr val="5B6660"/>
                </a:solidFill>
                <a:latin typeface="Calibri" pitchFamily="34" charset="0"/>
                <a:ea typeface="Calibri" pitchFamily="34" charset="-122"/>
                <a:cs typeface="Calibri" pitchFamily="34" charset="-120"/>
              </a:rPr>
              <a:t>How future models might natively decide what to attend to, blurring the line between long context and explicit retrieval.</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Structured and multimodal retrieval.  </a:t>
            </a:r>
            <a:pPr indent="0" marL="0">
              <a:buNone/>
            </a:pPr>
            <a:r>
              <a:rPr lang="en-US" sz="1450" dirty="0">
                <a:solidFill>
                  <a:srgbClr val="5B6660"/>
                </a:solidFill>
                <a:latin typeface="Calibri" pitchFamily="34" charset="0"/>
                <a:ea typeface="Calibri" pitchFamily="34" charset="-122"/>
                <a:cs typeface="Calibri" pitchFamily="34" charset="-120"/>
              </a:rPr>
              <a:t>Retrieval over knowledge graphs, tables, images, and audio in a unified framework, rather than separate ad hoc pipelines.</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Standardized evaluation.  </a:t>
            </a:r>
            <a:pPr indent="0" marL="0">
              <a:buNone/>
            </a:pPr>
            <a:r>
              <a:rPr lang="en-US" sz="1450" dirty="0">
                <a:solidFill>
                  <a:srgbClr val="5B6660"/>
                </a:solidFill>
                <a:latin typeface="Calibri" pitchFamily="34" charset="0"/>
                <a:ea typeface="Calibri" pitchFamily="34" charset="-122"/>
                <a:cs typeface="Calibri" pitchFamily="34" charset="-120"/>
              </a:rPr>
              <a:t>More reliable, less LLM-judge-dependent benchmarks for faithfulness and citation correctness.</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82</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BUILDING YOUR OWN RAG SYSTEM</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Practical Recommendations</a:t>
            </a:r>
            <a:endParaRPr lang="en-US" sz="2700" dirty="0"/>
          </a:p>
        </p:txBody>
      </p:sp>
      <p:sp>
        <p:nvSpPr>
          <p:cNvPr id="5" name="Text 3"/>
          <p:cNvSpPr/>
          <p:nvPr/>
        </p:nvSpPr>
        <p:spPr>
          <a:xfrm>
            <a:off x="868680" y="141732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Start simple.  </a:t>
            </a:r>
            <a:pPr indent="0" marL="0">
              <a:buNone/>
            </a:pPr>
            <a:r>
              <a:rPr lang="en-US" sz="1450" dirty="0">
                <a:solidFill>
                  <a:srgbClr val="5B6660"/>
                </a:solidFill>
                <a:latin typeface="Calibri" pitchFamily="34" charset="0"/>
                <a:ea typeface="Calibri" pitchFamily="34" charset="-122"/>
                <a:cs typeface="Calibri" pitchFamily="34" charset="-120"/>
              </a:rPr>
              <a:t>A single dense retriever, a fixed chunk size, and a basic prompt template will surface most of the real problems early.</a:t>
            </a:r>
            <a:endParaRPr lang="en-US" sz="1550" dirty="0"/>
          </a:p>
        </p:txBody>
      </p:sp>
      <p:sp>
        <p:nvSpPr>
          <p:cNvPr id="6" name="Text 4"/>
          <p:cNvSpPr/>
          <p:nvPr/>
        </p:nvSpPr>
        <p:spPr>
          <a:xfrm>
            <a:off x="868680" y="254889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Evaluate before optimizing.  </a:t>
            </a:r>
            <a:pPr indent="0" marL="0">
              <a:buNone/>
            </a:pPr>
            <a:r>
              <a:rPr lang="en-US" sz="1450" dirty="0">
                <a:solidFill>
                  <a:srgbClr val="5B6660"/>
                </a:solidFill>
                <a:latin typeface="Calibri" pitchFamily="34" charset="0"/>
                <a:ea typeface="Calibri" pitchFamily="34" charset="-122"/>
                <a:cs typeface="Calibri" pitchFamily="34" charset="-120"/>
              </a:rPr>
              <a:t>Build a small labeled test set of questions before adding reranking, hybrid search, or multi-query — you need a baseline to know if a change helped.</a:t>
            </a:r>
            <a:endParaRPr lang="en-US" sz="1550" dirty="0"/>
          </a:p>
        </p:txBody>
      </p:sp>
      <p:sp>
        <p:nvSpPr>
          <p:cNvPr id="7" name="Text 5"/>
          <p:cNvSpPr/>
          <p:nvPr/>
        </p:nvSpPr>
        <p:spPr>
          <a:xfrm>
            <a:off x="868680" y="368046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Log everything retrievable.  </a:t>
            </a:r>
            <a:pPr indent="0" marL="0">
              <a:buNone/>
            </a:pPr>
            <a:r>
              <a:rPr lang="en-US" sz="1450" dirty="0">
                <a:solidFill>
                  <a:srgbClr val="5B6660"/>
                </a:solidFill>
                <a:latin typeface="Calibri" pitchFamily="34" charset="0"/>
                <a:ea typeface="Calibri" pitchFamily="34" charset="-122"/>
                <a:cs typeface="Calibri" pitchFamily="34" charset="-120"/>
              </a:rPr>
              <a:t>Store the retrieved chunk IDs, scores, and final prompts for every production query; you cannot debug what you did not log.</a:t>
            </a:r>
            <a:endParaRPr lang="en-US" sz="1550" dirty="0"/>
          </a:p>
        </p:txBody>
      </p:sp>
      <p:sp>
        <p:nvSpPr>
          <p:cNvPr id="8" name="Text 6"/>
          <p:cNvSpPr/>
          <p:nvPr/>
        </p:nvSpPr>
        <p:spPr>
          <a:xfrm>
            <a:off x="868680" y="4812030"/>
            <a:ext cx="10241280" cy="1058418"/>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Treat the index as a first-class deployment artifact.  </a:t>
            </a:r>
            <a:pPr indent="0" marL="0">
              <a:buNone/>
            </a:pPr>
            <a:r>
              <a:rPr lang="en-US" sz="1450" dirty="0">
                <a:solidFill>
                  <a:srgbClr val="5B6660"/>
                </a:solidFill>
                <a:latin typeface="Calibri" pitchFamily="34" charset="0"/>
                <a:ea typeface="Calibri" pitchFamily="34" charset="-122"/>
                <a:cs typeface="Calibri" pitchFamily="34" charset="-120"/>
              </a:rPr>
              <a:t>Version it, monitor it, and be ready to roll it back exactly as you would a code deployment.</a:t>
            </a:r>
            <a:endParaRPr lang="en-US" sz="1550" dirty="0"/>
          </a:p>
        </p:txBody>
      </p:sp>
      <p:sp>
        <p:nvSpPr>
          <p:cNvPr id="9" name="Text 7"/>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83</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SUMMARY</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Key Takeaways</a:t>
            </a:r>
            <a:endParaRPr lang="en-US" sz="2700" dirty="0"/>
          </a:p>
        </p:txBody>
      </p:sp>
      <p:sp>
        <p:nvSpPr>
          <p:cNvPr id="5" name="Text 3"/>
          <p:cNvSpPr/>
          <p:nvPr/>
        </p:nvSpPr>
        <p:spPr>
          <a:xfrm>
            <a:off x="868680" y="1554480"/>
            <a:ext cx="10241280" cy="1188720"/>
          </a:xfrm>
          <a:prstGeom prst="rect">
            <a:avLst/>
          </a:prstGeom>
          <a:noFill/>
          <a:ln/>
        </p:spPr>
        <p:txBody>
          <a:bodyPr wrap="square" rtlCol="0" anchor="ctr"/>
          <a:lstStyle/>
          <a:p>
            <a:pPr algn="l" indent="0" marL="0">
              <a:buNone/>
            </a:pPr>
            <a:r>
              <a:rPr lang="en-US" sz="2600" b="1" dirty="0">
                <a:solidFill>
                  <a:srgbClr val="2F6B4F"/>
                </a:solidFill>
                <a:latin typeface="Cambria" pitchFamily="34" charset="0"/>
                <a:ea typeface="Cambria" pitchFamily="34" charset="-122"/>
                <a:cs typeface="Cambria" pitchFamily="34" charset="-120"/>
              </a:rPr>
              <a:t>RAG is context construction: retrieve only what a query needs, and let the model reason over real, citable evidence.</a:t>
            </a:r>
            <a:endParaRPr lang="en-US" sz="2600" dirty="0"/>
          </a:p>
        </p:txBody>
      </p:sp>
      <p:sp>
        <p:nvSpPr>
          <p:cNvPr id="6" name="Text 4"/>
          <p:cNvSpPr/>
          <p:nvPr/>
        </p:nvSpPr>
        <p:spPr>
          <a:xfrm>
            <a:off x="868680" y="2697480"/>
            <a:ext cx="10241280" cy="548640"/>
          </a:xfrm>
          <a:prstGeom prst="rect">
            <a:avLst/>
          </a:prstGeom>
          <a:noFill/>
          <a:ln/>
        </p:spPr>
        <p:txBody>
          <a:bodyPr wrap="square" rtlCol="0" anchor="ctr"/>
          <a:lstStyle/>
          <a:p>
            <a:pPr indent="0" marL="0">
              <a:buNone/>
            </a:pPr>
            <a:r>
              <a:rPr lang="en-US" sz="1350" i="1" dirty="0">
                <a:solidFill>
                  <a:srgbClr val="5B6660"/>
                </a:solidFill>
                <a:latin typeface="Calibri" pitchFamily="34" charset="0"/>
                <a:ea typeface="Calibri" pitchFamily="34" charset="-122"/>
                <a:cs typeface="Calibri" pitchFamily="34" charset="-120"/>
              </a:rPr>
              <a:t>Everything in this course composes around one separation of concerns: an embedding model turns text into vectors, a vector index compares them, and a generator turns retrieved text back into language.</a:t>
            </a:r>
            <a:endParaRPr lang="en-US" sz="1350" dirty="0"/>
          </a:p>
        </p:txBody>
      </p:sp>
      <p:sp>
        <p:nvSpPr>
          <p:cNvPr id="7" name="Text 5"/>
          <p:cNvSpPr/>
          <p:nvPr/>
        </p:nvSpPr>
        <p:spPr>
          <a:xfrm>
            <a:off x="868680" y="3429000"/>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Grounding beats memorization  </a:t>
            </a:r>
            <a:pPr indent="0" marL="0">
              <a:buNone/>
            </a:pPr>
            <a:r>
              <a:rPr lang="en-US" sz="1350" dirty="0">
                <a:solidFill>
                  <a:srgbClr val="5B6660"/>
                </a:solidFill>
                <a:latin typeface="Calibri" pitchFamily="34" charset="0"/>
                <a:ea typeface="Calibri" pitchFamily="34" charset="-122"/>
                <a:cs typeface="Calibri" pitchFamily="34" charset="-120"/>
              </a:rPr>
              <a:t>for knowledge that changes, needs citation, or must stay private.</a:t>
            </a:r>
            <a:endParaRPr lang="en-US" sz="1400" dirty="0"/>
          </a:p>
        </p:txBody>
      </p:sp>
      <p:sp>
        <p:nvSpPr>
          <p:cNvPr id="8" name="Text 6"/>
          <p:cNvSpPr/>
          <p:nvPr/>
        </p:nvSpPr>
        <p:spPr>
          <a:xfrm>
            <a:off x="868680" y="3995928"/>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Retrieval quality is the ceiling  </a:t>
            </a:r>
            <a:pPr indent="0" marL="0">
              <a:buNone/>
            </a:pPr>
            <a:r>
              <a:rPr lang="en-US" sz="1350" dirty="0">
                <a:solidFill>
                  <a:srgbClr val="5B6660"/>
                </a:solidFill>
                <a:latin typeface="Calibri" pitchFamily="34" charset="0"/>
                <a:ea typeface="Calibri" pitchFamily="34" charset="-122"/>
                <a:cs typeface="Calibri" pitchFamily="34" charset="-120"/>
              </a:rPr>
              <a:t>on generation quality — no prompt can fix a missed chunk.</a:t>
            </a:r>
            <a:endParaRPr lang="en-US" sz="1400" dirty="0"/>
          </a:p>
        </p:txBody>
      </p:sp>
      <p:sp>
        <p:nvSpPr>
          <p:cNvPr id="9" name="Text 7"/>
          <p:cNvSpPr/>
          <p:nvPr/>
        </p:nvSpPr>
        <p:spPr>
          <a:xfrm>
            <a:off x="868680" y="4562856"/>
            <a:ext cx="10241280" cy="548640"/>
          </a:xfrm>
          <a:prstGeom prst="rect">
            <a:avLst/>
          </a:prstGeom>
          <a:noFill/>
          <a:ln/>
        </p:spPr>
        <p:txBody>
          <a:bodyPr wrap="square" rtlCol="0" anchor="ctr"/>
          <a:lstStyle/>
          <a:p>
            <a:pPr marL="342900" indent="-342900">
              <a:buSzPct val="100000"/>
              <a:buChar char="•"/>
            </a:pPr>
            <a:r>
              <a:rPr lang="en-US" sz="1400" b="1" dirty="0">
                <a:solidFill>
                  <a:srgbClr val="1A1A1A"/>
                </a:solidFill>
                <a:latin typeface="Calibri" pitchFamily="34" charset="0"/>
                <a:ea typeface="Calibri" pitchFamily="34" charset="-122"/>
                <a:cs typeface="Calibri" pitchFamily="34" charset="-120"/>
              </a:rPr>
              <a:t>The pipeline is modular  </a:t>
            </a:r>
            <a:pPr indent="0" marL="0">
              <a:buNone/>
            </a:pPr>
            <a:r>
              <a:rPr lang="en-US" sz="1350" dirty="0">
                <a:solidFill>
                  <a:srgbClr val="5B6660"/>
                </a:solidFill>
                <a:latin typeface="Calibri" pitchFamily="34" charset="0"/>
                <a:ea typeface="Calibri" pitchFamily="34" charset="-122"/>
                <a:cs typeface="Calibri" pitchFamily="34" charset="-120"/>
              </a:rPr>
              <a:t>and every stage, from chunking to reranking, can be measured and improved independently.</a:t>
            </a:r>
            <a:endParaRPr lang="en-US" sz="1400" dirty="0"/>
          </a:p>
        </p:txBody>
      </p:sp>
      <p:sp>
        <p:nvSpPr>
          <p:cNvPr id="10" name="Text 8"/>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84</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REFERENCE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Glossary (1 of 3)</a:t>
            </a:r>
            <a:endParaRPr lang="en-US" sz="27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645920"/>
                <a:gridCol w="3840480"/>
                <a:gridCol w="2834640"/>
                <a:gridCol w="2743200"/>
              </a:tblGrid>
              <a:tr h="621792">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Embedding</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dense vector representation of a piece of text.</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It is what makes semantic (meaning-based) search possible.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“Paris” and “France’s capital” map to nearby vectors.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Vector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An ordered list of numbers representing a point in space.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Embeddings, similarity, and search are all vector operations.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1024-dimensional BGE-M3 output.</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ANN (Approximate Nearest Neighbor)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search that finds very likely, but not guaranteed, nearest vectors.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Makes search over millions of vectors fast enough for production.</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HNSW, IVF, LSH.</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FAISS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An open-source library for storing and searching vectors.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It is the most common vector search engine in RAG systems.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faiss.IndexFlatIP(d)</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Retriever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component that finds relevant chunks for a query.</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Its quality caps how good the final answer can be.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FAISS index plus an embedding model.</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Generator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language model that produces the final answer.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It reads retrieved context and writes the response.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Llama 3, Mistral, GPT.</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Chunk</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manageable-sized piece of a larger document.</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Documents must be split before they can be embedded and retrieved.</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512-token paragraph from a PDF.</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85</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REFERENCE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Glossary (2 of 3)</a:t>
            </a:r>
            <a:endParaRPr lang="en-US" sz="27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645920"/>
                <a:gridCol w="3840480"/>
                <a:gridCol w="2834640"/>
                <a:gridCol w="2743200"/>
              </a:tblGrid>
              <a:tr h="621792">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Token</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sub-word unit a language model reads or writes.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Context length, cost, and latency are all measured in tokens.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“tokenizing” → [“token”, “izing”]</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Tokenization</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process of splitting text into tokens.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It determines the model's vocabulary and its handling of rare words.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Byte Pair Encoding (BPE).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Context Window</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maximum amount of text a model can process at once.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It bounds how much retrieved context can be included per query.</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128K tokens for many current models.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Hallucination</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fluent but unsupported or false generated statement.</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It is the central risk RAG is designed to reduce.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Citing a paper that does not exist.</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Dense Retrieval</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Retrieval using dense embedding vectors.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Captures semantic similarity beyond exact keyword matches.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BGE-M3 + FAISS cosine search.</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Sparse Retrieval</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Retrieval using sparse, mostly-zero vectors of term weights.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Fast, cheap, and precise on exact keywords and codes.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BM25 over an inverted index.</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Hybrid Search</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Combining sparse and dense retrieval results.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Gets keyword precision and semantic recall together.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BM25 + FAISS, fused with RRF.</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86</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REFERENCE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Glossary (3 of 3)</a:t>
            </a:r>
            <a:endParaRPr lang="en-US" sz="27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645920"/>
                <a:gridCol w="3840480"/>
                <a:gridCol w="2834640"/>
                <a:gridCol w="2743200"/>
              </a:tblGrid>
              <a:tr h="621792">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Definition</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c>
                  <a:txBody>
                    <a:bodyPr/>
                    <a:lstStyle/>
                    <a:p>
                      <a:pPr indent="0" marL="0">
                        <a:buNone/>
                      </a:pPr>
                      <a:r>
                        <a:rPr lang="en-US" sz="1150" b="1" dirty="0">
                          <a:solidFill>
                            <a:srgbClr val="F5F2E7"/>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16201A"/>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Bi-Encoder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model that encodes query and document separately.</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Enables fast retrieval since documents are pre-embedded once.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BGE-M3, e5.</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Cross-Encoder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model that encodes a query and a document jointly.</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More accurate scoring, used to rerank a small candidate set.</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BGE Reranker, Cohere Rerank.</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Reranker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second-stage model that re-scores retrieved candidates.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Improves precision of the final top-k passed to the generator.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 cross-encoder over the top 50 results.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Grounding</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Basing generation on retrieved, verifiable evidence.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It is the mechanism that reduces hallucination.</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Citing [1], [2] in the final answer.</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MIPS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Maximum Inner Product Search.</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formal search problem retrieval is solved as.</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FAISS's IndexFlatIP.</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FFFFFF"/>
                    </a:solidFill>
                  </a:tcPr>
                </a:tc>
              </a:tr>
              <a:tr h="621792">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Agentic RAG</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RAG where the model actively decides when and what to retrieve.</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Allows multi-step, tool-using research rather than one fixed lookup.</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model issues three separate retrieval calls before answering.</a:t>
                      </a:r>
                      <a:endParaRPr lang="en-US" sz="1050" dirty="0">
                        <a:latin typeface="Calibri" charset="0"/>
                        <a:ea typeface="Calibri" charset="0"/>
                        <a:cs typeface="Calibri" charset="0"/>
                      </a:endParaRPr>
                    </a:p>
                  </a:txBody>
                  <a:tcPr marL="91440" marR="91440" marT="45720" marB="45720" anchor="t">
                    <a:lnL w="6350" cap="flat" cmpd="sng" algn="ctr">
                      <a:solidFill>
                        <a:srgbClr val="D8D3C2"/>
                      </a:solidFill>
                      <a:prstDash val="solid"/>
                      <a:round/>
                      <a:headEnd type="none" w="med" len="med"/>
                      <a:tailEnd type="none" w="med" len="med"/>
                    </a:lnL>
                    <a:lnR w="6350" cap="flat" cmpd="sng" algn="ctr">
                      <a:solidFill>
                        <a:srgbClr val="D8D3C2"/>
                      </a:solidFill>
                      <a:prstDash val="solid"/>
                      <a:round/>
                      <a:headEnd type="none" w="med" len="med"/>
                      <a:tailEnd type="none" w="med" len="med"/>
                    </a:lnR>
                    <a:lnT w="6350" cap="flat" cmpd="sng" algn="ctr">
                      <a:solidFill>
                        <a:srgbClr val="D8D3C2"/>
                      </a:solidFill>
                      <a:prstDash val="solid"/>
                      <a:round/>
                      <a:headEnd type="none" w="med" len="med"/>
                      <a:tailEnd type="none" w="med" len="med"/>
                    </a:lnT>
                    <a:lnB w="6350" cap="flat" cmpd="sng" algn="ctr">
                      <a:solidFill>
                        <a:srgbClr val="D8D3C2"/>
                      </a:solidFill>
                      <a:prstDash val="solid"/>
                      <a:round/>
                      <a:headEnd type="none" w="med" len="med"/>
                      <a:tailEnd type="none" w="med" len="med"/>
                    </a:lnB>
                    <a:solidFill>
                      <a:srgbClr val="ECE8D8"/>
                    </a:solidFill>
                  </a:tcPr>
                </a:tc>
              </a:tr>
            </a:tbl>
          </a:graphicData>
        </a:graphic>
      </p:graphicFrame>
      <p:sp>
        <p:nvSpPr>
          <p:cNvPr id="6" name="Text 3"/>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87</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2E7"/>
        </a:solidFill>
      </p:bgPr>
    </p:bg>
    <p:spTree>
      <p:nvGrpSpPr>
        <p:cNvPr id="1" name=""/>
        <p:cNvGrpSpPr/>
        <p:nvPr/>
      </p:nvGrpSpPr>
      <p:grpSpPr>
        <a:xfrm>
          <a:off x="0" y="0"/>
          <a:ext cx="0" cy="0"/>
          <a:chOff x="0" y="0"/>
          <a:chExt cx="0" cy="0"/>
        </a:xfrm>
      </p:grpSpPr>
      <p:sp>
        <p:nvSpPr>
          <p:cNvPr id="2" name="Text 0"/>
          <p:cNvSpPr/>
          <p:nvPr/>
        </p:nvSpPr>
        <p:spPr>
          <a:xfrm>
            <a:off x="640080" y="292608"/>
            <a:ext cx="10058400" cy="274320"/>
          </a:xfrm>
          <a:prstGeom prst="rect">
            <a:avLst/>
          </a:prstGeom>
          <a:noFill/>
          <a:ln/>
        </p:spPr>
        <p:txBody>
          <a:bodyPr wrap="square" rtlCol="0" anchor="ctr"/>
          <a:lstStyle/>
          <a:p>
            <a:pPr indent="0" marL="0">
              <a:buNone/>
            </a:pPr>
            <a:r>
              <a:rPr lang="en-US" sz="1100" spc="200" kern="0" dirty="0">
                <a:solidFill>
                  <a:srgbClr val="2F6B4F"/>
                </a:solidFill>
                <a:latin typeface="Courier New" pitchFamily="34" charset="0"/>
                <a:ea typeface="Courier New" pitchFamily="34" charset="-122"/>
                <a:cs typeface="Courier New" pitchFamily="34" charset="-120"/>
              </a:rPr>
              <a:t>SOURCES USED IN THIS COURSE</a:t>
            </a:r>
            <a:endParaRPr lang="en-US" sz="1100" dirty="0"/>
          </a:p>
        </p:txBody>
      </p:sp>
      <p:sp>
        <p:nvSpPr>
          <p:cNvPr id="3" name="Shape 1"/>
          <p:cNvSpPr/>
          <p:nvPr/>
        </p:nvSpPr>
        <p:spPr>
          <a:xfrm>
            <a:off x="640080" y="621792"/>
            <a:ext cx="82296" cy="457200"/>
          </a:xfrm>
          <a:prstGeom prst="rect">
            <a:avLst/>
          </a:prstGeom>
          <a:solidFill>
            <a:srgbClr val="2F6B4F"/>
          </a:solidFill>
          <a:ln/>
        </p:spPr>
      </p:sp>
      <p:sp>
        <p:nvSpPr>
          <p:cNvPr id="4" name="Text 2"/>
          <p:cNvSpPr/>
          <p:nvPr/>
        </p:nvSpPr>
        <p:spPr>
          <a:xfrm>
            <a:off x="868680" y="502920"/>
            <a:ext cx="10607040" cy="685800"/>
          </a:xfrm>
          <a:prstGeom prst="rect">
            <a:avLst/>
          </a:prstGeom>
          <a:noFill/>
          <a:ln/>
        </p:spPr>
        <p:txBody>
          <a:bodyPr wrap="square" rtlCol="0" anchor="ctr"/>
          <a:lstStyle/>
          <a:p>
            <a:pPr indent="0" marL="0">
              <a:buNone/>
            </a:pPr>
            <a:r>
              <a:rPr lang="en-US" sz="2700" b="1" dirty="0">
                <a:solidFill>
                  <a:srgbClr val="1A1A1A"/>
                </a:solidFill>
                <a:latin typeface="Cambria" pitchFamily="34" charset="0"/>
                <a:ea typeface="Cambria" pitchFamily="34" charset="-122"/>
                <a:cs typeface="Cambria" pitchFamily="34" charset="-120"/>
              </a:rPr>
              <a:t>References</a:t>
            </a:r>
            <a:endParaRPr lang="en-US" sz="2700" dirty="0"/>
          </a:p>
        </p:txBody>
      </p:sp>
      <p:sp>
        <p:nvSpPr>
          <p:cNvPr id="5" name="Text 3"/>
          <p:cNvSpPr/>
          <p:nvPr/>
        </p:nvSpPr>
        <p:spPr>
          <a:xfrm>
            <a:off x="868680" y="1417320"/>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Chen, Fisch, Weston, Bordes (2017).  </a:t>
            </a:r>
            <a:pPr indent="0" marL="0">
              <a:buNone/>
            </a:pPr>
            <a:r>
              <a:rPr lang="en-US" sz="1450" dirty="0">
                <a:solidFill>
                  <a:srgbClr val="5B6660"/>
                </a:solidFill>
                <a:latin typeface="Calibri" pitchFamily="34" charset="0"/>
                <a:ea typeface="Calibri" pitchFamily="34" charset="-122"/>
                <a:cs typeface="Calibri" pitchFamily="34" charset="-120"/>
              </a:rPr>
              <a:t>“Reading Wikipedia to Answer Open-Domain Questions.” Introduced DrQA and the retrieve-then-read pattern.</a:t>
            </a:r>
            <a:endParaRPr lang="en-US" sz="1550" dirty="0"/>
          </a:p>
        </p:txBody>
      </p:sp>
      <p:sp>
        <p:nvSpPr>
          <p:cNvPr id="6" name="Text 4"/>
          <p:cNvSpPr/>
          <p:nvPr/>
        </p:nvSpPr>
        <p:spPr>
          <a:xfrm>
            <a:off x="868680" y="2322576"/>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Lewis, Perez, Piktus, Petroni, Karpukhin, Goyal, Küttler, Lewis, Yih, Rocktäschel, Riedel, Kiela (2020).  </a:t>
            </a:r>
            <a:pPr indent="0" marL="0">
              <a:buNone/>
            </a:pPr>
            <a:r>
              <a:rPr lang="en-US" sz="1450" dirty="0">
                <a:solidFill>
                  <a:srgbClr val="5B6660"/>
                </a:solidFill>
                <a:latin typeface="Calibri" pitchFamily="34" charset="0"/>
                <a:ea typeface="Calibri" pitchFamily="34" charset="-122"/>
                <a:cs typeface="Calibri" pitchFamily="34" charset="-120"/>
              </a:rPr>
              <a:t>“Retrieval-Augmented Generation for Knowledge-Intensive NLP Tasks.” Coined the term RAG.</a:t>
            </a:r>
            <a:endParaRPr lang="en-US" sz="1550" dirty="0"/>
          </a:p>
        </p:txBody>
      </p:sp>
      <p:sp>
        <p:nvSpPr>
          <p:cNvPr id="7" name="Text 5"/>
          <p:cNvSpPr/>
          <p:nvPr/>
        </p:nvSpPr>
        <p:spPr>
          <a:xfrm>
            <a:off x="868680" y="3227832"/>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Huyen, C.  </a:t>
            </a:r>
            <a:pPr indent="0" marL="0">
              <a:buNone/>
            </a:pPr>
            <a:r>
              <a:rPr lang="en-US" sz="1450" dirty="0">
                <a:solidFill>
                  <a:srgbClr val="5B6660"/>
                </a:solidFill>
                <a:latin typeface="Calibri" pitchFamily="34" charset="0"/>
                <a:ea typeface="Calibri" pitchFamily="34" charset="-122"/>
                <a:cs typeface="Calibri" pitchFamily="34" charset="-120"/>
              </a:rPr>
              <a:t>AI Engineering, Chapter 6, “RAG and Agents.” Retrieval algorithms, vector databases, chunking, and hybrid search.</a:t>
            </a:r>
            <a:endParaRPr lang="en-US" sz="1550" dirty="0"/>
          </a:p>
        </p:txBody>
      </p:sp>
      <p:sp>
        <p:nvSpPr>
          <p:cNvPr id="8" name="Text 6"/>
          <p:cNvSpPr/>
          <p:nvPr/>
        </p:nvSpPr>
        <p:spPr>
          <a:xfrm>
            <a:off x="868680" y="4133088"/>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Course notes.  </a:t>
            </a:r>
            <a:pPr indent="0" marL="0">
              <a:buNone/>
            </a:pPr>
            <a:r>
              <a:rPr lang="en-US" sz="1450" dirty="0">
                <a:solidFill>
                  <a:srgbClr val="5B6660"/>
                </a:solidFill>
                <a:latin typeface="Calibri" pitchFamily="34" charset="0"/>
                <a:ea typeface="Calibri" pitchFamily="34" charset="-122"/>
                <a:cs typeface="Calibri" pitchFamily="34" charset="-120"/>
              </a:rPr>
              <a:t>BGE-M3 architecture, the indexing/inference separation, and the FAISS storage model used throughout Part 2.</a:t>
            </a:r>
            <a:endParaRPr lang="en-US" sz="1550" dirty="0"/>
          </a:p>
        </p:txBody>
      </p:sp>
      <p:sp>
        <p:nvSpPr>
          <p:cNvPr id="9" name="Text 7"/>
          <p:cNvSpPr/>
          <p:nvPr/>
        </p:nvSpPr>
        <p:spPr>
          <a:xfrm>
            <a:off x="868680" y="5038344"/>
            <a:ext cx="10241280" cy="832104"/>
          </a:xfrm>
          <a:prstGeom prst="rect">
            <a:avLst/>
          </a:prstGeom>
          <a:noFill/>
          <a:ln/>
        </p:spPr>
        <p:txBody>
          <a:bodyPr wrap="square" rtlCol="0" anchor="t"/>
          <a:lstStyle/>
          <a:p>
            <a:pPr marL="177800" indent="-177800">
              <a:buSzPct val="100000"/>
              <a:buChar char="•"/>
            </a:pPr>
            <a:r>
              <a:rPr lang="en-US" sz="1550" b="1" dirty="0">
                <a:solidFill>
                  <a:srgbClr val="1A1A1A"/>
                </a:solidFill>
                <a:latin typeface="Calibri" pitchFamily="34" charset="0"/>
                <a:ea typeface="Calibri" pitchFamily="34" charset="-122"/>
                <a:cs typeface="Calibri" pitchFamily="34" charset="-120"/>
              </a:rPr>
              <a:t>Anthropic (2024).  </a:t>
            </a:r>
            <a:pPr indent="0" marL="0">
              <a:buNone/>
            </a:pPr>
            <a:r>
              <a:rPr lang="en-US" sz="1450" dirty="0">
                <a:solidFill>
                  <a:srgbClr val="5B6660"/>
                </a:solidFill>
                <a:latin typeface="Calibri" pitchFamily="34" charset="0"/>
                <a:ea typeface="Calibri" pitchFamily="34" charset="-122"/>
                <a:cs typeface="Calibri" pitchFamily="34" charset="-120"/>
              </a:rPr>
              <a:t>“Introducing Contextual Retrieval.” The chunk-context augmentation technique covered in Part 4.</a:t>
            </a:r>
            <a:endParaRPr lang="en-US" sz="1550" dirty="0"/>
          </a:p>
        </p:txBody>
      </p:sp>
      <p:sp>
        <p:nvSpPr>
          <p:cNvPr id="10" name="Text 8"/>
          <p:cNvSpPr/>
          <p:nvPr/>
        </p:nvSpPr>
        <p:spPr>
          <a:xfrm>
            <a:off x="11430000" y="6446520"/>
            <a:ext cx="548640" cy="274320"/>
          </a:xfrm>
          <a:prstGeom prst="rect">
            <a:avLst/>
          </a:prstGeom>
          <a:noFill/>
          <a:ln/>
        </p:spPr>
        <p:txBody>
          <a:bodyPr wrap="square" rtlCol="0" anchor="ctr"/>
          <a:lstStyle/>
          <a:p>
            <a:pPr algn="r" indent="0" marL="0">
              <a:buNone/>
            </a:pPr>
            <a:r>
              <a:rPr lang="en-US" sz="1000" dirty="0">
                <a:solidFill>
                  <a:srgbClr val="9A9484"/>
                </a:solidFill>
                <a:latin typeface="Calibri" pitchFamily="34" charset="0"/>
                <a:ea typeface="Calibri" pitchFamily="34" charset="-122"/>
                <a:cs typeface="Calibri" pitchFamily="34" charset="-120"/>
              </a:rPr>
              <a:t>88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88</Slides>
  <Notes>88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88</vt:i4>
      </vt:variant>
    </vt:vector>
  </HeadingPairs>
  <TitlesOfParts>
    <vt:vector size="9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Retrieval-Augmented Generation</dc:title>
  <dc:subject>AI Engineering course</dc:subject>
  <dc:creator>Research Copilot</dc:creator>
  <cp:lastModifiedBy>Research Copilot</cp:lastModifiedBy>
  <cp:revision>1</cp:revision>
  <dcterms:created xsi:type="dcterms:W3CDTF">2026-07-09T18:52:26Z</dcterms:created>
  <dcterms:modified xsi:type="dcterms:W3CDTF">2026-07-09T18:52:26Z</dcterms:modified>
</cp:coreProperties>
</file>